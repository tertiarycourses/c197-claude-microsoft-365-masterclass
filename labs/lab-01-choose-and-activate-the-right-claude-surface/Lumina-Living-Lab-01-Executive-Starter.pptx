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Illustrative monthly performance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</c:v>
                </c:pt>
                <c:pt idx="1">
                  <c:v>85</c:v>
                </c:pt>
                <c:pt idx="2">
                  <c:v>88</c:v>
                </c:pt>
                <c:pt idx="3">
                  <c:v>91</c:v>
                </c:pt>
                <c:pt idx="4">
                  <c:v>94</c:v>
                </c:pt>
                <c:pt idx="5">
                  <c:v>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79</c:v>
                </c:pt>
                <c:pt idx="1">
                  <c:v>87</c:v>
                </c:pt>
                <c:pt idx="2">
                  <c:v>90</c:v>
                </c:pt>
                <c:pt idx="3">
                  <c:v>88</c:v>
                </c:pt>
                <c:pt idx="4">
                  <c:v>99</c:v>
                </c:pt>
                <c:pt idx="5">
                  <c:v>104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98755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LUMINA LIVING PTE LTD · FY2027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33272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600" b="1">
                <a:solidFill>
                  <a:srgbClr val="172B4D"/>
                </a:solidFill>
                <a:latin typeface="Arial"/>
              </a:rPr>
              <a:t>Choose and Activate the Right Claude Surface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9875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>
                <a:solidFill>
                  <a:srgbClr val="5B6372"/>
                </a:solidFill>
                <a:latin typeface="Arial"/>
              </a:rPr>
              <a:t>Which Claude surface should each planning, analysis and communication task use?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709160"/>
            <a:ext cx="3383280" cy="658368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828032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F6FEB"/>
                </a:solidFill>
                <a:latin typeface="Arial"/>
              </a:rPr>
              <a:t>LAB 01 · EDITABLE 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9875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Fictional company training material · Pending management approval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EXECUTIVE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The business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Choose a safe operating surface for the FY2027 planning pack before granting or requesting access.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Sponsor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Chief Operating Officer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109728" cy="1417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rial"/>
              </a:rPr>
              <a:t>Outputs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Surface decision matrix; Readiness log; Escalation path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3593592"/>
            <a:ext cx="10972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rial"/>
              </a:rPr>
              <a:t>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No shared password in learner files; No permission bypass; Named system owner approval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NATIVE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Evidence-to-decision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Define the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6001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7169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6897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6897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Compare surfaces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8499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09667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9395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9395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Check licence and tenant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0996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2164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1892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1892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Activate the approved route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3494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4662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24390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4390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Record the fallback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EDITABLE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Management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83080"/>
          <a:ext cx="685800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909560" y="1783080"/>
            <a:ext cx="3474720" cy="434340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2057400"/>
            <a:ext cx="2926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WHAT MANAGEMENT NEEDS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606040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Users 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264408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Add-ins available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922776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Connector consent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4581144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Fallback tested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DECISION AND CONTROL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Professional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Office add-ins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Best for editing the open Word, Excel, PowerPoint or Outlook item in its native structure.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M365 connector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Best for searching approved SharePoint, OneDrive, Outlook and Teams context from Claude.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109728" cy="1417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rial"/>
              </a:rPr>
              <a:t>Claude Cowork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Best for a bounded multi-step task across a folder, Project and connected tools.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3593592"/>
            <a:ext cx="10972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rial"/>
              </a:rPr>
              <a:t>Copilot experiences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A separate Microsoft-managed surface whose availability and governance depend on the tenant.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EXECUTIVE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Decision and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Decision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Which Claude surface should each planning, analysis and communication task use?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Reconcile sources, cells, versions and owners.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109728" cy="1417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rial"/>
              </a:rPr>
              <a:t>Approval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Named sponsor: Chief Operating Officer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3593592"/>
            <a:ext cx="10972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rial"/>
              </a:rPr>
              <a:t>Next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A completed operating-surface decision matrix and environment-readiness record.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