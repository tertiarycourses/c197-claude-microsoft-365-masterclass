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monthly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85</c:v>
                </c:pt>
                <c:pt idx="2">
                  <c:v>88</c:v>
                </c:pt>
                <c:pt idx="3">
                  <c:v>91</c:v>
                </c:pt>
                <c:pt idx="4">
                  <c:v>94</c:v>
                </c:pt>
                <c:pt idx="5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79</c:v>
                </c:pt>
                <c:pt idx="1">
                  <c:v>87</c:v>
                </c:pt>
                <c:pt idx="2">
                  <c:v>90</c:v>
                </c:pt>
                <c:pt idx="3">
                  <c:v>88</c:v>
                </c:pt>
                <c:pt idx="4">
                  <c:v>99</c:v>
                </c:pt>
                <c:pt idx="5">
                  <c:v>104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9875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LUMINA LIVING PTE LTD · FY2027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3327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172B4D"/>
                </a:solidFill>
                <a:latin typeface="Arial"/>
              </a:rPr>
              <a:t>Develop a Strategic Plan with Owners and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5B6372"/>
                </a:solidFill>
                <a:latin typeface="Arial"/>
              </a:rPr>
              <a:t>Which strategic choices and initiatives should the Executive Committee approve?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3383280" cy="658368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2803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LAB 05 · EDITABLE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875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Fictional company training material · Pending management approval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The business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Align growth, profitability, customer experience and operating capability for FY2027–FY2029.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Sponsor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Chief Executive Officer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Strategy-on-a-page; Initiative portfolio; Balanced scorecard; Quarterly review cadence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Explicit trade-offs; Named owners; Target source; Risk dependency review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NATIVE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Evidence-to-decision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Ambition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6001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7169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6897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6897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Diagnosis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8499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9667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9395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9395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Strategic choices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0996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2164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1892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1892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Initiative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3494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466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39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39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Measures and governance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EDITABLE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Management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83080"/>
          <a:ext cx="68580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09560" y="1783080"/>
            <a:ext cx="3474720" cy="434340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05740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WHAT MANAGEMENT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606040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Revenue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264408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Gross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22776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Net promoter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581144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Digital share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DECISION AND CONTROL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Professional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Choice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 strategy selects where to play, how to win and what not to 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Initiatives have owners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Each priority carries an accountable executive, milestones, measures and dependencies.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Measures balance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Combine financial, customer, operational and capability indicators.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Review drives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 quarterly cadence tests assumptions and reallocates resources when evidence changes.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Decision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Decision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Which strategic choices and initiatives should the Executive Committee approve?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Reconcile sources, cells, versions and owners.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Named sponsor: Chief Executive Officer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Next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 three-year strategic plan, initiative portfolio and quarterly review scorecard in Word and Excel.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