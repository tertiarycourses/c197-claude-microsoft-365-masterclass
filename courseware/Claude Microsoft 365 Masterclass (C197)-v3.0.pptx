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tertiarycourses.com.sg/lmslogin"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tertiarycourses.com.sg/lmslogin"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sp>
        <p:nvSpPr>
          <p:cNvPr id="6" name="TextBox 5"/>
          <p:cNvSpPr txBox="1"/>
          <p:nvPr/>
        </p:nvSpPr>
        <p:spPr>
          <a:xfrm>
            <a:off x="822960" y="2103120"/>
            <a:ext cx="10972800" cy="548640"/>
          </a:xfrm>
          <a:prstGeom prst="rect">
            <a:avLst/>
          </a:prstGeom>
          <a:noFill/>
        </p:spPr>
        <p:txBody>
          <a:bodyPr wrap="square" anchor="t">
            <a:spAutoFit/>
          </a:bodyPr>
          <a:lstStyle/>
          <a:p>
            <a:pPr algn="l">
              <a:spcAft>
                <a:spcPts val="400"/>
              </a:spcAft>
            </a:pPr>
            <a:r>
              <a:rPr sz="1600" b="1">
                <a:solidFill>
                  <a:srgbClr val="1F6FEB"/>
                </a:solidFill>
                <a:latin typeface="Arial"/>
              </a:rPr>
              <a:t>COURSE SLIDES</a:t>
            </a:r>
          </a:p>
        </p:txBody>
      </p:sp>
      <p:sp>
        <p:nvSpPr>
          <p:cNvPr id="7" name="TextBox 6"/>
          <p:cNvSpPr txBox="1"/>
          <p:nvPr/>
        </p:nvSpPr>
        <p:spPr>
          <a:xfrm>
            <a:off x="822960" y="2606040"/>
            <a:ext cx="10972800" cy="1737360"/>
          </a:xfrm>
          <a:prstGeom prst="rect">
            <a:avLst/>
          </a:prstGeom>
          <a:noFill/>
        </p:spPr>
        <p:txBody>
          <a:bodyPr wrap="square" anchor="t">
            <a:spAutoFit/>
          </a:bodyPr>
          <a:lstStyle/>
          <a:p>
            <a:pPr algn="l">
              <a:spcAft>
                <a:spcPts val="400"/>
              </a:spcAft>
            </a:pPr>
            <a:r>
              <a:rPr sz="4000" b="1">
                <a:solidFill>
                  <a:srgbClr val="161B26"/>
                </a:solidFill>
                <a:latin typeface="Arial"/>
              </a:rPr>
              <a:t>Claude Microsoft 365 Masterclass (C197)</a:t>
            </a:r>
          </a:p>
        </p:txBody>
      </p:sp>
      <p:sp>
        <p:nvSpPr>
          <p:cNvPr id="8" name="Rectangle 7"/>
          <p:cNvSpPr/>
          <p:nvPr/>
        </p:nvSpPr>
        <p:spPr>
          <a:xfrm>
            <a:off x="841248" y="434340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4617720"/>
            <a:ext cx="10972800" cy="1280160"/>
          </a:xfrm>
          <a:prstGeom prst="rect">
            <a:avLst/>
          </a:prstGeom>
          <a:noFill/>
        </p:spPr>
        <p:txBody>
          <a:bodyPr wrap="square" anchor="t">
            <a:spAutoFit/>
          </a:bodyPr>
          <a:lstStyle/>
          <a:p>
            <a:pPr algn="l">
              <a:spcAft>
                <a:spcPts val="600"/>
              </a:spcAft>
            </a:pPr>
            <a:r>
              <a:rPr sz="1600" b="0">
                <a:solidFill>
                  <a:srgbClr val="5B6372"/>
                </a:solidFill>
                <a:latin typeface="Arial"/>
              </a:rPr>
              <a:t>Course Code: C197</a:t>
            </a:r>
          </a:p>
          <a:p>
            <a:pPr algn="l">
              <a:spcAft>
                <a:spcPts val="600"/>
              </a:spcAft>
            </a:pPr>
            <a:r>
              <a:rPr sz="1400" b="0">
                <a:solidFill>
                  <a:srgbClr val="5B6372"/>
                </a:solidFill>
                <a:latin typeface="Arial"/>
              </a:rPr>
              <a:t>Conducted by Tertiary Infotech Academy Pte Ltd  ·  UEN 201200696W</a:t>
            </a:r>
          </a:p>
        </p:txBody>
      </p:sp>
      <p:sp>
        <p:nvSpPr>
          <p:cNvPr id="10" name="TextBox 9"/>
          <p:cNvSpPr txBox="1"/>
          <p:nvPr/>
        </p:nvSpPr>
        <p:spPr>
          <a:xfrm>
            <a:off x="822960" y="5943600"/>
            <a:ext cx="10972800" cy="365760"/>
          </a:xfrm>
          <a:prstGeom prst="rect">
            <a:avLst/>
          </a:prstGeom>
          <a:noFill/>
        </p:spPr>
        <p:txBody>
          <a:bodyPr wrap="square" anchor="t">
            <a:spAutoFit/>
          </a:bodyPr>
          <a:lstStyle/>
          <a:p>
            <a:pPr algn="l">
              <a:spcAft>
                <a:spcPts val="400"/>
              </a:spcAft>
            </a:pPr>
            <a:r>
              <a:rPr sz="1200" b="0">
                <a:solidFill>
                  <a:srgbClr val="5B6372"/>
                </a:solidFill>
                <a:latin typeface="Arial"/>
              </a:rPr>
              <a:t>Version v3.0  ·  13 August 2026</a:t>
            </a:r>
          </a:p>
        </p:txBody>
      </p:sp>
      <p:sp>
        <p:nvSpPr>
          <p:cNvPr id="11" name="TextBox 10"/>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LEARNER LMS ACCESS</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Download Your Course Materials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4709160" cy="41605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74519"/>
            <a:ext cx="470916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87552" y="2020824"/>
            <a:ext cx="109728" cy="10972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234440" y="2020824"/>
            <a:ext cx="109728" cy="1097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481328" y="2020824"/>
            <a:ext cx="109728" cy="1097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633472"/>
            <a:ext cx="4160520" cy="384048"/>
          </a:xfrm>
          <a:prstGeom prst="rect">
            <a:avLst/>
          </a:prstGeom>
          <a:noFill/>
        </p:spPr>
        <p:txBody>
          <a:bodyPr wrap="square" anchor="t">
            <a:spAutoFit/>
          </a:bodyPr>
          <a:lstStyle/>
          <a:p>
            <a:pPr algn="ctr">
              <a:spcAft>
                <a:spcPts val="400"/>
              </a:spcAft>
            </a:pPr>
            <a:r>
              <a:rPr sz="1300" b="1">
                <a:solidFill>
                  <a:srgbClr val="1F6FEB"/>
                </a:solidFill>
                <a:latin typeface="Arial"/>
              </a:rPr>
              <a:t>LEARNER PORTAL</a:t>
            </a:r>
          </a:p>
        </p:txBody>
      </p:sp>
      <p:sp>
        <p:nvSpPr>
          <p:cNvPr id="13" name="TextBox 12"/>
          <p:cNvSpPr txBox="1"/>
          <p:nvPr/>
        </p:nvSpPr>
        <p:spPr>
          <a:xfrm>
            <a:off x="1024128" y="3072384"/>
            <a:ext cx="4206240" cy="658368"/>
          </a:xfrm>
          <a:prstGeom prst="rect">
            <a:avLst/>
          </a:prstGeom>
          <a:noFill/>
        </p:spPr>
        <p:txBody>
          <a:bodyPr wrap="square" anchor="t">
            <a:spAutoFit/>
          </a:bodyPr>
          <a:lstStyle/>
          <a:p>
            <a:pPr algn="ctr">
              <a:spcAft>
                <a:spcPts val="400"/>
              </a:spcAft>
            </a:pPr>
            <a:r>
              <a:rPr sz="1700" b="1">
                <a:solidFill>
                  <a:srgbClr val="161B26"/>
                </a:solidFill>
                <a:latin typeface="Arial"/>
              </a:rPr>
              <a:t>Sign in to access the course deck, Learner Guide and activity files.</a:t>
            </a:r>
          </a:p>
        </p:txBody>
      </p:sp>
      <p:sp>
        <p:nvSpPr>
          <p:cNvPr id="14" name="TextBox 13"/>
          <p:cNvSpPr txBox="1"/>
          <p:nvPr/>
        </p:nvSpPr>
        <p:spPr>
          <a:xfrm>
            <a:off x="1024128" y="3886200"/>
            <a:ext cx="4206240" cy="658368"/>
          </a:xfrm>
          <a:prstGeom prst="rect">
            <a:avLst/>
          </a:prstGeom>
          <a:noFill/>
        </p:spPr>
        <p:txBody>
          <a:bodyPr wrap="square" anchor="ctr">
            <a:spAutoFit/>
          </a:bodyPr>
          <a:lstStyle/>
          <a:p>
            <a:pPr algn="ctr">
              <a:spcAft>
                <a:spcPts val="400"/>
              </a:spcAft>
            </a:pPr>
            <a:r>
              <a:rPr sz="1300" b="1">
                <a:solidFill>
                  <a:srgbClr val="1F6FEB"/>
                </a:solidFill>
                <a:latin typeface="Arial"/>
                <a:hlinkClick r:id="rId2"/>
              </a:rPr>
              <a:t>tertiarycourses.com.sg/lmslogin</a:t>
            </a:r>
          </a:p>
        </p:txBody>
      </p:sp>
      <p:sp>
        <p:nvSpPr>
          <p:cNvPr id="15" name="Rectangle 14">
            <a:hlinkClick r:id="rId2"/>
          </p:cNvPr>
          <p:cNvSpPr/>
          <p:nvPr/>
        </p:nvSpPr>
        <p:spPr>
          <a:xfrm>
            <a:off x="1325880" y="4800600"/>
            <a:ext cx="3611880" cy="6949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a:hlinkClick r:id="rId2"/>
          </p:cNvPr>
          <p:cNvSpPr txBox="1"/>
          <p:nvPr/>
        </p:nvSpPr>
        <p:spPr>
          <a:xfrm>
            <a:off x="1325880" y="4800600"/>
            <a:ext cx="3611880" cy="694944"/>
          </a:xfrm>
          <a:prstGeom prst="rect">
            <a:avLst/>
          </a:prstGeom>
          <a:noFill/>
        </p:spPr>
        <p:txBody>
          <a:bodyPr wrap="square" anchor="ctr">
            <a:spAutoFit/>
          </a:bodyPr>
          <a:lstStyle/>
          <a:p>
            <a:pPr algn="ctr">
              <a:spcAft>
                <a:spcPts val="400"/>
              </a:spcAft>
            </a:pPr>
            <a:r>
              <a:rPr sz="1600" b="1">
                <a:solidFill>
                  <a:srgbClr val="FFFFFF"/>
                </a:solidFill>
                <a:latin typeface="Arial"/>
              </a:rPr>
              <a:t>OPEN LEARNER LOGIN</a:t>
            </a:r>
          </a:p>
        </p:txBody>
      </p:sp>
      <p:sp>
        <p:nvSpPr>
          <p:cNvPr id="17" name="TextBox 16"/>
          <p:cNvSpPr txBox="1"/>
          <p:nvPr/>
        </p:nvSpPr>
        <p:spPr>
          <a:xfrm>
            <a:off x="1024128" y="5596128"/>
            <a:ext cx="4206240" cy="256032"/>
          </a:xfrm>
          <a:prstGeom prst="rect">
            <a:avLst/>
          </a:prstGeom>
          <a:noFill/>
        </p:spPr>
        <p:txBody>
          <a:bodyPr wrap="square" anchor="t">
            <a:spAutoFit/>
          </a:bodyPr>
          <a:lstStyle/>
          <a:p>
            <a:pPr algn="ctr">
              <a:spcAft>
                <a:spcPts val="400"/>
              </a:spcAft>
            </a:pPr>
            <a:r>
              <a:rPr sz="1100" b="0">
                <a:solidFill>
                  <a:srgbClr val="161B26"/>
                </a:solidFill>
                <a:latin typeface="Arial"/>
              </a:rPr>
              <a:t>Click the button or type the web address above.</a:t>
            </a:r>
          </a:p>
        </p:txBody>
      </p:sp>
      <p:sp>
        <p:nvSpPr>
          <p:cNvPr id="18" name="TextBox 17"/>
          <p:cNvSpPr txBox="1"/>
          <p:nvPr/>
        </p:nvSpPr>
        <p:spPr>
          <a:xfrm>
            <a:off x="5852160" y="1847088"/>
            <a:ext cx="5440680" cy="384048"/>
          </a:xfrm>
          <a:prstGeom prst="rect">
            <a:avLst/>
          </a:prstGeom>
          <a:noFill/>
        </p:spPr>
        <p:txBody>
          <a:bodyPr wrap="square" anchor="t">
            <a:spAutoFit/>
          </a:bodyPr>
          <a:lstStyle/>
          <a:p>
            <a:pPr algn="l">
              <a:spcAft>
                <a:spcPts val="400"/>
              </a:spcAft>
            </a:pPr>
            <a:r>
              <a:rPr sz="1700" b="1">
                <a:solidFill>
                  <a:srgbClr val="10B981"/>
                </a:solidFill>
                <a:latin typeface="Arial"/>
              </a:rPr>
              <a:t>Use OTP to sign in</a:t>
            </a:r>
          </a:p>
        </p:txBody>
      </p:sp>
      <p:sp>
        <p:nvSpPr>
          <p:cNvPr id="19" name="Oval 18"/>
          <p:cNvSpPr/>
          <p:nvPr/>
        </p:nvSpPr>
        <p:spPr>
          <a:xfrm>
            <a:off x="5852160" y="2359152"/>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52160" y="2359152"/>
            <a:ext cx="502920" cy="502920"/>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21" name="TextBox 20"/>
          <p:cNvSpPr txBox="1"/>
          <p:nvPr/>
        </p:nvSpPr>
        <p:spPr>
          <a:xfrm>
            <a:off x="6565392" y="2340864"/>
            <a:ext cx="4572000" cy="566928"/>
          </a:xfrm>
          <a:prstGeom prst="rect">
            <a:avLst/>
          </a:prstGeom>
          <a:noFill/>
        </p:spPr>
        <p:txBody>
          <a:bodyPr wrap="square" anchor="ctr">
            <a:spAutoFit/>
          </a:bodyPr>
          <a:lstStyle/>
          <a:p>
            <a:pPr algn="l">
              <a:spcAft>
                <a:spcPts val="400"/>
              </a:spcAft>
            </a:pPr>
            <a:r>
              <a:rPr sz="1500" b="0">
                <a:solidFill>
                  <a:srgbClr val="161B26"/>
                </a:solidFill>
                <a:latin typeface="Arial"/>
              </a:rPr>
              <a:t>Enter the email address registered for your course.</a:t>
            </a:r>
          </a:p>
        </p:txBody>
      </p:sp>
      <p:sp>
        <p:nvSpPr>
          <p:cNvPr id="22" name="Oval 21"/>
          <p:cNvSpPr/>
          <p:nvPr/>
        </p:nvSpPr>
        <p:spPr>
          <a:xfrm>
            <a:off x="5852160" y="3191256"/>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52160" y="3191256"/>
            <a:ext cx="502920" cy="502920"/>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24" name="TextBox 23"/>
          <p:cNvSpPr txBox="1"/>
          <p:nvPr/>
        </p:nvSpPr>
        <p:spPr>
          <a:xfrm>
            <a:off x="6565392" y="3172968"/>
            <a:ext cx="4572000" cy="566928"/>
          </a:xfrm>
          <a:prstGeom prst="rect">
            <a:avLst/>
          </a:prstGeom>
          <a:noFill/>
        </p:spPr>
        <p:txBody>
          <a:bodyPr wrap="square" anchor="ctr">
            <a:spAutoFit/>
          </a:bodyPr>
          <a:lstStyle/>
          <a:p>
            <a:pPr algn="l">
              <a:spcAft>
                <a:spcPts val="400"/>
              </a:spcAft>
            </a:pPr>
            <a:r>
              <a:rPr sz="1500" b="0">
                <a:solidFill>
                  <a:srgbClr val="161B26"/>
                </a:solidFill>
                <a:latin typeface="Arial"/>
              </a:rPr>
              <a:t>Choose OTP sign-in and request a code. Check your registered email.</a:t>
            </a:r>
          </a:p>
        </p:txBody>
      </p:sp>
      <p:sp>
        <p:nvSpPr>
          <p:cNvPr id="25" name="Oval 24"/>
          <p:cNvSpPr/>
          <p:nvPr/>
        </p:nvSpPr>
        <p:spPr>
          <a:xfrm>
            <a:off x="5852160" y="4023360"/>
            <a:ext cx="502920" cy="5029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52160" y="4023360"/>
            <a:ext cx="502920" cy="502920"/>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27" name="TextBox 26"/>
          <p:cNvSpPr txBox="1"/>
          <p:nvPr/>
        </p:nvSpPr>
        <p:spPr>
          <a:xfrm>
            <a:off x="6565392" y="4005072"/>
            <a:ext cx="4572000" cy="566928"/>
          </a:xfrm>
          <a:prstGeom prst="rect">
            <a:avLst/>
          </a:prstGeom>
          <a:noFill/>
        </p:spPr>
        <p:txBody>
          <a:bodyPr wrap="square" anchor="ctr">
            <a:spAutoFit/>
          </a:bodyPr>
          <a:lstStyle/>
          <a:p>
            <a:pPr algn="l">
              <a:spcAft>
                <a:spcPts val="400"/>
              </a:spcAft>
            </a:pPr>
            <a:r>
              <a:rPr sz="1500" b="0">
                <a:solidFill>
                  <a:srgbClr val="161B26"/>
                </a:solidFill>
                <a:latin typeface="Arial"/>
              </a:rPr>
              <a:t>Enter the OTP, open C197 and download your materials.</a:t>
            </a:r>
          </a:p>
        </p:txBody>
      </p:sp>
      <p:sp>
        <p:nvSpPr>
          <p:cNvPr id="28" name="Rectangle 27"/>
          <p:cNvSpPr/>
          <p:nvPr/>
        </p:nvSpPr>
        <p:spPr>
          <a:xfrm>
            <a:off x="5852160" y="4956048"/>
            <a:ext cx="5440680" cy="1078992"/>
          </a:xfrm>
          <a:prstGeom prst="rect">
            <a:avLst/>
          </a:prstGeom>
          <a:solidFill>
            <a:srgbClr val="F5F8FC"/>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852160" y="4956048"/>
            <a:ext cx="100584" cy="10789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44768" y="5138928"/>
            <a:ext cx="4800600" cy="292608"/>
          </a:xfrm>
          <a:prstGeom prst="rect">
            <a:avLst/>
          </a:prstGeom>
          <a:noFill/>
        </p:spPr>
        <p:txBody>
          <a:bodyPr wrap="square" anchor="t">
            <a:spAutoFit/>
          </a:bodyPr>
          <a:lstStyle/>
          <a:p>
            <a:pPr algn="l">
              <a:spcAft>
                <a:spcPts val="400"/>
              </a:spcAft>
            </a:pPr>
            <a:r>
              <a:rPr sz="1300" b="1">
                <a:solidFill>
                  <a:srgbClr val="F59E0B"/>
                </a:solidFill>
                <a:latin typeface="Arial"/>
              </a:rPr>
              <a:t>Cannot receive the OTP? Use password sign-in</a:t>
            </a:r>
          </a:p>
        </p:txBody>
      </p:sp>
      <p:sp>
        <p:nvSpPr>
          <p:cNvPr id="31" name="TextBox 30"/>
          <p:cNvSpPr txBox="1"/>
          <p:nvPr/>
        </p:nvSpPr>
        <p:spPr>
          <a:xfrm>
            <a:off x="6144768" y="5468112"/>
            <a:ext cx="4800600" cy="347472"/>
          </a:xfrm>
          <a:prstGeom prst="rect">
            <a:avLst/>
          </a:prstGeom>
          <a:noFill/>
        </p:spPr>
        <p:txBody>
          <a:bodyPr wrap="square" anchor="t">
            <a:spAutoFit/>
          </a:bodyPr>
          <a:lstStyle/>
          <a:p>
            <a:pPr algn="l">
              <a:spcAft>
                <a:spcPts val="400"/>
              </a:spcAft>
            </a:pPr>
            <a:r>
              <a:rPr sz="1500" b="1">
                <a:solidFill>
                  <a:srgbClr val="161B26"/>
                </a:solidFill>
                <a:latin typeface="Arial"/>
              </a:rPr>
              <a:t>Same registered email  ·  Password: student12345</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a:t>
            </a:r>
          </a:p>
        </p:txBody>
      </p:sp>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Welcome &amp; Housekeeping</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JL</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Principal Trainer
Tertiary Infotech Academy Pte. Ltd.</a:t>
            </a:r>
          </a:p>
        </p:txBody>
      </p:sp>
      <p:sp>
        <p:nvSpPr>
          <p:cNvPr id="13" name="Rectangle 12"/>
          <p:cNvSpPr/>
          <p:nvPr/>
        </p:nvSpPr>
        <p:spPr>
          <a:xfrm>
            <a:off x="4480560" y="178308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937260"/>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400" b="0">
                <a:solidFill>
                  <a:srgbClr val="161B26"/>
                </a:solidFill>
                <a:latin typeface="Arial"/>
              </a:rPr>
              <a:t>Principal Trainer, Tertiary Infotech Academy Pte. Ltd.</a:t>
            </a:r>
          </a:p>
        </p:txBody>
      </p:sp>
      <p:sp>
        <p:nvSpPr>
          <p:cNvPr id="16" name="Rectangle 15"/>
          <p:cNvSpPr/>
          <p:nvPr/>
        </p:nvSpPr>
        <p:spPr>
          <a:xfrm>
            <a:off x="4480560" y="290322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903220"/>
            <a:ext cx="6400800" cy="937260"/>
          </a:xfrm>
          <a:prstGeom prst="rect">
            <a:avLst/>
          </a:prstGeom>
          <a:noFill/>
        </p:spPr>
        <p:txBody>
          <a:bodyPr wrap="square" anchor="ctr">
            <a:spAutoFit/>
          </a:bodyPr>
          <a:lstStyle/>
          <a:p>
            <a:pPr algn="l">
              <a:spcAft>
                <a:spcPts val="300"/>
              </a:spcAft>
            </a:pPr>
            <a:r>
              <a:rPr sz="1100" b="1">
                <a:solidFill>
                  <a:srgbClr val="10B981"/>
                </a:solidFill>
                <a:latin typeface="Arial"/>
              </a:rPr>
              <a:t>CERTIFICATION</a:t>
            </a:r>
          </a:p>
          <a:p>
            <a:pPr algn="l">
              <a:spcAft>
                <a:spcPts val="300"/>
              </a:spcAft>
            </a:pPr>
            <a:r>
              <a:rPr sz="1400" b="0">
                <a:solidFill>
                  <a:srgbClr val="161B26"/>
                </a:solidFill>
                <a:latin typeface="Arial"/>
              </a:rPr>
              <a:t>Industry certified in the subject area of this course.</a:t>
            </a:r>
          </a:p>
        </p:txBody>
      </p:sp>
      <p:sp>
        <p:nvSpPr>
          <p:cNvPr id="19" name="Rectangle 18"/>
          <p:cNvSpPr/>
          <p:nvPr/>
        </p:nvSpPr>
        <p:spPr>
          <a:xfrm>
            <a:off x="4480560" y="402336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023360"/>
            <a:ext cx="6400800" cy="937260"/>
          </a:xfrm>
          <a:prstGeom prst="rect">
            <a:avLst/>
          </a:prstGeom>
          <a:noFill/>
        </p:spPr>
        <p:txBody>
          <a:bodyPr wrap="square" anchor="ctr">
            <a:spAutoFit/>
          </a:bodyPr>
          <a:lstStyle/>
          <a:p>
            <a:pPr algn="l">
              <a:spcAft>
                <a:spcPts val="300"/>
              </a:spcAft>
            </a:pPr>
            <a:r>
              <a:rPr sz="1100" b="1">
                <a:solidFill>
                  <a:srgbClr val="7C3AED"/>
                </a:solidFill>
                <a:latin typeface="Arial"/>
              </a:rPr>
              <a:t>DELIVERS</a:t>
            </a:r>
          </a:p>
          <a:p>
            <a:pPr algn="l">
              <a:spcAft>
                <a:spcPts val="300"/>
              </a:spcAft>
            </a:pPr>
            <a:r>
              <a:rPr sz="1400" b="0">
                <a:solidFill>
                  <a:srgbClr val="161B26"/>
                </a:solidFill>
                <a:latin typeface="Arial"/>
              </a:rPr>
              <a:t>Professional short courses for Tertiary Infotech Academy.</a:t>
            </a:r>
          </a:p>
        </p:txBody>
      </p:sp>
      <p:sp>
        <p:nvSpPr>
          <p:cNvPr id="22" name="Rectangle 21"/>
          <p:cNvSpPr/>
          <p:nvPr/>
        </p:nvSpPr>
        <p:spPr>
          <a:xfrm>
            <a:off x="4480560" y="514350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5143500"/>
            <a:ext cx="6400800" cy="937260"/>
          </a:xfrm>
          <a:prstGeom prst="rect">
            <a:avLst/>
          </a:prstGeom>
          <a:noFill/>
        </p:spPr>
        <p:txBody>
          <a:bodyPr wrap="square" anchor="ctr">
            <a:spAutoFit/>
          </a:bodyPr>
          <a:lstStyle/>
          <a:p>
            <a:pPr algn="l">
              <a:spcAft>
                <a:spcPts val="300"/>
              </a:spcAft>
            </a:pPr>
            <a:r>
              <a:rPr sz="1100" b="1">
                <a:solidFill>
                  <a:srgbClr val="F59E0B"/>
                </a:solidFill>
                <a:latin typeface="Arial"/>
              </a:rPr>
              <a:t>FOUNDER</a:t>
            </a:r>
          </a:p>
          <a:p>
            <a:pPr algn="l">
              <a:spcAft>
                <a:spcPts val="300"/>
              </a:spcAft>
            </a:pPr>
            <a:r>
              <a:rPr sz="1400" b="0">
                <a:solidFill>
                  <a:srgbClr val="161B26"/>
                </a:solidFill>
                <a:latin typeface="Arial"/>
              </a:rPr>
              <a:t>Founder and lead instructor at Tertiary Infotech / Tertiary Courses.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Let's Know Each Other</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9738360" cy="1176528"/>
          </a:xfrm>
          <a:prstGeom prst="rect">
            <a:avLst/>
          </a:prstGeom>
          <a:noFill/>
        </p:spPr>
        <p:txBody>
          <a:bodyPr wrap="square" anchor="ctr">
            <a:spAutoFit/>
          </a:bodyPr>
          <a:lstStyle/>
          <a:p>
            <a:pPr algn="l">
              <a:spcAft>
                <a:spcPts val="400"/>
              </a:spcAft>
            </a:pPr>
            <a:r>
              <a:rPr sz="1700" b="0">
                <a:solidFill>
                  <a:srgbClr val="161B26"/>
                </a:solidFill>
                <a:latin typeface="Arial"/>
              </a:rPr>
              <a:t>Your name and organisation / role.</a:t>
            </a:r>
          </a:p>
        </p:txBody>
      </p:sp>
      <p:sp>
        <p:nvSpPr>
          <p:cNvPr id="12" name="Rectangle 11"/>
          <p:cNvSpPr/>
          <p:nvPr/>
        </p:nvSpPr>
        <p:spPr>
          <a:xfrm>
            <a:off x="777240" y="3316224"/>
            <a:ext cx="10634472"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6224"/>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3803904"/>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1453896" y="3389376"/>
            <a:ext cx="9738360" cy="1176528"/>
          </a:xfrm>
          <a:prstGeom prst="rect">
            <a:avLst/>
          </a:prstGeom>
          <a:noFill/>
        </p:spPr>
        <p:txBody>
          <a:bodyPr wrap="square" anchor="ctr">
            <a:spAutoFit/>
          </a:bodyPr>
          <a:lstStyle/>
          <a:p>
            <a:pPr algn="l">
              <a:spcAft>
                <a:spcPts val="400"/>
              </a:spcAft>
            </a:pPr>
            <a:r>
              <a:rPr sz="1700" b="0">
                <a:solidFill>
                  <a:srgbClr val="161B26"/>
                </a:solidFill>
                <a:latin typeface="Arial"/>
              </a:rPr>
              <a:t>Your experience with this subject (if any).</a:t>
            </a:r>
          </a:p>
        </p:txBody>
      </p:sp>
      <p:sp>
        <p:nvSpPr>
          <p:cNvPr id="17" name="Rectangle 16"/>
          <p:cNvSpPr/>
          <p:nvPr/>
        </p:nvSpPr>
        <p:spPr>
          <a:xfrm>
            <a:off x="777240" y="4803648"/>
            <a:ext cx="10634472"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03648"/>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5291328"/>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53896" y="4876800"/>
            <a:ext cx="9738360" cy="1176528"/>
          </a:xfrm>
          <a:prstGeom prst="rect">
            <a:avLst/>
          </a:prstGeom>
          <a:noFill/>
        </p:spPr>
        <p:txBody>
          <a:bodyPr wrap="square" anchor="ctr">
            <a:spAutoFit/>
          </a:bodyPr>
          <a:lstStyle/>
          <a:p>
            <a:pPr algn="l">
              <a:spcAft>
                <a:spcPts val="400"/>
              </a:spcAft>
            </a:pPr>
            <a:r>
              <a:rPr sz="1700" b="0">
                <a:solidFill>
                  <a:srgbClr val="161B26"/>
                </a:solidFill>
                <a:latin typeface="Arial"/>
              </a:rPr>
              <a:t>What you want to be able to do after this course.</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Set your mobile phone to silent mode.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Participate actively — no question is too small.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Mutual respect: agree to disagree.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One conversation at a time.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Be punctual; return from breaks on time.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Learn by doing — try every hands-on lab.</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COURSE RESOURCES</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Your Connected Course Workspace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Visual course deck</a:t>
            </a:r>
          </a:p>
          <a:p>
            <a:pPr algn="l">
              <a:spcAft>
                <a:spcPts val="300"/>
              </a:spcAft>
            </a:pPr>
            <a:r>
              <a:rPr sz="1200" b="0">
                <a:solidFill>
                  <a:srgbClr val="5B6372"/>
                </a:solidFill>
                <a:latin typeface="Arial"/>
              </a:rPr>
              <a:t>Concepts, process maps, prompt anatomy and realistic Office exhibits.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Detailed Learner Guide</a:t>
            </a:r>
          </a:p>
          <a:p>
            <a:pPr algn="l">
              <a:spcAft>
                <a:spcPts val="300"/>
              </a:spcAft>
            </a:pPr>
            <a:r>
              <a:rPr sz="1200" b="0">
                <a:solidFill>
                  <a:srgbClr val="5B6372"/>
                </a:solidFill>
                <a:latin typeface="Arial"/>
              </a:rPr>
              <a:t>Click-level procedures, full prompts, commands, checks and troubleshooting.</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Eleven lab folders</a:t>
            </a:r>
          </a:p>
          <a:p>
            <a:pPr algn="l">
              <a:spcAft>
                <a:spcPts val="300"/>
              </a:spcAft>
            </a:pPr>
            <a:r>
              <a:rPr sz="1200" b="0">
                <a:solidFill>
                  <a:srgbClr val="5B6372"/>
                </a:solidFill>
                <a:latin typeface="Arial"/>
              </a:rPr>
              <a:t>A connected Lumina Living workflow with a README in every activity folder.</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Native Office artifacts</a:t>
            </a:r>
          </a:p>
          <a:p>
            <a:pPr algn="l">
              <a:spcAft>
                <a:spcPts val="300"/>
              </a:spcAft>
            </a:pPr>
            <a:r>
              <a:rPr sz="1200" b="0">
                <a:solidFill>
                  <a:srgbClr val="5B6372"/>
                </a:solidFill>
                <a:latin typeface="Arial"/>
              </a:rPr>
              <a:t>Editable Word, Excel and PowerPoint samples plus reusable review templates.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
        <p:nvSpPr>
          <p:cNvPr id="30" name="TextBox 29"/>
          <p:cNvSpPr txBox="1"/>
          <p:nvPr/>
        </p:nvSpPr>
        <p:spPr>
          <a:xfrm>
            <a:off x="777240" y="5943600"/>
            <a:ext cx="10607040" cy="365760"/>
          </a:xfrm>
          <a:prstGeom prst="rect">
            <a:avLst/>
          </a:prstGeom>
          <a:noFill/>
        </p:spPr>
        <p:txBody>
          <a:bodyPr wrap="square" anchor="t">
            <a:spAutoFit/>
          </a:bodyPr>
          <a:lstStyle/>
          <a:p>
            <a:pPr algn="ctr">
              <a:spcAft>
                <a:spcPts val="400"/>
              </a:spcAft>
            </a:pPr>
            <a:r>
              <a:rPr sz="1600" b="1">
                <a:solidFill>
                  <a:srgbClr val="1F6FEB"/>
                </a:solidFill>
                <a:latin typeface="Arial"/>
                <a:hlinkClick r:id="rId2"/>
              </a:rPr>
              <a:t>Learner login:  https://www.tertiarycourses.com.sg/lmslogin</a:t>
            </a:r>
          </a:p>
        </p:txBody>
      </p:sp>
    </p:spTree>
  </p:cSld>
  <p:clrMapOvr>
    <a:masterClrMapping/>
  </p:clrMapOvr>
  <p:transition spd="med">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SCHEDULE</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Lesson Plan — One Connected Company Day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Morning</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Afternoon</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Morning · 9:30am–1:10pm</a:t>
            </a:r>
          </a:p>
          <a:p>
            <a:pPr>
              <a:spcAft>
                <a:spcPts val="1000"/>
              </a:spcAft>
            </a:pPr>
            <a:r>
              <a:rPr sz="1400" b="0">
                <a:solidFill>
                  <a:srgbClr val="5B6372"/>
                </a:solidFill>
                <a:latin typeface="Arial"/>
              </a:rPr>
              <a:t>–  Topic 1: Getting Claude Ready for HR Work (Labs 0–3)</a:t>
            </a:r>
          </a:p>
          <a:p>
            <a:pPr>
              <a:spcAft>
                <a:spcPts val="1000"/>
              </a:spcAft>
            </a:pPr>
            <a:r>
              <a:rPr sz="1400" b="0">
                <a:solidFill>
                  <a:srgbClr val="5B6372"/>
                </a:solidFill>
                <a:latin typeface="Arial"/>
              </a:rPr>
              <a:t>–  Topic 2: Hiring Plans, Policies and Staff Documents (Labs 4–5)</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Afternoon · 2:10pm–6:30pm</a:t>
            </a:r>
          </a:p>
          <a:p>
            <a:pPr>
              <a:spcAft>
                <a:spcPts val="1000"/>
              </a:spcAft>
            </a:pPr>
            <a:r>
              <a:rPr sz="1400" b="0">
                <a:solidFill>
                  <a:srgbClr val="5B6372"/>
                </a:solidFill>
                <a:latin typeface="Arial"/>
              </a:rPr>
              <a:t>–  Topic 3: People Numbers and Reporting to Leadership (Labs 6–7)</a:t>
            </a:r>
          </a:p>
          <a:p>
            <a:pPr>
              <a:spcAft>
                <a:spcPts val="1000"/>
              </a:spcAft>
            </a:pPr>
            <a:r>
              <a:rPr sz="1400" b="0">
                <a:solidFill>
                  <a:srgbClr val="5B6372"/>
                </a:solidFill>
                <a:latin typeface="Arial"/>
              </a:rPr>
              <a:t>–  Topic 4: Staff Questions, Repeatable Work and Advanced Claude (Labs 8–15)</a:t>
            </a:r>
          </a:p>
          <a:p>
            <a:pPr>
              <a:spcAft>
                <a:spcPts val="1000"/>
              </a:spcAft>
            </a:pPr>
            <a:r>
              <a:rPr sz="1600" b="0">
                <a:solidFill>
                  <a:srgbClr val="161B26"/>
                </a:solidFill>
                <a:latin typeface="Arial"/>
              </a:rPr>
              <a:t>•  Daily timing</a:t>
            </a:r>
          </a:p>
          <a:p>
            <a:pPr>
              <a:spcAft>
                <a:spcPts val="1000"/>
              </a:spcAft>
            </a:pPr>
            <a:r>
              <a:rPr sz="1400" b="0">
                <a:solidFill>
                  <a:srgbClr val="5B6372"/>
                </a:solidFill>
                <a:latin typeface="Arial"/>
              </a:rPr>
              <a:t>–  8 scheduled hours excluding lunch · 7.5 instructional hours · two tea breaks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p:transition spd="med">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WHAT YOU'LL ACHIEVE</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Learning Outcomes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Pick the right place</a:t>
            </a:r>
          </a:p>
          <a:p>
            <a:pPr algn="l">
              <a:spcAft>
                <a:spcPts val="300"/>
              </a:spcAft>
            </a:pPr>
            <a:r>
              <a:rPr sz="1300" b="0">
                <a:solidFill>
                  <a:srgbClr val="5B6372"/>
                </a:solidFill>
                <a:latin typeface="Arial"/>
              </a:rPr>
              <a:t>Choose the right place to use Claude for an HR task.</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Decide what Claude reads</a:t>
            </a:r>
          </a:p>
          <a:p>
            <a:pPr algn="l">
              <a:spcAft>
                <a:spcPts val="300"/>
              </a:spcAft>
            </a:pPr>
            <a:r>
              <a:rPr sz="1300" b="0">
                <a:solidFill>
                  <a:srgbClr val="5B6372"/>
                </a:solidFill>
                <a:latin typeface="Arial"/>
              </a:rPr>
              <a:t>Decide what staff information Claude may read, and what it must never change.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Ask clearly</a:t>
            </a:r>
          </a:p>
          <a:p>
            <a:pPr algn="l">
              <a:spcAft>
                <a:spcPts val="300"/>
              </a:spcAft>
            </a:pPr>
            <a:r>
              <a:rPr sz="1300" b="0">
                <a:solidFill>
                  <a:srgbClr val="5B6372"/>
                </a:solidFill>
                <a:latin typeface="Arial"/>
              </a:rPr>
              <a:t>Write a request that says what you want, what to use, what to leave alone and when to stop.</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Plan the hiring</a:t>
            </a:r>
          </a:p>
          <a:p>
            <a:pPr algn="l">
              <a:spcAft>
                <a:spcPts val="300"/>
              </a:spcAft>
            </a:pPr>
            <a:r>
              <a:rPr sz="1300" b="0">
                <a:solidFill>
                  <a:srgbClr val="5B6372"/>
                </a:solidFill>
                <a:latin typeface="Arial"/>
              </a:rPr>
              <a:t>Write a hiring plan in Word using only what the brief actually says.</a:t>
            </a:r>
          </a:p>
        </p:txBody>
      </p:sp>
      <p:sp>
        <p:nvSpPr>
          <p:cNvPr id="27" name="Rectangle 26"/>
          <p:cNvSpPr/>
          <p:nvPr/>
        </p:nvSpPr>
        <p:spPr>
          <a:xfrm>
            <a:off x="3504438"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504438"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760470"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60470"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4491990" y="4983480"/>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Check the policy wording</a:t>
            </a:r>
          </a:p>
          <a:p>
            <a:pPr algn="l">
              <a:spcAft>
                <a:spcPts val="300"/>
              </a:spcAft>
            </a:pPr>
            <a:r>
              <a:rPr sz="1300" b="0">
                <a:solidFill>
                  <a:srgbClr val="5B6372"/>
                </a:solidFill>
                <a:latin typeface="Arial"/>
              </a:rPr>
              <a:t>Draft leave and flexible-work policy wording that flags every point needing legal review.</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WHAT YOU'LL ACHIEVE</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Learning Outcomes (cont.)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People numbers</a:t>
            </a:r>
          </a:p>
          <a:p>
            <a:pPr algn="l">
              <a:spcAft>
                <a:spcPts val="300"/>
              </a:spcAft>
            </a:pPr>
            <a:r>
              <a:rPr sz="1300" b="0">
                <a:solidFill>
                  <a:srgbClr val="5B6372"/>
                </a:solidFill>
                <a:latin typeface="Arial"/>
              </a:rPr>
              <a:t>Build a headcount and turnover analysis in Excel using live formulas.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Tell leadership</a:t>
            </a:r>
          </a:p>
          <a:p>
            <a:pPr algn="l">
              <a:spcAft>
                <a:spcPts val="300"/>
              </a:spcAft>
            </a:pPr>
            <a:r>
              <a:rPr sz="1300" b="0">
                <a:solidFill>
                  <a:srgbClr val="5B6372"/>
                </a:solidFill>
                <a:latin typeface="Arial"/>
              </a:rPr>
              <a:t>Build a leadership update deck where every slide title states a conclusion.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8</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Handle the inbox</a:t>
            </a:r>
          </a:p>
          <a:p>
            <a:pPr algn="l">
              <a:spcAft>
                <a:spcPts val="300"/>
              </a:spcAft>
            </a:pPr>
            <a:r>
              <a:rPr sz="1300" b="0">
                <a:solidFill>
                  <a:srgbClr val="5B6372"/>
                </a:solidFill>
                <a:latin typeface="Arial"/>
              </a:rPr>
              <a:t>Sort the HR inbox and draft one reply ready for approval.</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9</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One folder, one summary</a:t>
            </a:r>
          </a:p>
          <a:p>
            <a:pPr algn="l">
              <a:spcAft>
                <a:spcPts val="300"/>
              </a:spcAft>
            </a:pPr>
            <a:r>
              <a:rPr sz="1300" b="0">
                <a:solidFill>
                  <a:srgbClr val="5B6372"/>
                </a:solidFill>
                <a:latin typeface="Arial"/>
              </a:rPr>
              <a:t>Have Claude read one folder and write a people summary that says where each fact came from.</a:t>
            </a:r>
          </a:p>
        </p:txBody>
      </p:sp>
      <p:sp>
        <p:nvSpPr>
          <p:cNvPr id="27" name="Rectangle 26"/>
          <p:cNvSpPr/>
          <p:nvPr/>
        </p:nvSpPr>
        <p:spPr>
          <a:xfrm>
            <a:off x="3504438"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504438"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760470"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60470"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10</a:t>
            </a:r>
          </a:p>
        </p:txBody>
      </p:sp>
      <p:sp>
        <p:nvSpPr>
          <p:cNvPr id="31" name="TextBox 30"/>
          <p:cNvSpPr txBox="1"/>
          <p:nvPr/>
        </p:nvSpPr>
        <p:spPr>
          <a:xfrm>
            <a:off x="4491990" y="4983480"/>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Automate the update</a:t>
            </a:r>
          </a:p>
          <a:p>
            <a:pPr algn="l">
              <a:spcAft>
                <a:spcPts val="300"/>
              </a:spcAft>
            </a:pPr>
            <a:r>
              <a:rPr sz="1300" b="0">
                <a:solidFill>
                  <a:srgbClr val="5B6372"/>
                </a:solidFill>
                <a:latin typeface="Arial"/>
              </a:rPr>
              <a:t>Automate a weekly people update on your own computer.</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WHAT YOU'LL ACHIEVE</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Learning Outcomes (cont.)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Save it as a Skill</a:t>
            </a:r>
          </a:p>
          <a:p>
            <a:pPr algn="l">
              <a:spcAft>
                <a:spcPts val="300"/>
              </a:spcAft>
            </a:pPr>
            <a:r>
              <a:rPr sz="1300" b="0">
                <a:solidFill>
                  <a:srgbClr val="5B6372"/>
                </a:solidFill>
                <a:latin typeface="Arial"/>
              </a:rPr>
              <a:t>Save a working method as a Skill so the whole team applies the same standard.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Connect SharePoint</a:t>
            </a:r>
          </a:p>
          <a:p>
            <a:pPr algn="l">
              <a:spcAft>
                <a:spcPts val="300"/>
              </a:spcAft>
            </a:pPr>
            <a:r>
              <a:rPr sz="1300" b="0">
                <a:solidFill>
                  <a:srgbClr val="5B6372"/>
                </a:solidFill>
                <a:latin typeface="Arial"/>
              </a:rPr>
              <a:t>Use the Microsoft 365 connector to find HR files stored in SharePoint.</a:t>
            </a:r>
          </a:p>
        </p:txBody>
      </p:sp>
      <p:sp>
        <p:nvSpPr>
          <p:cNvPr id="17" name="Rectangle 16"/>
          <p:cNvSpPr/>
          <p:nvPr/>
        </p:nvSpPr>
        <p:spPr>
          <a:xfrm>
            <a:off x="3504438"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504438" y="3319272"/>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760470" y="369417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760470"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13</a:t>
            </a:r>
          </a:p>
        </p:txBody>
      </p:sp>
      <p:sp>
        <p:nvSpPr>
          <p:cNvPr id="21" name="TextBox 20"/>
          <p:cNvSpPr txBox="1"/>
          <p:nvPr/>
        </p:nvSpPr>
        <p:spPr>
          <a:xfrm>
            <a:off x="4491990"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Add a plugin</a:t>
            </a:r>
          </a:p>
          <a:p>
            <a:pPr algn="l">
              <a:spcAft>
                <a:spcPts val="300"/>
              </a:spcAft>
            </a:pPr>
            <a:r>
              <a:rPr sz="1300" b="0">
                <a:solidFill>
                  <a:srgbClr val="5B6372"/>
                </a:solidFill>
                <a:latin typeface="Arial"/>
              </a:rPr>
              <a:t>Add a plugin, and judge when a task needs one and when it does not.</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LEARNING APPROACH</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How You'll Learn</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Trainer demonstrates the concept</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You build it yourself in the hands-on lab</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Verify with the lab's 'Test it' step</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Discuss and troubleshoot together</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Recap against the learning outcomes</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CORE CONCEPTS</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The Lumina Living Management Challenge</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OVERVIEW</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100" b="1">
                <a:solidFill>
                  <a:srgbClr val="161B26"/>
                </a:solidFill>
                <a:latin typeface="Arial"/>
              </a:rPr>
              <a:t>One Company, One Connected Evidence Chain</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500" b="0">
                <a:solidFill>
                  <a:srgbClr val="161B26"/>
                </a:solidFill>
                <a:latin typeface="Arial"/>
              </a:rPr>
              <a:t>Plan the year — turn the company's hiring needs into a plan, staff policies and clear approvals.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500" b="0">
                <a:solidFill>
                  <a:srgbClr val="161B26"/>
                </a:solidFill>
                <a:latin typeface="Arial"/>
              </a:rPr>
              <a:t>Work the numbers — check headcount, staff cost and budget assumptions in an Excel workbook you can follow.</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500" b="0">
                <a:solidFill>
                  <a:srgbClr val="161B26"/>
                </a:solidFill>
                <a:latin typeface="Arial"/>
              </a:rPr>
              <a:t>Communicate the decision — build a company-standard executive deck using verified Word and Excel content.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500" b="0">
                <a:solidFill>
                  <a:srgbClr val="161B26"/>
                </a:solidFill>
                <a:latin typeface="Arial"/>
              </a:rPr>
              <a:t>Coordinate the work — triage Outlook, use Cowork for multi-file execution and use Claude Code for a repeatable daily brief.</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THE BUILDING BLOCKS</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The FRAME Control Loop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Frame</a:t>
            </a:r>
          </a:p>
          <a:p>
            <a:pPr algn="l">
              <a:spcAft>
                <a:spcPts val="300"/>
              </a:spcAft>
            </a:pPr>
            <a:r>
              <a:rPr sz="1200" b="0">
                <a:solidFill>
                  <a:srgbClr val="5B6372"/>
                </a:solidFill>
                <a:latin typeface="Arial"/>
              </a:rPr>
              <a:t>Name the decision, audience, permitted sources and definition of done.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Retrieve</a:t>
            </a:r>
          </a:p>
          <a:p>
            <a:pPr algn="l">
              <a:spcAft>
                <a:spcPts val="300"/>
              </a:spcAft>
            </a:pPr>
            <a:r>
              <a:rPr sz="1200" b="0">
                <a:solidFill>
                  <a:srgbClr val="5B6372"/>
                </a:solidFill>
                <a:latin typeface="Arial"/>
              </a:rPr>
              <a:t>Bring only authorised files, messages and ranges into context.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Act</a:t>
            </a:r>
          </a:p>
          <a:p>
            <a:pPr algn="l">
              <a:spcAft>
                <a:spcPts val="300"/>
              </a:spcAft>
            </a:pPr>
            <a:r>
              <a:rPr sz="1200" b="0">
                <a:solidFill>
                  <a:srgbClr val="5B6372"/>
                </a:solidFill>
                <a:latin typeface="Arial"/>
              </a:rPr>
              <a:t>Ask Claude to draft or edit the smallest useful unit in the native work product.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Measure</a:t>
            </a:r>
          </a:p>
          <a:p>
            <a:pPr algn="l">
              <a:spcAft>
                <a:spcPts val="300"/>
              </a:spcAft>
            </a:pPr>
            <a:r>
              <a:rPr sz="1200" b="0">
                <a:solidFill>
                  <a:srgbClr val="5B6372"/>
                </a:solidFill>
                <a:latin typeface="Arial"/>
              </a:rPr>
              <a:t>Verify figures, claims, formulas, formatting and policy constraints.</a:t>
            </a:r>
          </a:p>
        </p:txBody>
      </p:sp>
      <p:sp>
        <p:nvSpPr>
          <p:cNvPr id="27" name="Rectangle 26"/>
          <p:cNvSpPr/>
          <p:nvPr/>
        </p:nvSpPr>
        <p:spPr>
          <a:xfrm>
            <a:off x="3504438"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504438"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760470"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60470"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4491990"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Endorse</a:t>
            </a:r>
          </a:p>
          <a:p>
            <a:pPr algn="l">
              <a:spcAft>
                <a:spcPts val="300"/>
              </a:spcAft>
            </a:pPr>
            <a:r>
              <a:rPr sz="1200" b="0">
                <a:solidFill>
                  <a:srgbClr val="5B6372"/>
                </a:solidFill>
                <a:latin typeface="Arial"/>
              </a:rPr>
              <a:t>Record assumptions and obtain the named human approval before save, send or release.</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THE PROFESSIONAL STANDARD</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From Polished Output to Trusted Work</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847088"/>
            <a:ext cx="10561320" cy="713232"/>
          </a:xfrm>
          <a:prstGeom prst="rect">
            <a:avLst/>
          </a:prstGeom>
          <a:noFill/>
        </p:spPr>
        <p:txBody>
          <a:bodyPr wrap="square" anchor="ctr">
            <a:spAutoFit/>
          </a:bodyPr>
          <a:lstStyle/>
          <a:p>
            <a:pPr algn="l">
              <a:spcAft>
                <a:spcPts val="400"/>
              </a:spcAft>
            </a:pPr>
            <a:r>
              <a:rPr sz="2400" b="1">
                <a:solidFill>
                  <a:srgbClr val="161B26"/>
                </a:solidFill>
                <a:latin typeface="Arial"/>
              </a:rPr>
              <a:t>A polished output is not a trusted output until its evidence, logic and owner are visible.</a:t>
            </a:r>
          </a:p>
        </p:txBody>
      </p:sp>
      <p:sp>
        <p:nvSpPr>
          <p:cNvPr id="8" name="Rectangle 7"/>
          <p:cNvSpPr/>
          <p:nvPr/>
        </p:nvSpPr>
        <p:spPr>
          <a:xfrm>
            <a:off x="804672" y="2788920"/>
            <a:ext cx="2489454" cy="2487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04672" y="2788920"/>
            <a:ext cx="248945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738503" y="3099816"/>
            <a:ext cx="621792" cy="62179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738503" y="3099816"/>
            <a:ext cx="621792" cy="621792"/>
          </a:xfrm>
          <a:prstGeom prst="rect">
            <a:avLst/>
          </a:prstGeom>
          <a:noFill/>
        </p:spPr>
        <p:txBody>
          <a:bodyPr wrap="square" anchor="ctr">
            <a:spAutoFit/>
          </a:bodyPr>
          <a:lstStyle/>
          <a:p>
            <a:pPr algn="ctr">
              <a:spcAft>
                <a:spcPts val="400"/>
              </a:spcAft>
            </a:pPr>
            <a:r>
              <a:rPr sz="2000" b="1">
                <a:solidFill>
                  <a:srgbClr val="FFFFFF"/>
                </a:solidFill>
                <a:latin typeface="Arial"/>
              </a:rPr>
              <a:t>1</a:t>
            </a:r>
          </a:p>
        </p:txBody>
      </p:sp>
      <p:sp>
        <p:nvSpPr>
          <p:cNvPr id="12" name="TextBox 11"/>
          <p:cNvSpPr txBox="1"/>
          <p:nvPr/>
        </p:nvSpPr>
        <p:spPr>
          <a:xfrm>
            <a:off x="969264" y="3886200"/>
            <a:ext cx="2160270" cy="329184"/>
          </a:xfrm>
          <a:prstGeom prst="rect">
            <a:avLst/>
          </a:prstGeom>
          <a:noFill/>
        </p:spPr>
        <p:txBody>
          <a:bodyPr wrap="square" anchor="t">
            <a:spAutoFit/>
          </a:bodyPr>
          <a:lstStyle/>
          <a:p>
            <a:pPr algn="ctr">
              <a:spcAft>
                <a:spcPts val="400"/>
              </a:spcAft>
            </a:pPr>
            <a:r>
              <a:rPr sz="1300" b="1">
                <a:solidFill>
                  <a:srgbClr val="1F6FEB"/>
                </a:solidFill>
                <a:latin typeface="Arial"/>
              </a:rPr>
              <a:t>EVIDENCE</a:t>
            </a:r>
          </a:p>
        </p:txBody>
      </p:sp>
      <p:sp>
        <p:nvSpPr>
          <p:cNvPr id="13" name="TextBox 12"/>
          <p:cNvSpPr txBox="1"/>
          <p:nvPr/>
        </p:nvSpPr>
        <p:spPr>
          <a:xfrm>
            <a:off x="969264" y="4270248"/>
            <a:ext cx="2160270" cy="841248"/>
          </a:xfrm>
          <a:prstGeom prst="rect">
            <a:avLst/>
          </a:prstGeom>
          <a:noFill/>
        </p:spPr>
        <p:txBody>
          <a:bodyPr wrap="square" anchor="ctr">
            <a:spAutoFit/>
          </a:bodyPr>
          <a:lstStyle/>
          <a:p>
            <a:pPr algn="ctr">
              <a:spcAft>
                <a:spcPts val="400"/>
              </a:spcAft>
            </a:pPr>
            <a:r>
              <a:rPr sz="1150" b="0">
                <a:solidFill>
                  <a:srgbClr val="161B26"/>
                </a:solidFill>
                <a:latin typeface="Arial"/>
              </a:rPr>
              <a:t>Claims trace to a file, heading, cell, range or approved message.</a:t>
            </a:r>
          </a:p>
        </p:txBody>
      </p:sp>
      <p:sp>
        <p:nvSpPr>
          <p:cNvPr id="14" name="Rectangle 13"/>
          <p:cNvSpPr/>
          <p:nvPr/>
        </p:nvSpPr>
        <p:spPr>
          <a:xfrm>
            <a:off x="3495294" y="2788920"/>
            <a:ext cx="2489454" cy="2487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95294" y="2788920"/>
            <a:ext cx="248945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429125" y="3099816"/>
            <a:ext cx="621792" cy="62179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29125" y="3099816"/>
            <a:ext cx="621792" cy="621792"/>
          </a:xfrm>
          <a:prstGeom prst="rect">
            <a:avLst/>
          </a:prstGeom>
          <a:noFill/>
        </p:spPr>
        <p:txBody>
          <a:bodyPr wrap="square" anchor="ctr">
            <a:spAutoFit/>
          </a:bodyPr>
          <a:lstStyle/>
          <a:p>
            <a:pPr algn="ctr">
              <a:spcAft>
                <a:spcPts val="400"/>
              </a:spcAft>
            </a:pPr>
            <a:r>
              <a:rPr sz="2000" b="1">
                <a:solidFill>
                  <a:srgbClr val="FFFFFF"/>
                </a:solidFill>
                <a:latin typeface="Arial"/>
              </a:rPr>
              <a:t>2</a:t>
            </a:r>
          </a:p>
        </p:txBody>
      </p:sp>
      <p:sp>
        <p:nvSpPr>
          <p:cNvPr id="18" name="TextBox 17"/>
          <p:cNvSpPr txBox="1"/>
          <p:nvPr/>
        </p:nvSpPr>
        <p:spPr>
          <a:xfrm>
            <a:off x="3659886" y="3886200"/>
            <a:ext cx="2160270" cy="329184"/>
          </a:xfrm>
          <a:prstGeom prst="rect">
            <a:avLst/>
          </a:prstGeom>
          <a:noFill/>
        </p:spPr>
        <p:txBody>
          <a:bodyPr wrap="square" anchor="t">
            <a:spAutoFit/>
          </a:bodyPr>
          <a:lstStyle/>
          <a:p>
            <a:pPr algn="ctr">
              <a:spcAft>
                <a:spcPts val="400"/>
              </a:spcAft>
            </a:pPr>
            <a:r>
              <a:rPr sz="1300" b="1">
                <a:solidFill>
                  <a:srgbClr val="10B981"/>
                </a:solidFill>
                <a:latin typeface="Arial"/>
              </a:rPr>
              <a:t>LOGIC</a:t>
            </a:r>
          </a:p>
        </p:txBody>
      </p:sp>
      <p:sp>
        <p:nvSpPr>
          <p:cNvPr id="19" name="TextBox 18"/>
          <p:cNvSpPr txBox="1"/>
          <p:nvPr/>
        </p:nvSpPr>
        <p:spPr>
          <a:xfrm>
            <a:off x="3659886" y="4270248"/>
            <a:ext cx="2160270" cy="841248"/>
          </a:xfrm>
          <a:prstGeom prst="rect">
            <a:avLst/>
          </a:prstGeom>
          <a:noFill/>
        </p:spPr>
        <p:txBody>
          <a:bodyPr wrap="square" anchor="ctr">
            <a:spAutoFit/>
          </a:bodyPr>
          <a:lstStyle/>
          <a:p>
            <a:pPr algn="ctr">
              <a:spcAft>
                <a:spcPts val="400"/>
              </a:spcAft>
            </a:pPr>
            <a:r>
              <a:rPr sz="1150" b="0">
                <a:solidFill>
                  <a:srgbClr val="161B26"/>
                </a:solidFill>
                <a:latin typeface="Arial"/>
              </a:rPr>
              <a:t>Formulas, assumptions and recommendations remain visible and challengeable.</a:t>
            </a:r>
          </a:p>
        </p:txBody>
      </p:sp>
      <p:sp>
        <p:nvSpPr>
          <p:cNvPr id="20" name="Rectangle 19"/>
          <p:cNvSpPr/>
          <p:nvPr/>
        </p:nvSpPr>
        <p:spPr>
          <a:xfrm>
            <a:off x="6185916" y="2788920"/>
            <a:ext cx="2489454" cy="2487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85916" y="2788920"/>
            <a:ext cx="248945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19747" y="3099816"/>
            <a:ext cx="621792" cy="62179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19747" y="3099816"/>
            <a:ext cx="621792" cy="621792"/>
          </a:xfrm>
          <a:prstGeom prst="rect">
            <a:avLst/>
          </a:prstGeom>
          <a:noFill/>
        </p:spPr>
        <p:txBody>
          <a:bodyPr wrap="square" anchor="ctr">
            <a:spAutoFit/>
          </a:bodyPr>
          <a:lstStyle/>
          <a:p>
            <a:pPr algn="ctr">
              <a:spcAft>
                <a:spcPts val="400"/>
              </a:spcAft>
            </a:pPr>
            <a:r>
              <a:rPr sz="2000" b="1">
                <a:solidFill>
                  <a:srgbClr val="FFFFFF"/>
                </a:solidFill>
                <a:latin typeface="Arial"/>
              </a:rPr>
              <a:t>3</a:t>
            </a:r>
          </a:p>
        </p:txBody>
      </p:sp>
      <p:sp>
        <p:nvSpPr>
          <p:cNvPr id="24" name="TextBox 23"/>
          <p:cNvSpPr txBox="1"/>
          <p:nvPr/>
        </p:nvSpPr>
        <p:spPr>
          <a:xfrm>
            <a:off x="6350508" y="3886200"/>
            <a:ext cx="2160270" cy="329184"/>
          </a:xfrm>
          <a:prstGeom prst="rect">
            <a:avLst/>
          </a:prstGeom>
          <a:noFill/>
        </p:spPr>
        <p:txBody>
          <a:bodyPr wrap="square" anchor="t">
            <a:spAutoFit/>
          </a:bodyPr>
          <a:lstStyle/>
          <a:p>
            <a:pPr algn="ctr">
              <a:spcAft>
                <a:spcPts val="400"/>
              </a:spcAft>
            </a:pPr>
            <a:r>
              <a:rPr sz="1300" b="1">
                <a:solidFill>
                  <a:srgbClr val="7C3AED"/>
                </a:solidFill>
                <a:latin typeface="Arial"/>
              </a:rPr>
              <a:t>OWNERSHIP</a:t>
            </a:r>
          </a:p>
        </p:txBody>
      </p:sp>
      <p:sp>
        <p:nvSpPr>
          <p:cNvPr id="25" name="TextBox 24"/>
          <p:cNvSpPr txBox="1"/>
          <p:nvPr/>
        </p:nvSpPr>
        <p:spPr>
          <a:xfrm>
            <a:off x="6350508" y="4270248"/>
            <a:ext cx="2160270" cy="841248"/>
          </a:xfrm>
          <a:prstGeom prst="rect">
            <a:avLst/>
          </a:prstGeom>
          <a:noFill/>
        </p:spPr>
        <p:txBody>
          <a:bodyPr wrap="square" anchor="ctr">
            <a:spAutoFit/>
          </a:bodyPr>
          <a:lstStyle/>
          <a:p>
            <a:pPr algn="ctr">
              <a:spcAft>
                <a:spcPts val="400"/>
              </a:spcAft>
            </a:pPr>
            <a:r>
              <a:rPr sz="1150" b="0">
                <a:solidFill>
                  <a:srgbClr val="161B26"/>
                </a:solidFill>
                <a:latin typeface="Arial"/>
              </a:rPr>
              <a:t>A named reviewer accepts the business decision and unresolved risk.</a:t>
            </a:r>
          </a:p>
        </p:txBody>
      </p:sp>
      <p:sp>
        <p:nvSpPr>
          <p:cNvPr id="26" name="Rectangle 25"/>
          <p:cNvSpPr/>
          <p:nvPr/>
        </p:nvSpPr>
        <p:spPr>
          <a:xfrm>
            <a:off x="8876538" y="2788920"/>
            <a:ext cx="2489454" cy="24871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876538" y="2788920"/>
            <a:ext cx="2489454"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810369" y="3099816"/>
            <a:ext cx="621792" cy="62179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810369" y="3099816"/>
            <a:ext cx="621792" cy="621792"/>
          </a:xfrm>
          <a:prstGeom prst="rect">
            <a:avLst/>
          </a:prstGeom>
          <a:noFill/>
        </p:spPr>
        <p:txBody>
          <a:bodyPr wrap="square" anchor="ctr">
            <a:spAutoFit/>
          </a:bodyPr>
          <a:lstStyle/>
          <a:p>
            <a:pPr algn="ctr">
              <a:spcAft>
                <a:spcPts val="400"/>
              </a:spcAft>
            </a:pPr>
            <a:r>
              <a:rPr sz="2000" b="1">
                <a:solidFill>
                  <a:srgbClr val="FFFFFF"/>
                </a:solidFill>
                <a:latin typeface="Arial"/>
              </a:rPr>
              <a:t>4</a:t>
            </a:r>
          </a:p>
        </p:txBody>
      </p:sp>
      <p:sp>
        <p:nvSpPr>
          <p:cNvPr id="30" name="TextBox 29"/>
          <p:cNvSpPr txBox="1"/>
          <p:nvPr/>
        </p:nvSpPr>
        <p:spPr>
          <a:xfrm>
            <a:off x="9041130" y="3886200"/>
            <a:ext cx="2160270" cy="329184"/>
          </a:xfrm>
          <a:prstGeom prst="rect">
            <a:avLst/>
          </a:prstGeom>
          <a:noFill/>
        </p:spPr>
        <p:txBody>
          <a:bodyPr wrap="square" anchor="t">
            <a:spAutoFit/>
          </a:bodyPr>
          <a:lstStyle/>
          <a:p>
            <a:pPr algn="ctr">
              <a:spcAft>
                <a:spcPts val="400"/>
              </a:spcAft>
            </a:pPr>
            <a:r>
              <a:rPr sz="1300" b="1">
                <a:solidFill>
                  <a:srgbClr val="F59E0B"/>
                </a:solidFill>
                <a:latin typeface="Arial"/>
              </a:rPr>
              <a:t>HAND-OFF</a:t>
            </a:r>
          </a:p>
        </p:txBody>
      </p:sp>
      <p:sp>
        <p:nvSpPr>
          <p:cNvPr id="31" name="TextBox 30"/>
          <p:cNvSpPr txBox="1"/>
          <p:nvPr/>
        </p:nvSpPr>
        <p:spPr>
          <a:xfrm>
            <a:off x="9041130" y="4270248"/>
            <a:ext cx="2160270" cy="841248"/>
          </a:xfrm>
          <a:prstGeom prst="rect">
            <a:avLst/>
          </a:prstGeom>
          <a:noFill/>
        </p:spPr>
        <p:txBody>
          <a:bodyPr wrap="square" anchor="ctr">
            <a:spAutoFit/>
          </a:bodyPr>
          <a:lstStyle/>
          <a:p>
            <a:pPr algn="ctr">
              <a:spcAft>
                <a:spcPts val="400"/>
              </a:spcAft>
            </a:pPr>
            <a:r>
              <a:rPr sz="1150" b="0">
                <a:solidFill>
                  <a:srgbClr val="161B26"/>
                </a:solidFill>
                <a:latin typeface="Arial"/>
              </a:rPr>
              <a:t>The presentation teaches the business architecture. The Learner Guide and lab folders contain the exact prompts, commands, source files and review checks.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COURSE ROADMAP</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The Company Pack You Will Build</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880360" cy="548640"/>
          </a:xfrm>
          <a:prstGeom prst="rect">
            <a:avLst/>
          </a:prstGeom>
          <a:noFill/>
        </p:spPr>
        <p:txBody>
          <a:bodyPr wrap="square" anchor="t">
            <a:spAutoFit/>
          </a:bodyPr>
          <a:lstStyle/>
          <a:p>
            <a:pPr algn="l">
              <a:spcAft>
                <a:spcPts val="400"/>
              </a:spcAft>
            </a:pPr>
            <a:r>
              <a:rPr sz="1900" b="1">
                <a:solidFill>
                  <a:srgbClr val="1F6FEB"/>
                </a:solidFill>
                <a:latin typeface="Arial"/>
              </a:rPr>
              <a:t>Plans and policies</a:t>
            </a:r>
          </a:p>
        </p:txBody>
      </p:sp>
      <p:sp>
        <p:nvSpPr>
          <p:cNvPr id="10" name="TextBox 9"/>
          <p:cNvSpPr txBox="1"/>
          <p:nvPr/>
        </p:nvSpPr>
        <p:spPr>
          <a:xfrm>
            <a:off x="1005840" y="2697480"/>
            <a:ext cx="2880360" cy="3108960"/>
          </a:xfrm>
          <a:prstGeom prst="rect">
            <a:avLst/>
          </a:prstGeom>
          <a:noFill/>
        </p:spPr>
        <p:txBody>
          <a:bodyPr wrap="square">
            <a:spAutoFit/>
          </a:bodyPr>
          <a:lstStyle/>
          <a:p>
            <a:pPr>
              <a:spcAft>
                <a:spcPts val="900"/>
              </a:spcAft>
            </a:pPr>
            <a:r>
              <a:rPr sz="1400" b="0">
                <a:solidFill>
                  <a:srgbClr val="161B26"/>
                </a:solidFill>
                <a:latin typeface="Arial"/>
              </a:rPr>
              <a:t>•  Hiring plan</a:t>
            </a:r>
          </a:p>
          <a:p>
            <a:pPr>
              <a:spcAft>
                <a:spcPts val="900"/>
              </a:spcAft>
            </a:pPr>
            <a:r>
              <a:rPr sz="1400" b="0">
                <a:solidFill>
                  <a:srgbClr val="161B26"/>
                </a:solidFill>
                <a:latin typeface="Arial"/>
              </a:rPr>
              <a:t>•  One-page people plan</a:t>
            </a:r>
          </a:p>
          <a:p>
            <a:pPr>
              <a:spcAft>
                <a:spcPts val="900"/>
              </a:spcAft>
            </a:pPr>
            <a:r>
              <a:rPr sz="1400" b="0">
                <a:solidFill>
                  <a:srgbClr val="161B26"/>
                </a:solidFill>
                <a:latin typeface="Arial"/>
              </a:rPr>
              <a:t>•  Leave and flexible-work drafts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880360" cy="548640"/>
          </a:xfrm>
          <a:prstGeom prst="rect">
            <a:avLst/>
          </a:prstGeom>
          <a:noFill/>
        </p:spPr>
        <p:txBody>
          <a:bodyPr wrap="square" anchor="t">
            <a:spAutoFit/>
          </a:bodyPr>
          <a:lstStyle/>
          <a:p>
            <a:pPr algn="l">
              <a:spcAft>
                <a:spcPts val="400"/>
              </a:spcAft>
            </a:pPr>
            <a:r>
              <a:rPr sz="1900" b="1">
                <a:solidFill>
                  <a:srgbClr val="10B981"/>
                </a:solidFill>
                <a:latin typeface="Arial"/>
              </a:rPr>
              <a:t>Analysis and story</a:t>
            </a:r>
          </a:p>
        </p:txBody>
      </p:sp>
      <p:sp>
        <p:nvSpPr>
          <p:cNvPr id="14" name="TextBox 13"/>
          <p:cNvSpPr txBox="1"/>
          <p:nvPr/>
        </p:nvSpPr>
        <p:spPr>
          <a:xfrm>
            <a:off x="4800600" y="2697480"/>
            <a:ext cx="2880360" cy="3108960"/>
          </a:xfrm>
          <a:prstGeom prst="rect">
            <a:avLst/>
          </a:prstGeom>
          <a:noFill/>
        </p:spPr>
        <p:txBody>
          <a:bodyPr wrap="square">
            <a:spAutoFit/>
          </a:bodyPr>
          <a:lstStyle/>
          <a:p>
            <a:pPr>
              <a:spcAft>
                <a:spcPts val="900"/>
              </a:spcAft>
            </a:pPr>
            <a:r>
              <a:rPr sz="1400" b="0">
                <a:solidFill>
                  <a:srgbClr val="161B26"/>
                </a:solidFill>
                <a:latin typeface="Arial"/>
              </a:rPr>
              <a:t>•  Headcount analysis</a:t>
            </a:r>
          </a:p>
          <a:p>
            <a:pPr>
              <a:spcAft>
                <a:spcPts val="900"/>
              </a:spcAft>
            </a:pPr>
            <a:r>
              <a:rPr sz="1400" b="0">
                <a:solidFill>
                  <a:srgbClr val="161B26"/>
                </a:solidFill>
                <a:latin typeface="Arial"/>
              </a:rPr>
              <a:t>•  People numbers</a:t>
            </a:r>
          </a:p>
          <a:p>
            <a:pPr>
              <a:spcAft>
                <a:spcPts val="900"/>
              </a:spcAft>
            </a:pPr>
            <a:r>
              <a:rPr sz="1400" b="0">
                <a:solidFill>
                  <a:srgbClr val="161B26"/>
                </a:solidFill>
                <a:latin typeface="Arial"/>
              </a:rPr>
              <a:t>•  Leadership update deck</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880360" cy="548640"/>
          </a:xfrm>
          <a:prstGeom prst="rect">
            <a:avLst/>
          </a:prstGeom>
          <a:noFill/>
        </p:spPr>
        <p:txBody>
          <a:bodyPr wrap="square" anchor="t">
            <a:spAutoFit/>
          </a:bodyPr>
          <a:lstStyle/>
          <a:p>
            <a:pPr algn="l">
              <a:spcAft>
                <a:spcPts val="400"/>
              </a:spcAft>
            </a:pPr>
            <a:r>
              <a:rPr sz="1900" b="1">
                <a:solidFill>
                  <a:srgbClr val="7C3AED"/>
                </a:solidFill>
                <a:latin typeface="Arial"/>
              </a:rPr>
              <a:t>Agentic coordination</a:t>
            </a:r>
          </a:p>
        </p:txBody>
      </p:sp>
      <p:sp>
        <p:nvSpPr>
          <p:cNvPr id="18" name="TextBox 17"/>
          <p:cNvSpPr txBox="1"/>
          <p:nvPr/>
        </p:nvSpPr>
        <p:spPr>
          <a:xfrm>
            <a:off x="8595360" y="2697480"/>
            <a:ext cx="2880360" cy="3108960"/>
          </a:xfrm>
          <a:prstGeom prst="rect">
            <a:avLst/>
          </a:prstGeom>
          <a:noFill/>
        </p:spPr>
        <p:txBody>
          <a:bodyPr wrap="square">
            <a:spAutoFit/>
          </a:bodyPr>
          <a:lstStyle/>
          <a:p>
            <a:pPr>
              <a:spcAft>
                <a:spcPts val="900"/>
              </a:spcAft>
            </a:pPr>
            <a:r>
              <a:rPr sz="1400" b="0">
                <a:solidFill>
                  <a:srgbClr val="161B26"/>
                </a:solidFill>
                <a:latin typeface="Arial"/>
              </a:rPr>
              <a:t>•  Outlook draft workflow</a:t>
            </a:r>
          </a:p>
          <a:p>
            <a:pPr>
              <a:spcAft>
                <a:spcPts val="900"/>
              </a:spcAft>
            </a:pPr>
            <a:r>
              <a:rPr sz="1400" b="0">
                <a:solidFill>
                  <a:srgbClr val="161B26"/>
                </a:solidFill>
                <a:latin typeface="Arial"/>
              </a:rPr>
              <a:t>•  Cowork project</a:t>
            </a:r>
          </a:p>
          <a:p>
            <a:pPr>
              <a:spcAft>
                <a:spcPts val="900"/>
              </a:spcAft>
            </a:pPr>
            <a:r>
              <a:rPr sz="1400" b="0">
                <a:solidFill>
                  <a:srgbClr val="161B26"/>
                </a:solidFill>
                <a:latin typeface="Arial"/>
              </a:rPr>
              <a:t>•  Claude Code daily brief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THE LEARNING ARC</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How Every Activity Connects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Open the lab folder and inspect its realistic Word, Excel and PowerPoint company artifacts.</a:t>
            </a:r>
          </a:p>
        </p:txBody>
      </p:sp>
      <p:sp>
        <p:nvSpPr>
          <p:cNvPr id="12" name="Rectangle 11"/>
          <p:cNvSpPr/>
          <p:nvPr/>
        </p:nvSpPr>
        <p:spPr>
          <a:xfrm>
            <a:off x="6176772" y="1828800"/>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Use the named evidence and prompt contract to create or improve a work product.</a:t>
            </a:r>
          </a:p>
        </p:txBody>
      </p:sp>
      <p:sp>
        <p:nvSpPr>
          <p:cNvPr id="17" name="Rectangle 16"/>
          <p:cNvSpPr/>
          <p:nvPr/>
        </p:nvSpPr>
        <p:spPr>
          <a:xfrm>
            <a:off x="777240" y="4059936"/>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Challenge the result against formulas, sources, policy boundaries and company templates.</a:t>
            </a:r>
          </a:p>
        </p:txBody>
      </p:sp>
      <p:sp>
        <p:nvSpPr>
          <p:cNvPr id="22" name="Rectangle 21"/>
          <p:cNvSpPr/>
          <p:nvPr/>
        </p:nvSpPr>
        <p:spPr>
          <a:xfrm>
            <a:off x="6176772" y="4059936"/>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Record the approval, retain the verified artifact and pass only approved context to the next activity.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7C3AED"/>
                </a:solidFill>
                <a:latin typeface="Arial"/>
              </a:rPr>
              <a:t>PROMPTING FOR OFFICE WORK</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Prompts That Produce Reviewable Work</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Word · Excel · PowerPoint · evidence · constraints · approval</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7C3AED"/>
                </a:solidFill>
                <a:latin typeface="Arial"/>
              </a:rPr>
              <a:t>BUSINESS RESULT TO APPROVAL GATE</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The Five-Part Prompt Contract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Name the business result</a:t>
            </a:r>
          </a:p>
          <a:p>
            <a:pPr algn="l">
              <a:spcAft>
                <a:spcPts val="300"/>
              </a:spcAft>
            </a:pPr>
            <a:r>
              <a:rPr sz="1200" b="0">
                <a:solidFill>
                  <a:srgbClr val="5B6372"/>
                </a:solidFill>
                <a:latin typeface="Arial"/>
              </a:rPr>
              <a:t>State the decision, audience and artifact—not merely the app you are using.</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Ground the work</a:t>
            </a:r>
          </a:p>
          <a:p>
            <a:pPr algn="l">
              <a:spcAft>
                <a:spcPts val="300"/>
              </a:spcAft>
            </a:pPr>
            <a:r>
              <a:rPr sz="1200" b="0">
                <a:solidFill>
                  <a:srgbClr val="5B6372"/>
                </a:solidFill>
                <a:latin typeface="Arial"/>
              </a:rPr>
              <a:t>Name the open file, table, sheet, section or approved message set Claude may use.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Constrain the edit</a:t>
            </a:r>
          </a:p>
          <a:p>
            <a:pPr algn="l">
              <a:spcAft>
                <a:spcPts val="300"/>
              </a:spcAft>
            </a:pPr>
            <a:r>
              <a:rPr sz="1200" b="0">
                <a:solidFill>
                  <a:srgbClr val="5B6372"/>
                </a:solidFill>
                <a:latin typeface="Arial"/>
              </a:rPr>
              <a:t>Define scope, length, style, formula method, layout and anything Claude must not change.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Demand evidence</a:t>
            </a:r>
          </a:p>
          <a:p>
            <a:pPr algn="l">
              <a:spcAft>
                <a:spcPts val="300"/>
              </a:spcAft>
            </a:pPr>
            <a:r>
              <a:rPr sz="1200" b="0">
                <a:solidFill>
                  <a:srgbClr val="5B6372"/>
                </a:solidFill>
                <a:latin typeface="Arial"/>
              </a:rPr>
              <a:t>Require cell, range, heading or email citations and ask Claude to flag missing information.</a:t>
            </a:r>
          </a:p>
        </p:txBody>
      </p:sp>
      <p:sp>
        <p:nvSpPr>
          <p:cNvPr id="27" name="Rectangle 26"/>
          <p:cNvSpPr/>
          <p:nvPr/>
        </p:nvSpPr>
        <p:spPr>
          <a:xfrm>
            <a:off x="3504438"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504438"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760470"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60470"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4491990"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Set the approval gate</a:t>
            </a:r>
          </a:p>
          <a:p>
            <a:pPr algn="l">
              <a:spcAft>
                <a:spcPts val="300"/>
              </a:spcAft>
            </a:pPr>
            <a:r>
              <a:rPr sz="1200" b="0">
                <a:solidFill>
                  <a:srgbClr val="5B6372"/>
                </a:solidFill>
                <a:latin typeface="Arial"/>
              </a:rPr>
              <a:t>Ask for proposed changes first; verify them before accepting, saving, sending or publishing.</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transition spd="med">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REALISTIC COMPANY WORK</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100" b="1">
                <a:solidFill>
                  <a:srgbClr val="161B26"/>
                </a:solidFill>
                <a:latin typeface="Arial"/>
              </a:rPr>
              <a:t>Claude-Generated Planning and Policy Samples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847088"/>
            <a:ext cx="3486912" cy="42245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847088"/>
            <a:ext cx="3486912"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58952" y="2135255"/>
            <a:ext cx="3285744" cy="282523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lab-04-artifact.png"/>
          <p:cNvPicPr>
            <a:picLocks noChangeAspect="1"/>
          </p:cNvPicPr>
          <p:nvPr/>
        </p:nvPicPr>
        <p:blipFill>
          <a:blip r:embed="rId2"/>
          <a:stretch>
            <a:fillRect/>
          </a:stretch>
        </p:blipFill>
        <p:spPr>
          <a:xfrm>
            <a:off x="786384" y="2162687"/>
            <a:ext cx="3230880" cy="2770369"/>
          </a:xfrm>
          <a:prstGeom prst="rect">
            <a:avLst/>
          </a:prstGeom>
        </p:spPr>
      </p:pic>
      <p:sp>
        <p:nvSpPr>
          <p:cNvPr id="11" name="TextBox 10"/>
          <p:cNvSpPr txBox="1"/>
          <p:nvPr/>
        </p:nvSpPr>
        <p:spPr>
          <a:xfrm>
            <a:off x="822960" y="5166360"/>
            <a:ext cx="3157728" cy="310896"/>
          </a:xfrm>
          <a:prstGeom prst="rect">
            <a:avLst/>
          </a:prstGeom>
          <a:noFill/>
        </p:spPr>
        <p:txBody>
          <a:bodyPr wrap="square" anchor="t">
            <a:spAutoFit/>
          </a:bodyPr>
          <a:lstStyle/>
          <a:p>
            <a:pPr algn="ctr">
              <a:spcAft>
                <a:spcPts val="400"/>
              </a:spcAft>
            </a:pPr>
            <a:r>
              <a:rPr sz="1000" b="1">
                <a:solidFill>
                  <a:srgbClr val="1F6FEB"/>
                </a:solidFill>
                <a:latin typeface="Arial"/>
              </a:rPr>
              <a:t>LAB 04</a:t>
            </a:r>
          </a:p>
        </p:txBody>
      </p:sp>
      <p:sp>
        <p:nvSpPr>
          <p:cNvPr id="12" name="TextBox 11"/>
          <p:cNvSpPr txBox="1"/>
          <p:nvPr/>
        </p:nvSpPr>
        <p:spPr>
          <a:xfrm>
            <a:off x="822960" y="5486400"/>
            <a:ext cx="3157728" cy="475488"/>
          </a:xfrm>
          <a:prstGeom prst="rect">
            <a:avLst/>
          </a:prstGeom>
          <a:noFill/>
        </p:spPr>
        <p:txBody>
          <a:bodyPr wrap="square" anchor="ctr">
            <a:spAutoFit/>
          </a:bodyPr>
          <a:lstStyle/>
          <a:p>
            <a:pPr algn="ctr">
              <a:spcAft>
                <a:spcPts val="400"/>
              </a:spcAft>
            </a:pPr>
            <a:r>
              <a:rPr sz="1300" b="1">
                <a:solidFill>
                  <a:srgbClr val="161B26"/>
                </a:solidFill>
                <a:latin typeface="Arial"/>
              </a:rPr>
              <a:t>FY2027 Hiring Plan</a:t>
            </a:r>
          </a:p>
        </p:txBody>
      </p:sp>
      <p:sp>
        <p:nvSpPr>
          <p:cNvPr id="13" name="Rectangle 12"/>
          <p:cNvSpPr/>
          <p:nvPr/>
        </p:nvSpPr>
        <p:spPr>
          <a:xfrm>
            <a:off x="4346448" y="1847088"/>
            <a:ext cx="3486912" cy="42245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46448" y="1847088"/>
            <a:ext cx="348691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67213" y="2020824"/>
            <a:ext cx="3245382" cy="305409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ab-05-artifact.png"/>
          <p:cNvPicPr>
            <a:picLocks noChangeAspect="1"/>
          </p:cNvPicPr>
          <p:nvPr/>
        </p:nvPicPr>
        <p:blipFill>
          <a:blip r:embed="rId3"/>
          <a:stretch>
            <a:fillRect/>
          </a:stretch>
        </p:blipFill>
        <p:spPr>
          <a:xfrm>
            <a:off x="4494645" y="2048256"/>
            <a:ext cx="3190518" cy="2999232"/>
          </a:xfrm>
          <a:prstGeom prst="rect">
            <a:avLst/>
          </a:prstGeom>
        </p:spPr>
      </p:pic>
      <p:sp>
        <p:nvSpPr>
          <p:cNvPr id="17" name="TextBox 16"/>
          <p:cNvSpPr txBox="1"/>
          <p:nvPr/>
        </p:nvSpPr>
        <p:spPr>
          <a:xfrm>
            <a:off x="4511040" y="5166360"/>
            <a:ext cx="3157728" cy="310896"/>
          </a:xfrm>
          <a:prstGeom prst="rect">
            <a:avLst/>
          </a:prstGeom>
          <a:noFill/>
        </p:spPr>
        <p:txBody>
          <a:bodyPr wrap="square" anchor="t">
            <a:spAutoFit/>
          </a:bodyPr>
          <a:lstStyle/>
          <a:p>
            <a:pPr algn="ctr">
              <a:spcAft>
                <a:spcPts val="400"/>
              </a:spcAft>
            </a:pPr>
            <a:r>
              <a:rPr sz="1000" b="1">
                <a:solidFill>
                  <a:srgbClr val="10B981"/>
                </a:solidFill>
                <a:latin typeface="Arial"/>
              </a:rPr>
              <a:t>LAB 05</a:t>
            </a:r>
          </a:p>
        </p:txBody>
      </p:sp>
      <p:sp>
        <p:nvSpPr>
          <p:cNvPr id="18" name="TextBox 17"/>
          <p:cNvSpPr txBox="1"/>
          <p:nvPr/>
        </p:nvSpPr>
        <p:spPr>
          <a:xfrm>
            <a:off x="4511040" y="5486400"/>
            <a:ext cx="3157728" cy="475488"/>
          </a:xfrm>
          <a:prstGeom prst="rect">
            <a:avLst/>
          </a:prstGeom>
          <a:noFill/>
        </p:spPr>
        <p:txBody>
          <a:bodyPr wrap="square" anchor="ctr">
            <a:spAutoFit/>
          </a:bodyPr>
          <a:lstStyle/>
          <a:p>
            <a:pPr algn="ctr">
              <a:spcAft>
                <a:spcPts val="400"/>
              </a:spcAft>
            </a:pPr>
            <a:r>
              <a:rPr sz="1300" b="1">
                <a:solidFill>
                  <a:srgbClr val="161B26"/>
                </a:solidFill>
                <a:latin typeface="Arial"/>
              </a:rPr>
              <a:t>One-Page People Plan</a:t>
            </a:r>
          </a:p>
        </p:txBody>
      </p:sp>
      <p:sp>
        <p:nvSpPr>
          <p:cNvPr id="19" name="Rectangle 18"/>
          <p:cNvSpPr/>
          <p:nvPr/>
        </p:nvSpPr>
        <p:spPr>
          <a:xfrm>
            <a:off x="8034528" y="1847088"/>
            <a:ext cx="3486912" cy="42245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34528" y="1847088"/>
            <a:ext cx="3486912"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35112" y="2146493"/>
            <a:ext cx="3285744" cy="280275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lab-06-artifact.png"/>
          <p:cNvPicPr>
            <a:picLocks noChangeAspect="1"/>
          </p:cNvPicPr>
          <p:nvPr/>
        </p:nvPicPr>
        <p:blipFill>
          <a:blip r:embed="rId4"/>
          <a:stretch>
            <a:fillRect/>
          </a:stretch>
        </p:blipFill>
        <p:spPr>
          <a:xfrm>
            <a:off x="8162544" y="2173925"/>
            <a:ext cx="3230880" cy="2747894"/>
          </a:xfrm>
          <a:prstGeom prst="rect">
            <a:avLst/>
          </a:prstGeom>
        </p:spPr>
      </p:pic>
      <p:sp>
        <p:nvSpPr>
          <p:cNvPr id="23" name="TextBox 22"/>
          <p:cNvSpPr txBox="1"/>
          <p:nvPr/>
        </p:nvSpPr>
        <p:spPr>
          <a:xfrm>
            <a:off x="8199120" y="5166360"/>
            <a:ext cx="3157728" cy="310896"/>
          </a:xfrm>
          <a:prstGeom prst="rect">
            <a:avLst/>
          </a:prstGeom>
          <a:noFill/>
        </p:spPr>
        <p:txBody>
          <a:bodyPr wrap="square" anchor="t">
            <a:spAutoFit/>
          </a:bodyPr>
          <a:lstStyle/>
          <a:p>
            <a:pPr algn="ctr">
              <a:spcAft>
                <a:spcPts val="400"/>
              </a:spcAft>
            </a:pPr>
            <a:r>
              <a:rPr sz="1000" b="1">
                <a:solidFill>
                  <a:srgbClr val="7C3AED"/>
                </a:solidFill>
                <a:latin typeface="Arial"/>
              </a:rPr>
              <a:t>LAB 06</a:t>
            </a:r>
          </a:p>
        </p:txBody>
      </p:sp>
      <p:sp>
        <p:nvSpPr>
          <p:cNvPr id="24" name="TextBox 23"/>
          <p:cNvSpPr txBox="1"/>
          <p:nvPr/>
        </p:nvSpPr>
        <p:spPr>
          <a:xfrm>
            <a:off x="8199120" y="5486400"/>
            <a:ext cx="3157728" cy="475488"/>
          </a:xfrm>
          <a:prstGeom prst="rect">
            <a:avLst/>
          </a:prstGeom>
          <a:noFill/>
        </p:spPr>
        <p:txBody>
          <a:bodyPr wrap="square" anchor="ctr">
            <a:spAutoFit/>
          </a:bodyPr>
          <a:lstStyle/>
          <a:p>
            <a:pPr algn="ctr">
              <a:spcAft>
                <a:spcPts val="400"/>
              </a:spcAft>
            </a:pPr>
            <a:r>
              <a:rPr sz="1300" b="1">
                <a:solidFill>
                  <a:srgbClr val="161B26"/>
                </a:solidFill>
                <a:latin typeface="Arial"/>
              </a:rPr>
              <a:t>Leave and Flexible-Work Drafts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transition spd="med">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NATIVE OFFICE ARTIFACTS</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100" b="1">
                <a:solidFill>
                  <a:srgbClr val="161B26"/>
                </a:solidFill>
                <a:latin typeface="Arial"/>
              </a:rPr>
              <a:t>Claude-Generated Analysis and Executive Samples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847088"/>
            <a:ext cx="3486912" cy="42245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847088"/>
            <a:ext cx="3486912"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58952" y="2304743"/>
            <a:ext cx="3285744" cy="248625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lab-07-artifact.png"/>
          <p:cNvPicPr>
            <a:picLocks noChangeAspect="1"/>
          </p:cNvPicPr>
          <p:nvPr/>
        </p:nvPicPr>
        <p:blipFill>
          <a:blip r:embed="rId2"/>
          <a:stretch>
            <a:fillRect/>
          </a:stretch>
        </p:blipFill>
        <p:spPr>
          <a:xfrm>
            <a:off x="786384" y="2332175"/>
            <a:ext cx="3230880" cy="2431394"/>
          </a:xfrm>
          <a:prstGeom prst="rect">
            <a:avLst/>
          </a:prstGeom>
        </p:spPr>
      </p:pic>
      <p:sp>
        <p:nvSpPr>
          <p:cNvPr id="11" name="TextBox 10"/>
          <p:cNvSpPr txBox="1"/>
          <p:nvPr/>
        </p:nvSpPr>
        <p:spPr>
          <a:xfrm>
            <a:off x="822960" y="5166360"/>
            <a:ext cx="3157728" cy="310896"/>
          </a:xfrm>
          <a:prstGeom prst="rect">
            <a:avLst/>
          </a:prstGeom>
          <a:noFill/>
        </p:spPr>
        <p:txBody>
          <a:bodyPr wrap="square" anchor="t">
            <a:spAutoFit/>
          </a:bodyPr>
          <a:lstStyle/>
          <a:p>
            <a:pPr algn="ctr">
              <a:spcAft>
                <a:spcPts val="400"/>
              </a:spcAft>
            </a:pPr>
            <a:r>
              <a:rPr sz="1000" b="1">
                <a:solidFill>
                  <a:srgbClr val="1F6FEB"/>
                </a:solidFill>
                <a:latin typeface="Arial"/>
              </a:rPr>
              <a:t>LAB 07</a:t>
            </a:r>
          </a:p>
        </p:txBody>
      </p:sp>
      <p:sp>
        <p:nvSpPr>
          <p:cNvPr id="12" name="TextBox 11"/>
          <p:cNvSpPr txBox="1"/>
          <p:nvPr/>
        </p:nvSpPr>
        <p:spPr>
          <a:xfrm>
            <a:off x="822960" y="5486400"/>
            <a:ext cx="3157728" cy="475488"/>
          </a:xfrm>
          <a:prstGeom prst="rect">
            <a:avLst/>
          </a:prstGeom>
          <a:noFill/>
        </p:spPr>
        <p:txBody>
          <a:bodyPr wrap="square" anchor="ctr">
            <a:spAutoFit/>
          </a:bodyPr>
          <a:lstStyle/>
          <a:p>
            <a:pPr algn="ctr">
              <a:spcAft>
                <a:spcPts val="400"/>
              </a:spcAft>
            </a:pPr>
            <a:r>
              <a:rPr sz="1300" b="1">
                <a:solidFill>
                  <a:srgbClr val="161B26"/>
                </a:solidFill>
                <a:latin typeface="Arial"/>
              </a:rPr>
              <a:t>Headcount Analysis in Excel</a:t>
            </a:r>
          </a:p>
        </p:txBody>
      </p:sp>
      <p:sp>
        <p:nvSpPr>
          <p:cNvPr id="13" name="Rectangle 12"/>
          <p:cNvSpPr/>
          <p:nvPr/>
        </p:nvSpPr>
        <p:spPr>
          <a:xfrm>
            <a:off x="4346448" y="1847088"/>
            <a:ext cx="3486912" cy="42245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46448" y="1847088"/>
            <a:ext cx="348691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47032" y="2570181"/>
            <a:ext cx="3285743" cy="195538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ab-08-artifact.png"/>
          <p:cNvPicPr>
            <a:picLocks noChangeAspect="1"/>
          </p:cNvPicPr>
          <p:nvPr/>
        </p:nvPicPr>
        <p:blipFill>
          <a:blip r:embed="rId3"/>
          <a:stretch>
            <a:fillRect/>
          </a:stretch>
        </p:blipFill>
        <p:spPr>
          <a:xfrm>
            <a:off x="4474464" y="2597613"/>
            <a:ext cx="3230879" cy="1900517"/>
          </a:xfrm>
          <a:prstGeom prst="rect">
            <a:avLst/>
          </a:prstGeom>
        </p:spPr>
      </p:pic>
      <p:sp>
        <p:nvSpPr>
          <p:cNvPr id="17" name="TextBox 16"/>
          <p:cNvSpPr txBox="1"/>
          <p:nvPr/>
        </p:nvSpPr>
        <p:spPr>
          <a:xfrm>
            <a:off x="4511040" y="5166360"/>
            <a:ext cx="3157728" cy="310896"/>
          </a:xfrm>
          <a:prstGeom prst="rect">
            <a:avLst/>
          </a:prstGeom>
          <a:noFill/>
        </p:spPr>
        <p:txBody>
          <a:bodyPr wrap="square" anchor="t">
            <a:spAutoFit/>
          </a:bodyPr>
          <a:lstStyle/>
          <a:p>
            <a:pPr algn="ctr">
              <a:spcAft>
                <a:spcPts val="400"/>
              </a:spcAft>
            </a:pPr>
            <a:r>
              <a:rPr sz="1000" b="1">
                <a:solidFill>
                  <a:srgbClr val="10B981"/>
                </a:solidFill>
                <a:latin typeface="Arial"/>
              </a:rPr>
              <a:t>LAB 08</a:t>
            </a:r>
          </a:p>
        </p:txBody>
      </p:sp>
      <p:sp>
        <p:nvSpPr>
          <p:cNvPr id="18" name="TextBox 17"/>
          <p:cNvSpPr txBox="1"/>
          <p:nvPr/>
        </p:nvSpPr>
        <p:spPr>
          <a:xfrm>
            <a:off x="4511040" y="5486400"/>
            <a:ext cx="3157728" cy="475488"/>
          </a:xfrm>
          <a:prstGeom prst="rect">
            <a:avLst/>
          </a:prstGeom>
          <a:noFill/>
        </p:spPr>
        <p:txBody>
          <a:bodyPr wrap="square" anchor="ctr">
            <a:spAutoFit/>
          </a:bodyPr>
          <a:lstStyle/>
          <a:p>
            <a:pPr algn="ctr">
              <a:spcAft>
                <a:spcPts val="400"/>
              </a:spcAft>
            </a:pPr>
            <a:r>
              <a:rPr sz="1300" b="1">
                <a:solidFill>
                  <a:srgbClr val="161B26"/>
                </a:solidFill>
                <a:latin typeface="Arial"/>
              </a:rPr>
              <a:t>Leadership Update Deck</a:t>
            </a:r>
          </a:p>
        </p:txBody>
      </p:sp>
      <p:sp>
        <p:nvSpPr>
          <p:cNvPr id="19" name="Rectangle 18"/>
          <p:cNvSpPr/>
          <p:nvPr/>
        </p:nvSpPr>
        <p:spPr>
          <a:xfrm>
            <a:off x="8034528" y="1847088"/>
            <a:ext cx="3486912" cy="422452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34528" y="1847088"/>
            <a:ext cx="3486912"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35112" y="2148047"/>
            <a:ext cx="3285744" cy="279965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lab-09-artifact.png"/>
          <p:cNvPicPr>
            <a:picLocks noChangeAspect="1"/>
          </p:cNvPicPr>
          <p:nvPr/>
        </p:nvPicPr>
        <p:blipFill>
          <a:blip r:embed="rId4"/>
          <a:stretch>
            <a:fillRect/>
          </a:stretch>
        </p:blipFill>
        <p:spPr>
          <a:xfrm>
            <a:off x="8162544" y="2175479"/>
            <a:ext cx="3230880" cy="2744786"/>
          </a:xfrm>
          <a:prstGeom prst="rect">
            <a:avLst/>
          </a:prstGeom>
        </p:spPr>
      </p:pic>
      <p:sp>
        <p:nvSpPr>
          <p:cNvPr id="23" name="TextBox 22"/>
          <p:cNvSpPr txBox="1"/>
          <p:nvPr/>
        </p:nvSpPr>
        <p:spPr>
          <a:xfrm>
            <a:off x="8199120" y="5166360"/>
            <a:ext cx="3157728" cy="310896"/>
          </a:xfrm>
          <a:prstGeom prst="rect">
            <a:avLst/>
          </a:prstGeom>
          <a:noFill/>
        </p:spPr>
        <p:txBody>
          <a:bodyPr wrap="square" anchor="t">
            <a:spAutoFit/>
          </a:bodyPr>
          <a:lstStyle/>
          <a:p>
            <a:pPr algn="ctr">
              <a:spcAft>
                <a:spcPts val="400"/>
              </a:spcAft>
            </a:pPr>
            <a:r>
              <a:rPr sz="1000" b="1">
                <a:solidFill>
                  <a:srgbClr val="7C3AED"/>
                </a:solidFill>
                <a:latin typeface="Arial"/>
              </a:rPr>
              <a:t>LAB 09</a:t>
            </a:r>
          </a:p>
        </p:txBody>
      </p:sp>
      <p:sp>
        <p:nvSpPr>
          <p:cNvPr id="24" name="TextBox 23"/>
          <p:cNvSpPr txBox="1"/>
          <p:nvPr/>
        </p:nvSpPr>
        <p:spPr>
          <a:xfrm>
            <a:off x="8199120" y="5486400"/>
            <a:ext cx="3157728" cy="475488"/>
          </a:xfrm>
          <a:prstGeom prst="rect">
            <a:avLst/>
          </a:prstGeom>
          <a:noFill/>
        </p:spPr>
        <p:txBody>
          <a:bodyPr wrap="square" anchor="ctr">
            <a:spAutoFit/>
          </a:bodyPr>
          <a:lstStyle/>
          <a:p>
            <a:pPr algn="ctr">
              <a:spcAft>
                <a:spcPts val="400"/>
              </a:spcAft>
            </a:pPr>
            <a:r>
              <a:rPr sz="1300" b="1">
                <a:solidFill>
                  <a:srgbClr val="161B26"/>
                </a:solidFill>
                <a:latin typeface="Arial"/>
              </a:rPr>
              <a:t>Sorted HR Inbox and Draft Reply</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transition spd="med">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READABLE NATIVE EXCEL CHARTS</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100" b="1">
                <a:solidFill>
                  <a:srgbClr val="161B26"/>
                </a:solidFill>
                <a:latin typeface="Arial"/>
              </a:rPr>
              <a:t>Inside the Claude-Generated Excel Dashboard</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52760" cy="12344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lab-07-kpis.png"/>
          <p:cNvPicPr>
            <a:picLocks noChangeAspect="1"/>
          </p:cNvPicPr>
          <p:nvPr/>
        </p:nvPicPr>
        <p:blipFill>
          <a:blip r:embed="rId2"/>
          <a:stretch>
            <a:fillRect/>
          </a:stretch>
        </p:blipFill>
        <p:spPr>
          <a:xfrm>
            <a:off x="914400" y="1938528"/>
            <a:ext cx="10378440" cy="987552"/>
          </a:xfrm>
          <a:prstGeom prst="rect">
            <a:avLst/>
          </a:prstGeom>
        </p:spPr>
      </p:pic>
      <p:sp>
        <p:nvSpPr>
          <p:cNvPr id="9" name="Rectangle 8"/>
          <p:cNvSpPr/>
          <p:nvPr/>
        </p:nvSpPr>
        <p:spPr>
          <a:xfrm>
            <a:off x="777240" y="3273552"/>
            <a:ext cx="5198364" cy="25786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3273552"/>
            <a:ext cx="5198364" cy="731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ab-07-revenue-chart.png"/>
          <p:cNvPicPr>
            <a:picLocks noChangeAspect="1"/>
          </p:cNvPicPr>
          <p:nvPr/>
        </p:nvPicPr>
        <p:blipFill>
          <a:blip r:embed="rId3"/>
          <a:stretch>
            <a:fillRect/>
          </a:stretch>
        </p:blipFill>
        <p:spPr>
          <a:xfrm>
            <a:off x="923544" y="3438144"/>
            <a:ext cx="4905756" cy="1664208"/>
          </a:xfrm>
          <a:prstGeom prst="rect">
            <a:avLst/>
          </a:prstGeom>
        </p:spPr>
      </p:pic>
      <p:sp>
        <p:nvSpPr>
          <p:cNvPr id="12" name="TextBox 11"/>
          <p:cNvSpPr txBox="1"/>
          <p:nvPr/>
        </p:nvSpPr>
        <p:spPr>
          <a:xfrm>
            <a:off x="960120" y="5175504"/>
            <a:ext cx="4832604" cy="256032"/>
          </a:xfrm>
          <a:prstGeom prst="rect">
            <a:avLst/>
          </a:prstGeom>
          <a:noFill/>
        </p:spPr>
        <p:txBody>
          <a:bodyPr wrap="square" anchor="t">
            <a:spAutoFit/>
          </a:bodyPr>
          <a:lstStyle/>
          <a:p>
            <a:pPr algn="ctr">
              <a:spcAft>
                <a:spcPts val="400"/>
              </a:spcAft>
            </a:pPr>
            <a:r>
              <a:rPr sz="1200" b="1">
                <a:solidFill>
                  <a:srgbClr val="1F6FEB"/>
                </a:solidFill>
                <a:latin typeface="Arial"/>
              </a:rPr>
              <a:t>Actual vs Plan</a:t>
            </a:r>
          </a:p>
        </p:txBody>
      </p:sp>
      <p:sp>
        <p:nvSpPr>
          <p:cNvPr id="13" name="TextBox 12"/>
          <p:cNvSpPr txBox="1"/>
          <p:nvPr/>
        </p:nvSpPr>
        <p:spPr>
          <a:xfrm>
            <a:off x="960120" y="5449824"/>
            <a:ext cx="4832604" cy="274320"/>
          </a:xfrm>
          <a:prstGeom prst="rect">
            <a:avLst/>
          </a:prstGeom>
          <a:noFill/>
        </p:spPr>
        <p:txBody>
          <a:bodyPr wrap="square" anchor="t">
            <a:spAutoFit/>
          </a:bodyPr>
          <a:lstStyle/>
          <a:p>
            <a:pPr algn="ctr">
              <a:spcAft>
                <a:spcPts val="400"/>
              </a:spcAft>
            </a:pPr>
            <a:r>
              <a:rPr sz="1050" b="0">
                <a:solidFill>
                  <a:srgbClr val="5B6372"/>
                </a:solidFill>
                <a:latin typeface="Arial"/>
              </a:rPr>
              <a:t>Shows whether headcount is on plan and where the gap appears each month.</a:t>
            </a:r>
          </a:p>
        </p:txBody>
      </p:sp>
      <p:sp>
        <p:nvSpPr>
          <p:cNvPr id="14" name="Rectangle 13"/>
          <p:cNvSpPr/>
          <p:nvPr/>
        </p:nvSpPr>
        <p:spPr>
          <a:xfrm>
            <a:off x="6231636" y="3273552"/>
            <a:ext cx="5198364" cy="25786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31636" y="3273552"/>
            <a:ext cx="5198364"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ab-07-contribution-chart.png"/>
          <p:cNvPicPr>
            <a:picLocks noChangeAspect="1"/>
          </p:cNvPicPr>
          <p:nvPr/>
        </p:nvPicPr>
        <p:blipFill>
          <a:blip r:embed="rId4"/>
          <a:stretch>
            <a:fillRect/>
          </a:stretch>
        </p:blipFill>
        <p:spPr>
          <a:xfrm>
            <a:off x="6377940" y="3438144"/>
            <a:ext cx="4905756" cy="1664208"/>
          </a:xfrm>
          <a:prstGeom prst="rect">
            <a:avLst/>
          </a:prstGeom>
        </p:spPr>
      </p:pic>
      <p:sp>
        <p:nvSpPr>
          <p:cNvPr id="17" name="TextBox 16"/>
          <p:cNvSpPr txBox="1"/>
          <p:nvPr/>
        </p:nvSpPr>
        <p:spPr>
          <a:xfrm>
            <a:off x="6414516" y="5175504"/>
            <a:ext cx="4832604" cy="256032"/>
          </a:xfrm>
          <a:prstGeom prst="rect">
            <a:avLst/>
          </a:prstGeom>
          <a:noFill/>
        </p:spPr>
        <p:txBody>
          <a:bodyPr wrap="square" anchor="t">
            <a:spAutoFit/>
          </a:bodyPr>
          <a:lstStyle/>
          <a:p>
            <a:pPr algn="ctr">
              <a:spcAft>
                <a:spcPts val="400"/>
              </a:spcAft>
            </a:pPr>
            <a:r>
              <a:rPr sz="1200" b="1">
                <a:solidFill>
                  <a:srgbClr val="10B981"/>
                </a:solidFill>
                <a:latin typeface="Arial"/>
              </a:rPr>
              <a:t>Staff Cost by Team</a:t>
            </a:r>
          </a:p>
        </p:txBody>
      </p:sp>
      <p:sp>
        <p:nvSpPr>
          <p:cNvPr id="18" name="TextBox 17"/>
          <p:cNvSpPr txBox="1"/>
          <p:nvPr/>
        </p:nvSpPr>
        <p:spPr>
          <a:xfrm>
            <a:off x="6414516" y="5449824"/>
            <a:ext cx="4832604" cy="274320"/>
          </a:xfrm>
          <a:prstGeom prst="rect">
            <a:avLst/>
          </a:prstGeom>
          <a:noFill/>
        </p:spPr>
        <p:txBody>
          <a:bodyPr wrap="square" anchor="t">
            <a:spAutoFit/>
          </a:bodyPr>
          <a:lstStyle/>
          <a:p>
            <a:pPr algn="ctr">
              <a:spcAft>
                <a:spcPts val="400"/>
              </a:spcAft>
            </a:pPr>
            <a:r>
              <a:rPr sz="1050" b="0">
                <a:solidFill>
                  <a:srgbClr val="5B6372"/>
                </a:solidFill>
                <a:latin typeface="Arial"/>
              </a:rPr>
              <a:t>Separates team size from team cost so leadership can act on the right one.</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transition spd="med">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EA580C"/>
                </a:solidFill>
                <a:latin typeface="Arial"/>
              </a:rPr>
              <a:t>TOPIC 01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Getting Claude Ready for HR Work</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Where to use Claude · what it may read · asking for what you want</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transition spd="med">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EA580C"/>
                </a:solidFill>
                <a:latin typeface="Arial"/>
              </a:rPr>
              <a:t>COURSE COVERAGE 24%</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100" b="1">
                <a:solidFill>
                  <a:srgbClr val="161B26"/>
                </a:solidFill>
                <a:latin typeface="Arial"/>
              </a:rPr>
              <a:t>Key Concepts — Getting Claude Ready for HR Work</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Three places to use Claude — inside Word, Excel and PowerPoint; in the Claude Desktop app; and in the browser. Each one sees different things.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The panel inside Office works on the file you already have open, and keeps your headings, formulas and slide layouts.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The Claude Desktop app can read a whole folder at once, so use it when the answer spans several files.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HR files hold information about real people. Decide what Claude may read, and what it must never change, before you start.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Ask Claude to say where each fact came from — which file, which sheet, which line — so you can check it before it reaches a staff member.</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You decide, not Claude. Nothing is sent, published or approved until a named person says yes.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transition spd="med">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100" b="1">
                <a:solidFill>
                  <a:srgbClr val="161B26"/>
                </a:solidFill>
                <a:latin typeface="Arial"/>
              </a:rPr>
              <a:t>Hands-On Labs — Getting Claude Ready for HR Work</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4754880" cy="548640"/>
          </a:xfrm>
          <a:prstGeom prst="rect">
            <a:avLst/>
          </a:prstGeom>
          <a:noFill/>
        </p:spPr>
        <p:txBody>
          <a:bodyPr wrap="square" anchor="t">
            <a:spAutoFit/>
          </a:bodyPr>
          <a:lstStyle/>
          <a:p>
            <a:pPr algn="l">
              <a:spcAft>
                <a:spcPts val="400"/>
              </a:spcAft>
            </a:pPr>
            <a:r>
              <a:rPr sz="1900" b="1">
                <a:solidFill>
                  <a:srgbClr val="1F6FEB"/>
                </a:solidFill>
                <a:latin typeface="Arial"/>
              </a:rPr>
              <a:t>Labs 0–1</a:t>
            </a:r>
          </a:p>
        </p:txBody>
      </p:sp>
      <p:sp>
        <p:nvSpPr>
          <p:cNvPr id="10" name="TextBox 9"/>
          <p:cNvSpPr txBox="1"/>
          <p:nvPr/>
        </p:nvSpPr>
        <p:spPr>
          <a:xfrm>
            <a:off x="1005840" y="2697480"/>
            <a:ext cx="4754880" cy="3108960"/>
          </a:xfrm>
          <a:prstGeom prst="rect">
            <a:avLst/>
          </a:prstGeom>
          <a:noFill/>
        </p:spPr>
        <p:txBody>
          <a:bodyPr wrap="square">
            <a:spAutoFit/>
          </a:bodyPr>
          <a:lstStyle/>
          <a:p>
            <a:pPr>
              <a:spcAft>
                <a:spcPts val="900"/>
              </a:spcAft>
            </a:pPr>
            <a:r>
              <a:rPr sz="1400" b="0">
                <a:solidFill>
                  <a:srgbClr val="161B26"/>
                </a:solidFill>
                <a:latin typeface="Arial"/>
              </a:rPr>
              <a:t>•  Set Up Claude for Microsoft 365 — A completed setup checklist showing which of the four routes are ready, and what to do about any that are not.</a:t>
            </a:r>
          </a:p>
          <a:p>
            <a:pPr>
              <a:spcAft>
                <a:spcPts val="900"/>
              </a:spcAft>
            </a:pPr>
            <a:r>
              <a:rPr sz="1400" b="0">
                <a:solidFill>
                  <a:srgbClr val="161B26"/>
                </a:solidFill>
                <a:latin typeface="Arial"/>
              </a:rPr>
              <a:t>•  Shortlist Candidates with AI Experience — A saved shortlist in your own workbook, a second copy saved from the Desktop app, and one sentence on which way suits work that must stay in one file.</a:t>
            </a:r>
          </a:p>
        </p:txBody>
      </p:sp>
      <p:sp>
        <p:nvSpPr>
          <p:cNvPr id="11" name="Rectangle 10"/>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55080" y="1783080"/>
            <a:ext cx="507492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2011680"/>
            <a:ext cx="4617720" cy="548640"/>
          </a:xfrm>
          <a:prstGeom prst="rect">
            <a:avLst/>
          </a:prstGeom>
          <a:noFill/>
        </p:spPr>
        <p:txBody>
          <a:bodyPr wrap="square" anchor="t">
            <a:spAutoFit/>
          </a:bodyPr>
          <a:lstStyle/>
          <a:p>
            <a:pPr algn="l">
              <a:spcAft>
                <a:spcPts val="400"/>
              </a:spcAft>
            </a:pPr>
            <a:r>
              <a:rPr sz="1900" b="1">
                <a:solidFill>
                  <a:srgbClr val="10B981"/>
                </a:solidFill>
                <a:latin typeface="Arial"/>
              </a:rPr>
              <a:t>Labs 2–3</a:t>
            </a:r>
          </a:p>
        </p:txBody>
      </p:sp>
      <p:sp>
        <p:nvSpPr>
          <p:cNvPr id="14" name="TextBox 13"/>
          <p:cNvSpPr txBox="1"/>
          <p:nvPr/>
        </p:nvSpPr>
        <p:spPr>
          <a:xfrm>
            <a:off x="6583680" y="2697480"/>
            <a:ext cx="4617720" cy="3108960"/>
          </a:xfrm>
          <a:prstGeom prst="rect">
            <a:avLst/>
          </a:prstGeom>
          <a:noFill/>
        </p:spPr>
        <p:txBody>
          <a:bodyPr wrap="square">
            <a:spAutoFit/>
          </a:bodyPr>
          <a:lstStyle/>
          <a:p>
            <a:pPr>
              <a:spcAft>
                <a:spcPts val="900"/>
              </a:spcAft>
            </a:pPr>
            <a:r>
              <a:rPr sz="1400" b="0">
                <a:solidFill>
                  <a:srgbClr val="161B26"/>
                </a:solidFill>
                <a:latin typeface="Arial"/>
              </a:rPr>
              <a:t>•  Analyse Staff Data and Decide What Claude May Read — A summary table and chart built by Claude in your own workbook, plus a completed access table.</a:t>
            </a:r>
          </a:p>
          <a:p>
            <a:pPr>
              <a:spcAft>
                <a:spcPts val="900"/>
              </a:spcAft>
            </a:pPr>
            <a:r>
              <a:rPr sz="1400" b="0">
                <a:solidFill>
                  <a:srgbClr val="161B26"/>
                </a:solidFill>
                <a:latin typeface="Arial"/>
              </a:rPr>
              <a:t>•  Ask Claude Clearly — A new section written into the brief by Claude, a second copy produced by the Desktop app, and a completed request checklist.</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transition spd="med">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Set Up Claude for Microsoft 365</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0</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161B26"/>
                </a:solidFill>
                <a:latin typeface="Arial"/>
              </a:rPr>
              <a:t>Install the Claude add-in in Word, Excel and PowerPoint, sign in to Claude Desktop, connect the Microsoft 365 connector, and add Claude for Chrome. Record what works on your machine before the labs begin.</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completed setup checklist showing which of the four routes are ready, and what to do about any that are not.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Claude for Microsoft 365 add-in, Claude Desktop, Microsoft 365 connector, Claude for Chrome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transition spd="med">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0 · SCREENSHOT</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Where Skills Live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154002" y="1792224"/>
            <a:ext cx="5883691" cy="420624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laude-skills-add-menu.png"/>
          <p:cNvPicPr>
            <a:picLocks noChangeAspect="1"/>
          </p:cNvPicPr>
          <p:nvPr/>
        </p:nvPicPr>
        <p:blipFill>
          <a:blip r:embed="rId2"/>
          <a:stretch>
            <a:fillRect/>
          </a:stretch>
        </p:blipFill>
        <p:spPr>
          <a:xfrm>
            <a:off x="3208866" y="1847088"/>
            <a:ext cx="5773963" cy="4096512"/>
          </a:xfrm>
          <a:prstGeom prst="rect">
            <a:avLst/>
          </a:prstGeom>
        </p:spPr>
      </p:pic>
      <p:sp>
        <p:nvSpPr>
          <p:cNvPr id="9" name="TextBox 8"/>
          <p:cNvSpPr txBox="1"/>
          <p:nvPr/>
        </p:nvSpPr>
        <p:spPr>
          <a:xfrm>
            <a:off x="777240" y="5879592"/>
            <a:ext cx="10607040" cy="493776"/>
          </a:xfrm>
          <a:prstGeom prst="rect">
            <a:avLst/>
          </a:prstGeom>
          <a:noFill/>
        </p:spPr>
        <p:txBody>
          <a:bodyPr wrap="square" anchor="ctr">
            <a:spAutoFit/>
          </a:bodyPr>
          <a:lstStyle/>
          <a:p>
            <a:pPr algn="ctr">
              <a:spcAft>
                <a:spcPts val="400"/>
              </a:spcAft>
            </a:pPr>
            <a:r>
              <a:rPr sz="1050" b="0">
                <a:solidFill>
                  <a:srgbClr val="5B6372"/>
                </a:solidFill>
                <a:latin typeface="Arial"/>
              </a:rPr>
              <a:t>Settings &gt; Skills on claude.ai. Add offers three ways to make one: Create with Claude, Write skill instructions, or Upload a skill.</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transition spd="med">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EA580C"/>
                </a:solidFill>
                <a:latin typeface="Arial"/>
              </a:rPr>
              <a:t>CONCEPT-TO-OUTCOME</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0 — Process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Office add-in</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EA580C"/>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Claude Desktop</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EA580C"/>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Microsoft 365 connector</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EA580C"/>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Claude for Chrome</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EA580C"/>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Record what works</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transition spd="med">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EA580C"/>
                </a:solidFill>
                <a:latin typeface="Arial"/>
              </a:rPr>
              <a:t>KEY DECISIONS &amp; CONTROLS</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0 — Professional Practice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Four ways in</a:t>
            </a:r>
          </a:p>
          <a:p>
            <a:pPr algn="l">
              <a:spcAft>
                <a:spcPts val="300"/>
              </a:spcAft>
            </a:pPr>
            <a:r>
              <a:rPr sz="1200" b="0">
                <a:solidFill>
                  <a:srgbClr val="5B6372"/>
                </a:solidFill>
                <a:latin typeface="Arial"/>
              </a:rPr>
              <a:t>The Office panel, the Desktop app, the Microsoft 365 connector and the Chrome extension each see different things.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Install once</a:t>
            </a:r>
          </a:p>
          <a:p>
            <a:pPr algn="l">
              <a:spcAft>
                <a:spcPts val="300"/>
              </a:spcAft>
            </a:pPr>
            <a:r>
              <a:rPr sz="1200" b="0">
                <a:solidFill>
                  <a:srgbClr val="5B6372"/>
                </a:solidFill>
                <a:latin typeface="Arial"/>
              </a:rPr>
              <a:t>The add-in appears in Word, Excel, PowerPoint and Outlook once it is added.</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The connector needs approval</a:t>
            </a:r>
          </a:p>
          <a:p>
            <a:pPr algn="l">
              <a:spcAft>
                <a:spcPts val="300"/>
              </a:spcAft>
            </a:pPr>
            <a:r>
              <a:rPr sz="1200" b="0">
                <a:solidFill>
                  <a:srgbClr val="5B6372"/>
                </a:solidFill>
                <a:latin typeface="Arial"/>
              </a:rPr>
              <a:t>It reads your Microsoft 365 content, so an administrator must enable it first.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Not available is a valid answer</a:t>
            </a:r>
          </a:p>
          <a:p>
            <a:pPr algn="l">
              <a:spcAft>
                <a:spcPts val="300"/>
              </a:spcAft>
            </a:pPr>
            <a:r>
              <a:rPr sz="1200" b="0">
                <a:solidFill>
                  <a:srgbClr val="5B6372"/>
                </a:solidFill>
                <a:latin typeface="Arial"/>
              </a:rPr>
              <a:t>Record what your account actually allows; the labs tell you the local alternative.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transition spd="med">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0 · VERIFY</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Set Up Claude for Microsoft 365</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98480" cy="19202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084831"/>
            <a:ext cx="10012680" cy="384048"/>
          </a:xfrm>
          <a:prstGeom prst="rect">
            <a:avLst/>
          </a:prstGeom>
          <a:noFill/>
        </p:spPr>
        <p:txBody>
          <a:bodyPr wrap="square" anchor="t">
            <a:spAutoFit/>
          </a:bodyPr>
          <a:lstStyle/>
          <a:p>
            <a:pPr algn="l">
              <a:spcAft>
                <a:spcPts val="400"/>
              </a:spcAft>
            </a:pPr>
            <a:r>
              <a:rPr sz="1500" b="1">
                <a:solidFill>
                  <a:srgbClr val="127A3E"/>
                </a:solidFill>
                <a:latin typeface="Arial"/>
              </a:rPr>
              <a:t>✅  ACCEPTANCE CHECK</a:t>
            </a:r>
          </a:p>
        </p:txBody>
      </p:sp>
      <p:sp>
        <p:nvSpPr>
          <p:cNvPr id="9" name="TextBox 8"/>
          <p:cNvSpPr txBox="1"/>
          <p:nvPr/>
        </p:nvSpPr>
        <p:spPr>
          <a:xfrm>
            <a:off x="1051560" y="2615184"/>
            <a:ext cx="10012680" cy="932688"/>
          </a:xfrm>
          <a:prstGeom prst="rect">
            <a:avLst/>
          </a:prstGeom>
          <a:noFill/>
        </p:spPr>
        <p:txBody>
          <a:bodyPr wrap="square" anchor="ctr">
            <a:spAutoFit/>
          </a:bodyPr>
          <a:lstStyle/>
          <a:p>
            <a:pPr algn="l">
              <a:spcAft>
                <a:spcPts val="400"/>
              </a:spcAft>
            </a:pPr>
            <a:r>
              <a:rPr sz="1600" b="0">
                <a:solidFill>
                  <a:srgbClr val="161B26"/>
                </a:solidFill>
                <a:latin typeface="Arial"/>
              </a:rPr>
              <a:t>Every row of the Setup tab has a result. The Claude panel opens in Word, Excel and PowerPoint. Claude Desktop is signed in. The Microsoft 365 connector is either connected or recorded as Needs IT approval. Claude for Chrome is installed and set to Manually approve, or recorded as unavailable.</a:t>
            </a:r>
          </a:p>
        </p:txBody>
      </p:sp>
      <p:sp>
        <p:nvSpPr>
          <p:cNvPr id="10" name="Rectangle 9"/>
          <p:cNvSpPr/>
          <p:nvPr/>
        </p:nvSpPr>
        <p:spPr>
          <a:xfrm>
            <a:off x="777240"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041648"/>
            <a:ext cx="343204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270248"/>
            <a:ext cx="3066288" cy="310896"/>
          </a:xfrm>
          <a:prstGeom prst="rect">
            <a:avLst/>
          </a:prstGeom>
          <a:noFill/>
        </p:spPr>
        <p:txBody>
          <a:bodyPr wrap="square" anchor="t">
            <a:spAutoFit/>
          </a:bodyPr>
          <a:lstStyle/>
          <a:p>
            <a:pPr algn="ctr">
              <a:spcAft>
                <a:spcPts val="400"/>
              </a:spcAft>
            </a:pPr>
            <a:r>
              <a:rPr sz="1200" b="1">
                <a:solidFill>
                  <a:srgbClr val="1F6FEB"/>
                </a:solidFill>
                <a:latin typeface="Arial"/>
              </a:rPr>
              <a:t>INSPECT</a:t>
            </a:r>
          </a:p>
        </p:txBody>
      </p:sp>
      <p:sp>
        <p:nvSpPr>
          <p:cNvPr id="13" name="TextBox 12"/>
          <p:cNvSpPr txBox="1"/>
          <p:nvPr/>
        </p:nvSpPr>
        <p:spPr>
          <a:xfrm>
            <a:off x="978408"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Open the native artifact and challenge its sources, formulas, structure and versions.</a:t>
            </a:r>
          </a:p>
        </p:txBody>
      </p:sp>
      <p:sp>
        <p:nvSpPr>
          <p:cNvPr id="14" name="Rectangle 13"/>
          <p:cNvSpPr/>
          <p:nvPr/>
        </p:nvSpPr>
        <p:spPr>
          <a:xfrm>
            <a:off x="4410456"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10456" y="4041648"/>
            <a:ext cx="343204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3336" y="4270248"/>
            <a:ext cx="3066288" cy="310896"/>
          </a:xfrm>
          <a:prstGeom prst="rect">
            <a:avLst/>
          </a:prstGeom>
          <a:noFill/>
        </p:spPr>
        <p:txBody>
          <a:bodyPr wrap="square" anchor="t">
            <a:spAutoFit/>
          </a:bodyPr>
          <a:lstStyle/>
          <a:p>
            <a:pPr algn="ctr">
              <a:spcAft>
                <a:spcPts val="400"/>
              </a:spcAft>
            </a:pPr>
            <a:r>
              <a:rPr sz="1200" b="1">
                <a:solidFill>
                  <a:srgbClr val="10B981"/>
                </a:solidFill>
                <a:latin typeface="Arial"/>
              </a:rPr>
              <a:t>RECONCILE</a:t>
            </a:r>
          </a:p>
        </p:txBody>
      </p:sp>
      <p:sp>
        <p:nvSpPr>
          <p:cNvPr id="17" name="TextBox 16"/>
          <p:cNvSpPr txBox="1"/>
          <p:nvPr/>
        </p:nvSpPr>
        <p:spPr>
          <a:xfrm>
            <a:off x="4611624"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Confirm every material figure or claim against the approved evidence location.</a:t>
            </a:r>
          </a:p>
        </p:txBody>
      </p:sp>
      <p:sp>
        <p:nvSpPr>
          <p:cNvPr id="18" name="Rectangle 17"/>
          <p:cNvSpPr/>
          <p:nvPr/>
        </p:nvSpPr>
        <p:spPr>
          <a:xfrm>
            <a:off x="8043672"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3672" y="4041648"/>
            <a:ext cx="343204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6552" y="4270248"/>
            <a:ext cx="3066288" cy="310896"/>
          </a:xfrm>
          <a:prstGeom prst="rect">
            <a:avLst/>
          </a:prstGeom>
          <a:noFill/>
        </p:spPr>
        <p:txBody>
          <a:bodyPr wrap="square" anchor="t">
            <a:spAutoFit/>
          </a:bodyPr>
          <a:lstStyle/>
          <a:p>
            <a:pPr algn="ctr">
              <a:spcAft>
                <a:spcPts val="400"/>
              </a:spcAft>
            </a:pPr>
            <a:r>
              <a:rPr sz="1200" b="1">
                <a:solidFill>
                  <a:srgbClr val="7C3AED"/>
                </a:solidFill>
                <a:latin typeface="Arial"/>
              </a:rPr>
              <a:t>ENDORSE</a:t>
            </a:r>
          </a:p>
        </p:txBody>
      </p:sp>
      <p:sp>
        <p:nvSpPr>
          <p:cNvPr id="21" name="TextBox 20"/>
          <p:cNvSpPr txBox="1"/>
          <p:nvPr/>
        </p:nvSpPr>
        <p:spPr>
          <a:xfrm>
            <a:off x="8244840"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Record the named reviewer before accepting, saving, releasing or sending the work.</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transition spd="med">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Shortlist Candidates with AI Experience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161B26"/>
                </a:solidFill>
                <a:latin typeface="Arial"/>
              </a:rPr>
              <a:t>Twenty-four people applied for HR roles. Claude fills in the shortlist directly in your Excel sheet, you check its decisions, then you run the same request in the Claude Desktop app and see that it hands you a downloaded copy instead of editing your file.</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saved shortlist in your own workbook, a second copy saved from the Desktop app, and one sentence on which way suits work that must stay in one file.</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Claude for Word, Claude Skills, natural-language skill creation</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transition spd="med">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EA580C"/>
                </a:solidFill>
                <a:latin typeface="Arial"/>
              </a:rPr>
              <a:t>CONCEPT-TO-OUTCOME</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1 — Process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Ask for it your way</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EA580C"/>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Correct until right</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EA580C"/>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Save it in one sentence</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EA580C"/>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Check it is listed</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EA580C"/>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Stop repeating yourself</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transition spd="med">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EA580C"/>
                </a:solidFill>
                <a:latin typeface="Arial"/>
              </a:rPr>
              <a:t>TRAINER AND LEARNER ROLES</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1 — What You Teach</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Spell it out once</a:t>
            </a:r>
          </a:p>
          <a:p>
            <a:pPr algn="l">
              <a:spcAft>
                <a:spcPts val="300"/>
              </a:spcAft>
            </a:pPr>
            <a:r>
              <a:rPr sz="1200" b="0">
                <a:solidFill>
                  <a:srgbClr val="5B6372"/>
                </a:solidFill>
                <a:latin typeface="Arial"/>
              </a:rPr>
              <a:t>The first time, say exactly how you want the work done.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Every correction is a rule</a:t>
            </a:r>
          </a:p>
          <a:p>
            <a:pPr algn="l">
              <a:spcAft>
                <a:spcPts val="300"/>
              </a:spcAft>
            </a:pPr>
            <a:r>
              <a:rPr sz="1200" b="0">
                <a:solidFill>
                  <a:srgbClr val="5B6372"/>
                </a:solidFill>
                <a:latin typeface="Arial"/>
              </a:rPr>
              <a:t>What you fix now, you never have to say again.</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Saving is a sentence</a:t>
            </a:r>
          </a:p>
          <a:p>
            <a:pPr algn="l">
              <a:spcAft>
                <a:spcPts val="300"/>
              </a:spcAft>
            </a:pPr>
            <a:r>
              <a:rPr sz="1200" b="0">
                <a:solidFill>
                  <a:srgbClr val="5B6372"/>
                </a:solidFill>
                <a:latin typeface="Arial"/>
              </a:rPr>
              <a:t>'Save that as a skill called hr-draft.' No menu, no form.</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Policy needs care</a:t>
            </a:r>
          </a:p>
          <a:p>
            <a:pPr algn="l">
              <a:spcAft>
                <a:spcPts val="300"/>
              </a:spcAft>
            </a:pPr>
            <a:r>
              <a:rPr sz="1200" b="0">
                <a:solidFill>
                  <a:srgbClr val="5B6372"/>
                </a:solidFill>
                <a:latin typeface="Arial"/>
              </a:rPr>
              <a:t>Never let Claude state a legal conclusion on your behalf.</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transition spd="med">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 · VERIFY</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Shortlist Candidates with AI Experience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98480" cy="19202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084831"/>
            <a:ext cx="10012680" cy="384048"/>
          </a:xfrm>
          <a:prstGeom prst="rect">
            <a:avLst/>
          </a:prstGeom>
          <a:noFill/>
        </p:spPr>
        <p:txBody>
          <a:bodyPr wrap="square" anchor="t">
            <a:spAutoFit/>
          </a:bodyPr>
          <a:lstStyle/>
          <a:p>
            <a:pPr algn="l">
              <a:spcAft>
                <a:spcPts val="400"/>
              </a:spcAft>
            </a:pPr>
            <a:r>
              <a:rPr sz="1500" b="1">
                <a:solidFill>
                  <a:srgbClr val="127A3E"/>
                </a:solidFill>
                <a:latin typeface="Arial"/>
              </a:rPr>
              <a:t>✅  ACCEPTANCE CHECK</a:t>
            </a:r>
          </a:p>
        </p:txBody>
      </p:sp>
      <p:sp>
        <p:nvSpPr>
          <p:cNvPr id="9" name="TextBox 8"/>
          <p:cNvSpPr txBox="1"/>
          <p:nvPr/>
        </p:nvSpPr>
        <p:spPr>
          <a:xfrm>
            <a:off x="1051560" y="2615184"/>
            <a:ext cx="10012680" cy="932688"/>
          </a:xfrm>
          <a:prstGeom prst="rect">
            <a:avLst/>
          </a:prstGeom>
          <a:noFill/>
        </p:spPr>
        <p:txBody>
          <a:bodyPr wrap="square" anchor="ctr">
            <a:spAutoFit/>
          </a:bodyPr>
          <a:lstStyle/>
          <a:p>
            <a:pPr algn="l">
              <a:spcAft>
                <a:spcPts val="400"/>
              </a:spcAft>
            </a:pPr>
            <a:r>
              <a:rPr sz="1600" b="0">
                <a:solidFill>
                  <a:srgbClr val="161B26"/>
                </a:solidFill>
                <a:latin typeface="Arial"/>
              </a:rPr>
              <a:t>All 24 rows have Yes or No with a quoted reason and the file is saved, rows C-011 and C-013 are marked No, a second file named Lumina-Living-Lab-01-Candidates-Desktop.xlsx exists in the folder, and you have written which of the two ways keeps the shortlist in one agreed file.</a:t>
            </a:r>
          </a:p>
        </p:txBody>
      </p:sp>
      <p:sp>
        <p:nvSpPr>
          <p:cNvPr id="10" name="Rectangle 9"/>
          <p:cNvSpPr/>
          <p:nvPr/>
        </p:nvSpPr>
        <p:spPr>
          <a:xfrm>
            <a:off x="777240"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041648"/>
            <a:ext cx="343204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270248"/>
            <a:ext cx="3066288" cy="310896"/>
          </a:xfrm>
          <a:prstGeom prst="rect">
            <a:avLst/>
          </a:prstGeom>
          <a:noFill/>
        </p:spPr>
        <p:txBody>
          <a:bodyPr wrap="square" anchor="t">
            <a:spAutoFit/>
          </a:bodyPr>
          <a:lstStyle/>
          <a:p>
            <a:pPr algn="ctr">
              <a:spcAft>
                <a:spcPts val="400"/>
              </a:spcAft>
            </a:pPr>
            <a:r>
              <a:rPr sz="1200" b="1">
                <a:solidFill>
                  <a:srgbClr val="1F6FEB"/>
                </a:solidFill>
                <a:latin typeface="Arial"/>
              </a:rPr>
              <a:t>INSPECT</a:t>
            </a:r>
          </a:p>
        </p:txBody>
      </p:sp>
      <p:sp>
        <p:nvSpPr>
          <p:cNvPr id="13" name="TextBox 12"/>
          <p:cNvSpPr txBox="1"/>
          <p:nvPr/>
        </p:nvSpPr>
        <p:spPr>
          <a:xfrm>
            <a:off x="978408"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Open the native artifact and challenge its sources, formulas, structure and versions.</a:t>
            </a:r>
          </a:p>
        </p:txBody>
      </p:sp>
      <p:sp>
        <p:nvSpPr>
          <p:cNvPr id="14" name="Rectangle 13"/>
          <p:cNvSpPr/>
          <p:nvPr/>
        </p:nvSpPr>
        <p:spPr>
          <a:xfrm>
            <a:off x="4410456"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10456" y="4041648"/>
            <a:ext cx="343204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3336" y="4270248"/>
            <a:ext cx="3066288" cy="310896"/>
          </a:xfrm>
          <a:prstGeom prst="rect">
            <a:avLst/>
          </a:prstGeom>
          <a:noFill/>
        </p:spPr>
        <p:txBody>
          <a:bodyPr wrap="square" anchor="t">
            <a:spAutoFit/>
          </a:bodyPr>
          <a:lstStyle/>
          <a:p>
            <a:pPr algn="ctr">
              <a:spcAft>
                <a:spcPts val="400"/>
              </a:spcAft>
            </a:pPr>
            <a:r>
              <a:rPr sz="1200" b="1">
                <a:solidFill>
                  <a:srgbClr val="10B981"/>
                </a:solidFill>
                <a:latin typeface="Arial"/>
              </a:rPr>
              <a:t>RECONCILE</a:t>
            </a:r>
          </a:p>
        </p:txBody>
      </p:sp>
      <p:sp>
        <p:nvSpPr>
          <p:cNvPr id="17" name="TextBox 16"/>
          <p:cNvSpPr txBox="1"/>
          <p:nvPr/>
        </p:nvSpPr>
        <p:spPr>
          <a:xfrm>
            <a:off x="4611624"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Confirm every material figure or claim against the approved evidence location.</a:t>
            </a:r>
          </a:p>
        </p:txBody>
      </p:sp>
      <p:sp>
        <p:nvSpPr>
          <p:cNvPr id="18" name="Rectangle 17"/>
          <p:cNvSpPr/>
          <p:nvPr/>
        </p:nvSpPr>
        <p:spPr>
          <a:xfrm>
            <a:off x="8043672"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3672" y="4041648"/>
            <a:ext cx="343204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6552" y="4270248"/>
            <a:ext cx="3066288" cy="310896"/>
          </a:xfrm>
          <a:prstGeom prst="rect">
            <a:avLst/>
          </a:prstGeom>
          <a:noFill/>
        </p:spPr>
        <p:txBody>
          <a:bodyPr wrap="square" anchor="t">
            <a:spAutoFit/>
          </a:bodyPr>
          <a:lstStyle/>
          <a:p>
            <a:pPr algn="ctr">
              <a:spcAft>
                <a:spcPts val="400"/>
              </a:spcAft>
            </a:pPr>
            <a:r>
              <a:rPr sz="1200" b="1">
                <a:solidFill>
                  <a:srgbClr val="7C3AED"/>
                </a:solidFill>
                <a:latin typeface="Arial"/>
              </a:rPr>
              <a:t>ENDORSE</a:t>
            </a:r>
          </a:p>
        </p:txBody>
      </p:sp>
      <p:sp>
        <p:nvSpPr>
          <p:cNvPr id="21" name="TextBox 20"/>
          <p:cNvSpPr txBox="1"/>
          <p:nvPr/>
        </p:nvSpPr>
        <p:spPr>
          <a:xfrm>
            <a:off x="8244840"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Record the named reviewer before accepting, saving, releasing or sending the work.</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transition spd="med">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100" b="1">
                <a:solidFill>
                  <a:srgbClr val="161B26"/>
                </a:solidFill>
                <a:latin typeface="Arial"/>
              </a:rPr>
              <a:t>Analyse Staff Data and Decide What Claude May Read</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Claude summarises the staff list by team, builds a chart, and you check its formulas. Then you decide what access Claude actually needed, having just seen what read-only access can do.</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summary table and chart built by Claude in your own workbook, plus a completed access table.</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Claude for Word, Claude Skills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transition spd="med">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EA580C"/>
                </a:solidFill>
                <a:latin typeface="Arial"/>
              </a:rPr>
              <a:t>CONCEPT-TO-OUTCOME</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2 — Process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New section</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EA580C"/>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One short line</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EA580C"/>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Same standard applied</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EA580C"/>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Check it held</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EA580C"/>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Repeat at will</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p:transition spd="med">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EA580C"/>
                </a:solidFill>
                <a:latin typeface="Arial"/>
              </a:rPr>
              <a:t>KEY DECISIONS &amp; CONTROLS</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2 — Professional Practice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One line is enough</a:t>
            </a:r>
          </a:p>
          <a:p>
            <a:pPr algn="l">
              <a:spcAft>
                <a:spcPts val="300"/>
              </a:spcAft>
            </a:pPr>
            <a:r>
              <a:rPr sz="1200" b="0">
                <a:solidFill>
                  <a:srgbClr val="5B6372"/>
                </a:solidFill>
                <a:latin typeface="Arial"/>
              </a:rPr>
              <a:t>The rules live in the skill, not in what you type.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The standard holds</a:t>
            </a:r>
          </a:p>
          <a:p>
            <a:pPr algn="l">
              <a:spcAft>
                <a:spcPts val="300"/>
              </a:spcAft>
            </a:pPr>
            <a:r>
              <a:rPr sz="1200" b="0">
                <a:solidFill>
                  <a:srgbClr val="5B6372"/>
                </a:solidFill>
                <a:latin typeface="Arial"/>
              </a:rPr>
              <a:t>Quality stops depending on remembering.</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You still own it</a:t>
            </a:r>
          </a:p>
          <a:p>
            <a:pPr algn="l">
              <a:spcAft>
                <a:spcPts val="300"/>
              </a:spcAft>
            </a:pPr>
            <a:r>
              <a:rPr sz="1200" b="0">
                <a:solidFill>
                  <a:srgbClr val="5B6372"/>
                </a:solidFill>
                <a:latin typeface="Arial"/>
              </a:rPr>
              <a:t>A skill drafts; you check and you approve.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Compare the results</a:t>
            </a:r>
          </a:p>
          <a:p>
            <a:pPr algn="l">
              <a:spcAft>
                <a:spcPts val="300"/>
              </a:spcAft>
            </a:pPr>
            <a:r>
              <a:rPr sz="1200" b="0">
                <a:solidFill>
                  <a:srgbClr val="5B6372"/>
                </a:solidFill>
                <a:latin typeface="Arial"/>
              </a:rPr>
              <a:t>Three sections, one standard, no repetition.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transition spd="med">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2 · VERIFY</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100" b="1">
                <a:solidFill>
                  <a:srgbClr val="161B26"/>
                </a:solidFill>
                <a:latin typeface="Arial"/>
              </a:rPr>
              <a:t>Analyse Staff Data and Decide What Claude May Read</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98480" cy="19202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084831"/>
            <a:ext cx="10012680" cy="384048"/>
          </a:xfrm>
          <a:prstGeom prst="rect">
            <a:avLst/>
          </a:prstGeom>
          <a:noFill/>
        </p:spPr>
        <p:txBody>
          <a:bodyPr wrap="square" anchor="t">
            <a:spAutoFit/>
          </a:bodyPr>
          <a:lstStyle/>
          <a:p>
            <a:pPr algn="l">
              <a:spcAft>
                <a:spcPts val="400"/>
              </a:spcAft>
            </a:pPr>
            <a:r>
              <a:rPr sz="1500" b="1">
                <a:solidFill>
                  <a:srgbClr val="127A3E"/>
                </a:solidFill>
                <a:latin typeface="Arial"/>
              </a:rPr>
              <a:t>✅  ACCEPTANCE CHECK</a:t>
            </a:r>
          </a:p>
        </p:txBody>
      </p:sp>
      <p:sp>
        <p:nvSpPr>
          <p:cNvPr id="9" name="TextBox 8"/>
          <p:cNvSpPr txBox="1"/>
          <p:nvPr/>
        </p:nvSpPr>
        <p:spPr>
          <a:xfrm>
            <a:off x="1051560" y="2615184"/>
            <a:ext cx="10012680" cy="932688"/>
          </a:xfrm>
          <a:prstGeom prst="rect">
            <a:avLst/>
          </a:prstGeom>
          <a:noFill/>
        </p:spPr>
        <p:txBody>
          <a:bodyPr wrap="square" anchor="ctr">
            <a:spAutoFit/>
          </a:bodyPr>
          <a:lstStyle/>
          <a:p>
            <a:pPr algn="l">
              <a:spcAft>
                <a:spcPts val="400"/>
              </a:spcAft>
            </a:pPr>
            <a:r>
              <a:rPr sz="1600" b="0">
                <a:solidFill>
                  <a:srgbClr val="161B26"/>
                </a:solidFill>
                <a:latin typeface="Arial"/>
              </a:rPr>
              <a:t>The summary table uses formulas that point at the staff rows, the chart shows leaver rate by team, the file is saved, and all four places have a read-or-change decision with an owner.</a:t>
            </a:r>
          </a:p>
        </p:txBody>
      </p:sp>
      <p:sp>
        <p:nvSpPr>
          <p:cNvPr id="10" name="Rectangle 9"/>
          <p:cNvSpPr/>
          <p:nvPr/>
        </p:nvSpPr>
        <p:spPr>
          <a:xfrm>
            <a:off x="777240"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041648"/>
            <a:ext cx="343204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270248"/>
            <a:ext cx="3066288" cy="310896"/>
          </a:xfrm>
          <a:prstGeom prst="rect">
            <a:avLst/>
          </a:prstGeom>
          <a:noFill/>
        </p:spPr>
        <p:txBody>
          <a:bodyPr wrap="square" anchor="t">
            <a:spAutoFit/>
          </a:bodyPr>
          <a:lstStyle/>
          <a:p>
            <a:pPr algn="ctr">
              <a:spcAft>
                <a:spcPts val="400"/>
              </a:spcAft>
            </a:pPr>
            <a:r>
              <a:rPr sz="1200" b="1">
                <a:solidFill>
                  <a:srgbClr val="1F6FEB"/>
                </a:solidFill>
                <a:latin typeface="Arial"/>
              </a:rPr>
              <a:t>INSPECT</a:t>
            </a:r>
          </a:p>
        </p:txBody>
      </p:sp>
      <p:sp>
        <p:nvSpPr>
          <p:cNvPr id="13" name="TextBox 12"/>
          <p:cNvSpPr txBox="1"/>
          <p:nvPr/>
        </p:nvSpPr>
        <p:spPr>
          <a:xfrm>
            <a:off x="978408"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Open the native artifact and challenge its sources, formulas, structure and versions.</a:t>
            </a:r>
          </a:p>
        </p:txBody>
      </p:sp>
      <p:sp>
        <p:nvSpPr>
          <p:cNvPr id="14" name="Rectangle 13"/>
          <p:cNvSpPr/>
          <p:nvPr/>
        </p:nvSpPr>
        <p:spPr>
          <a:xfrm>
            <a:off x="4410456"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10456" y="4041648"/>
            <a:ext cx="343204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3336" y="4270248"/>
            <a:ext cx="3066288" cy="310896"/>
          </a:xfrm>
          <a:prstGeom prst="rect">
            <a:avLst/>
          </a:prstGeom>
          <a:noFill/>
        </p:spPr>
        <p:txBody>
          <a:bodyPr wrap="square" anchor="t">
            <a:spAutoFit/>
          </a:bodyPr>
          <a:lstStyle/>
          <a:p>
            <a:pPr algn="ctr">
              <a:spcAft>
                <a:spcPts val="400"/>
              </a:spcAft>
            </a:pPr>
            <a:r>
              <a:rPr sz="1200" b="1">
                <a:solidFill>
                  <a:srgbClr val="10B981"/>
                </a:solidFill>
                <a:latin typeface="Arial"/>
              </a:rPr>
              <a:t>RECONCILE</a:t>
            </a:r>
          </a:p>
        </p:txBody>
      </p:sp>
      <p:sp>
        <p:nvSpPr>
          <p:cNvPr id="17" name="TextBox 16"/>
          <p:cNvSpPr txBox="1"/>
          <p:nvPr/>
        </p:nvSpPr>
        <p:spPr>
          <a:xfrm>
            <a:off x="4611624"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Confirm every material figure or claim against the approved evidence location.</a:t>
            </a:r>
          </a:p>
        </p:txBody>
      </p:sp>
      <p:sp>
        <p:nvSpPr>
          <p:cNvPr id="18" name="Rectangle 17"/>
          <p:cNvSpPr/>
          <p:nvPr/>
        </p:nvSpPr>
        <p:spPr>
          <a:xfrm>
            <a:off x="8043672"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3672" y="4041648"/>
            <a:ext cx="343204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6552" y="4270248"/>
            <a:ext cx="3066288" cy="310896"/>
          </a:xfrm>
          <a:prstGeom prst="rect">
            <a:avLst/>
          </a:prstGeom>
          <a:noFill/>
        </p:spPr>
        <p:txBody>
          <a:bodyPr wrap="square" anchor="t">
            <a:spAutoFit/>
          </a:bodyPr>
          <a:lstStyle/>
          <a:p>
            <a:pPr algn="ctr">
              <a:spcAft>
                <a:spcPts val="400"/>
              </a:spcAft>
            </a:pPr>
            <a:r>
              <a:rPr sz="1200" b="1">
                <a:solidFill>
                  <a:srgbClr val="7C3AED"/>
                </a:solidFill>
                <a:latin typeface="Arial"/>
              </a:rPr>
              <a:t>ENDORSE</a:t>
            </a:r>
          </a:p>
        </p:txBody>
      </p:sp>
      <p:sp>
        <p:nvSpPr>
          <p:cNvPr id="21" name="TextBox 20"/>
          <p:cNvSpPr txBox="1"/>
          <p:nvPr/>
        </p:nvSpPr>
        <p:spPr>
          <a:xfrm>
            <a:off x="8244840"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Record the named reviewer before accepting, saving, releasing or sending the work.</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p:transition spd="med">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Ask Claude Clearly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Run a vague request and a clear one against the same HR brief, and see the difference for yourself.</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new section written into the brief by Claude, a second copy produced by the Desktop app, and a completed request checklist.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Claude for Excel, Claude Skills, natural-language skill creation</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transition spd="med">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EA580C"/>
                </a:solidFill>
                <a:latin typeface="Arial"/>
              </a:rPr>
              <a:t>CONCEPT-TO-OUTCOME</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3 — Process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Ask for it your way</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EA580C"/>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Correct until right</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EA580C"/>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Save it in one sentence</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EA580C"/>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Check it is listed</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EA580C"/>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Ready to reuse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transition spd="med">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EA580C"/>
                </a:solidFill>
                <a:latin typeface="Arial"/>
              </a:rPr>
              <a:t>KEY DECISIONS &amp; CONTROLS</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3 — Professional Practice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Spell it out once</a:t>
            </a:r>
          </a:p>
          <a:p>
            <a:pPr algn="l">
              <a:spcAft>
                <a:spcPts val="300"/>
              </a:spcAft>
            </a:pPr>
            <a:r>
              <a:rPr sz="1200" b="0">
                <a:solidFill>
                  <a:srgbClr val="5B6372"/>
                </a:solidFill>
                <a:latin typeface="Arial"/>
              </a:rPr>
              <a:t>The first time, say exactly how the numbers should be worked out.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Formulas, never typed-in numbers</a:t>
            </a:r>
          </a:p>
          <a:p>
            <a:pPr algn="l">
              <a:spcAft>
                <a:spcPts val="300"/>
              </a:spcAft>
            </a:pPr>
            <a:r>
              <a:rPr sz="1200" b="0">
                <a:solidFill>
                  <a:srgbClr val="5B6372"/>
                </a:solidFill>
                <a:latin typeface="Arial"/>
              </a:rPr>
              <a:t>The rule that keeps the analysis checkable.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Saving is a sentence</a:t>
            </a:r>
          </a:p>
          <a:p>
            <a:pPr algn="l">
              <a:spcAft>
                <a:spcPts val="300"/>
              </a:spcAft>
            </a:pPr>
            <a:r>
              <a:rPr sz="1200" b="0">
                <a:solidFill>
                  <a:srgbClr val="5B6372"/>
                </a:solidFill>
                <a:latin typeface="Arial"/>
              </a:rPr>
              <a:t>'Save that as a skill called staff-numbers.'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Works beyond this file</a:t>
            </a:r>
          </a:p>
          <a:p>
            <a:pPr algn="l">
              <a:spcAft>
                <a:spcPts val="300"/>
              </a:spcAft>
            </a:pPr>
            <a:r>
              <a:rPr sz="1200" b="0">
                <a:solidFill>
                  <a:srgbClr val="5B6372"/>
                </a:solidFill>
                <a:latin typeface="Arial"/>
              </a:rPr>
              <a:t>Say so when you save, and the skill can read other workbooks too.</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transition spd="med">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3 · VERIFY</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Ask Claude Clearly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98480" cy="19202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084831"/>
            <a:ext cx="10012680" cy="384048"/>
          </a:xfrm>
          <a:prstGeom prst="rect">
            <a:avLst/>
          </a:prstGeom>
          <a:noFill/>
        </p:spPr>
        <p:txBody>
          <a:bodyPr wrap="square" anchor="t">
            <a:spAutoFit/>
          </a:bodyPr>
          <a:lstStyle/>
          <a:p>
            <a:pPr algn="l">
              <a:spcAft>
                <a:spcPts val="400"/>
              </a:spcAft>
            </a:pPr>
            <a:r>
              <a:rPr sz="1500" b="1">
                <a:solidFill>
                  <a:srgbClr val="127A3E"/>
                </a:solidFill>
                <a:latin typeface="Arial"/>
              </a:rPr>
              <a:t>✅  ACCEPTANCE CHECK</a:t>
            </a:r>
          </a:p>
        </p:txBody>
      </p:sp>
      <p:sp>
        <p:nvSpPr>
          <p:cNvPr id="9" name="TextBox 8"/>
          <p:cNvSpPr txBox="1"/>
          <p:nvPr/>
        </p:nvSpPr>
        <p:spPr>
          <a:xfrm>
            <a:off x="1051560" y="2615184"/>
            <a:ext cx="10012680" cy="932688"/>
          </a:xfrm>
          <a:prstGeom prst="rect">
            <a:avLst/>
          </a:prstGeom>
          <a:noFill/>
        </p:spPr>
        <p:txBody>
          <a:bodyPr wrap="square" anchor="ctr">
            <a:spAutoFit/>
          </a:bodyPr>
          <a:lstStyle/>
          <a:p>
            <a:pPr algn="l">
              <a:spcAft>
                <a:spcPts val="400"/>
              </a:spcAft>
            </a:pPr>
            <a:r>
              <a:rPr sz="1600" b="0">
                <a:solidFill>
                  <a:srgbClr val="161B26"/>
                </a:solidFill>
                <a:latin typeface="Arial"/>
              </a:rPr>
              <a:t>The new section sits after '3. Required management outputs' with every fact naming its heading, the file is saved, a second file named Lumina-Living-Lab-03-HR-Brief-Desktop.docx exists, and the checklist says which document you would send on and why.</a:t>
            </a:r>
          </a:p>
        </p:txBody>
      </p:sp>
      <p:sp>
        <p:nvSpPr>
          <p:cNvPr id="10" name="Rectangle 9"/>
          <p:cNvSpPr/>
          <p:nvPr/>
        </p:nvSpPr>
        <p:spPr>
          <a:xfrm>
            <a:off x="777240"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041648"/>
            <a:ext cx="343204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270248"/>
            <a:ext cx="3066288" cy="310896"/>
          </a:xfrm>
          <a:prstGeom prst="rect">
            <a:avLst/>
          </a:prstGeom>
          <a:noFill/>
        </p:spPr>
        <p:txBody>
          <a:bodyPr wrap="square" anchor="t">
            <a:spAutoFit/>
          </a:bodyPr>
          <a:lstStyle/>
          <a:p>
            <a:pPr algn="ctr">
              <a:spcAft>
                <a:spcPts val="400"/>
              </a:spcAft>
            </a:pPr>
            <a:r>
              <a:rPr sz="1200" b="1">
                <a:solidFill>
                  <a:srgbClr val="1F6FEB"/>
                </a:solidFill>
                <a:latin typeface="Arial"/>
              </a:rPr>
              <a:t>INSPECT</a:t>
            </a:r>
          </a:p>
        </p:txBody>
      </p:sp>
      <p:sp>
        <p:nvSpPr>
          <p:cNvPr id="13" name="TextBox 12"/>
          <p:cNvSpPr txBox="1"/>
          <p:nvPr/>
        </p:nvSpPr>
        <p:spPr>
          <a:xfrm>
            <a:off x="978408"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Open the native artifact and challenge its sources, formulas, structure and versions.</a:t>
            </a:r>
          </a:p>
        </p:txBody>
      </p:sp>
      <p:sp>
        <p:nvSpPr>
          <p:cNvPr id="14" name="Rectangle 13"/>
          <p:cNvSpPr/>
          <p:nvPr/>
        </p:nvSpPr>
        <p:spPr>
          <a:xfrm>
            <a:off x="4410456"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10456" y="4041648"/>
            <a:ext cx="343204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3336" y="4270248"/>
            <a:ext cx="3066288" cy="310896"/>
          </a:xfrm>
          <a:prstGeom prst="rect">
            <a:avLst/>
          </a:prstGeom>
          <a:noFill/>
        </p:spPr>
        <p:txBody>
          <a:bodyPr wrap="square" anchor="t">
            <a:spAutoFit/>
          </a:bodyPr>
          <a:lstStyle/>
          <a:p>
            <a:pPr algn="ctr">
              <a:spcAft>
                <a:spcPts val="400"/>
              </a:spcAft>
            </a:pPr>
            <a:r>
              <a:rPr sz="1200" b="1">
                <a:solidFill>
                  <a:srgbClr val="10B981"/>
                </a:solidFill>
                <a:latin typeface="Arial"/>
              </a:rPr>
              <a:t>RECONCILE</a:t>
            </a:r>
          </a:p>
        </p:txBody>
      </p:sp>
      <p:sp>
        <p:nvSpPr>
          <p:cNvPr id="17" name="TextBox 16"/>
          <p:cNvSpPr txBox="1"/>
          <p:nvPr/>
        </p:nvSpPr>
        <p:spPr>
          <a:xfrm>
            <a:off x="4611624"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Confirm every material figure or claim against the approved evidence location.</a:t>
            </a:r>
          </a:p>
        </p:txBody>
      </p:sp>
      <p:sp>
        <p:nvSpPr>
          <p:cNvPr id="18" name="Rectangle 17"/>
          <p:cNvSpPr/>
          <p:nvPr/>
        </p:nvSpPr>
        <p:spPr>
          <a:xfrm>
            <a:off x="8043672"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3672" y="4041648"/>
            <a:ext cx="343204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6552" y="4270248"/>
            <a:ext cx="3066288" cy="310896"/>
          </a:xfrm>
          <a:prstGeom prst="rect">
            <a:avLst/>
          </a:prstGeom>
          <a:noFill/>
        </p:spPr>
        <p:txBody>
          <a:bodyPr wrap="square" anchor="t">
            <a:spAutoFit/>
          </a:bodyPr>
          <a:lstStyle/>
          <a:p>
            <a:pPr algn="ctr">
              <a:spcAft>
                <a:spcPts val="400"/>
              </a:spcAft>
            </a:pPr>
            <a:r>
              <a:rPr sz="1200" b="1">
                <a:solidFill>
                  <a:srgbClr val="7C3AED"/>
                </a:solidFill>
                <a:latin typeface="Arial"/>
              </a:rPr>
              <a:t>ENDORSE</a:t>
            </a:r>
          </a:p>
        </p:txBody>
      </p:sp>
      <p:sp>
        <p:nvSpPr>
          <p:cNvPr id="21" name="TextBox 20"/>
          <p:cNvSpPr txBox="1"/>
          <p:nvPr/>
        </p:nvSpPr>
        <p:spPr>
          <a:xfrm>
            <a:off x="8244840"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Record the named reviewer before accepting, saving, releasing or sending the work.</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transition spd="med">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Recap — Getting Claude Ready for HR Work</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Capability — Install and check every way you will use Claude on this course, and record what your own account allows.</a:t>
            </a:r>
          </a:p>
        </p:txBody>
      </p:sp>
      <p:sp>
        <p:nvSpPr>
          <p:cNvPr id="12" name="Rectangle 11"/>
          <p:cNvSpPr/>
          <p:nvPr/>
        </p:nvSpPr>
        <p:spPr>
          <a:xfrm>
            <a:off x="6176772" y="1828800"/>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Evidence retained — A completed setup checklist showing which of the four routes are ready, and what to do about any that are not.</a:t>
            </a:r>
          </a:p>
        </p:txBody>
      </p:sp>
      <p:sp>
        <p:nvSpPr>
          <p:cNvPr id="17" name="Rectangle 16"/>
          <p:cNvSpPr/>
          <p:nvPr/>
        </p:nvSpPr>
        <p:spPr>
          <a:xfrm>
            <a:off x="777240" y="3316224"/>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Capability — Use Claude to shortlist job applicants, and see the difference between the Excel panel and the Claude Desktop app.</a:t>
            </a:r>
          </a:p>
        </p:txBody>
      </p:sp>
      <p:sp>
        <p:nvSpPr>
          <p:cNvPr id="22" name="Rectangle 21"/>
          <p:cNvSpPr/>
          <p:nvPr/>
        </p:nvSpPr>
        <p:spPr>
          <a:xfrm>
            <a:off x="6176772" y="3316224"/>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Evidence retained — A saved shortlist in your own workbook, a second copy saved from the Desktop app, and one sentence on which way suits work that must stay in one file.</a:t>
            </a:r>
          </a:p>
        </p:txBody>
      </p:sp>
      <p:sp>
        <p:nvSpPr>
          <p:cNvPr id="27" name="Rectangle 26"/>
          <p:cNvSpPr/>
          <p:nvPr/>
        </p:nvSpPr>
        <p:spPr>
          <a:xfrm>
            <a:off x="777240" y="4803648"/>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Capability — Use Claude to summarise and chart real staff data, then decide what access it needed to do that.</a:t>
            </a:r>
          </a:p>
        </p:txBody>
      </p:sp>
      <p:sp>
        <p:nvSpPr>
          <p:cNvPr id="32" name="Rectangle 31"/>
          <p:cNvSpPr/>
          <p:nvPr/>
        </p:nvSpPr>
        <p:spPr>
          <a:xfrm>
            <a:off x="6176772" y="4803648"/>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6772" y="4803648"/>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359652" y="5291328"/>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9652" y="5309616"/>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6</a:t>
            </a:r>
          </a:p>
        </p:txBody>
      </p:sp>
      <p:sp>
        <p:nvSpPr>
          <p:cNvPr id="36" name="TextBox 35"/>
          <p:cNvSpPr txBox="1"/>
          <p:nvPr/>
        </p:nvSpPr>
        <p:spPr>
          <a:xfrm>
            <a:off x="6853428" y="4876800"/>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Evidence retained — A summary table and chart built by Claude in your own workbook, plus a completed access table.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transition spd="med">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DC2626"/>
                </a:solidFill>
                <a:latin typeface="Arial"/>
              </a:rPr>
              <a:t>TOPIC 02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Hiring Plans, Policies and Staff Documents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Hiring plan · leave and flexible-work policy · handbook wording · who signs off</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transition spd="med">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DC2626"/>
                </a:solidFill>
                <a:latin typeface="Arial"/>
              </a:rPr>
              <a:t>COURSE COVERAGE 28%</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1700" b="1">
                <a:solidFill>
                  <a:srgbClr val="161B26"/>
                </a:solidFill>
                <a:latin typeface="Arial"/>
              </a:rPr>
              <a:t>Key Concepts — Hiring Plans, Policies and Staff Documents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A hiring plan makes choices: which roles now, which can wait, and what the budget will not cover.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Every role needs a hiring manager, a start date, a salary range and the reason the role exists.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Policy wording carries real consequences. Anything about pay, leave, notice or conduct needs proper review before release.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Keep three things apart: what the policy says, how it works day to day, and what needs legal advice.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Work inside the company template so the document looks like every other HR document staff receive.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Say plainly what you do not yet know, rather than filling the gap with a confident guess.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transition spd="med">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1700" b="1">
                <a:solidFill>
                  <a:srgbClr val="161B26"/>
                </a:solidFill>
                <a:latin typeface="Arial"/>
              </a:rPr>
              <a:t>Hands-On Labs — Hiring Plans, Policies and Staff Documents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4754880" cy="548640"/>
          </a:xfrm>
          <a:prstGeom prst="rect">
            <a:avLst/>
          </a:prstGeom>
          <a:noFill/>
        </p:spPr>
        <p:txBody>
          <a:bodyPr wrap="square" anchor="t">
            <a:spAutoFit/>
          </a:bodyPr>
          <a:lstStyle/>
          <a:p>
            <a:pPr algn="l">
              <a:spcAft>
                <a:spcPts val="400"/>
              </a:spcAft>
            </a:pPr>
            <a:r>
              <a:rPr sz="1900" b="1">
                <a:solidFill>
                  <a:srgbClr val="1F6FEB"/>
                </a:solidFill>
                <a:latin typeface="Arial"/>
              </a:rPr>
              <a:t>Lab 4</a:t>
            </a:r>
          </a:p>
        </p:txBody>
      </p:sp>
      <p:sp>
        <p:nvSpPr>
          <p:cNvPr id="10" name="TextBox 9"/>
          <p:cNvSpPr txBox="1"/>
          <p:nvPr/>
        </p:nvSpPr>
        <p:spPr>
          <a:xfrm>
            <a:off x="1005840" y="2697480"/>
            <a:ext cx="4754880" cy="3108960"/>
          </a:xfrm>
          <a:prstGeom prst="rect">
            <a:avLst/>
          </a:prstGeom>
          <a:noFill/>
        </p:spPr>
        <p:txBody>
          <a:bodyPr wrap="square">
            <a:spAutoFit/>
          </a:bodyPr>
          <a:lstStyle/>
          <a:p>
            <a:pPr>
              <a:spcAft>
                <a:spcPts val="900"/>
              </a:spcAft>
            </a:pPr>
            <a:r>
              <a:rPr sz="1400" b="0">
                <a:solidFill>
                  <a:srgbClr val="161B26"/>
                </a:solidFill>
                <a:latin typeface="Arial"/>
              </a:rPr>
              <a:t>•  Write a Hiring Plan in Word — A hiring plan section written into the brief, and a separate Lumina-Living-FY2027-Hiring-Plan.docx ready for the Head of HR.</a:t>
            </a:r>
          </a:p>
        </p:txBody>
      </p:sp>
      <p:sp>
        <p:nvSpPr>
          <p:cNvPr id="11" name="Rectangle 10"/>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55080" y="1783080"/>
            <a:ext cx="507492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2011680"/>
            <a:ext cx="4617720" cy="548640"/>
          </a:xfrm>
          <a:prstGeom prst="rect">
            <a:avLst/>
          </a:prstGeom>
          <a:noFill/>
        </p:spPr>
        <p:txBody>
          <a:bodyPr wrap="square" anchor="t">
            <a:spAutoFit/>
          </a:bodyPr>
          <a:lstStyle/>
          <a:p>
            <a:pPr algn="l">
              <a:spcAft>
                <a:spcPts val="400"/>
              </a:spcAft>
            </a:pPr>
            <a:r>
              <a:rPr sz="1900" b="1">
                <a:solidFill>
                  <a:srgbClr val="10B981"/>
                </a:solidFill>
                <a:latin typeface="Arial"/>
              </a:rPr>
              <a:t>Lab 5</a:t>
            </a:r>
          </a:p>
        </p:txBody>
      </p:sp>
      <p:sp>
        <p:nvSpPr>
          <p:cNvPr id="14" name="TextBox 13"/>
          <p:cNvSpPr txBox="1"/>
          <p:nvPr/>
        </p:nvSpPr>
        <p:spPr>
          <a:xfrm>
            <a:off x="6583680" y="2697480"/>
            <a:ext cx="4617720" cy="3108960"/>
          </a:xfrm>
          <a:prstGeom prst="rect">
            <a:avLst/>
          </a:prstGeom>
          <a:noFill/>
        </p:spPr>
        <p:txBody>
          <a:bodyPr wrap="square">
            <a:spAutoFit/>
          </a:bodyPr>
          <a:lstStyle/>
          <a:p>
            <a:pPr>
              <a:spcAft>
                <a:spcPts val="900"/>
              </a:spcAft>
            </a:pPr>
            <a:r>
              <a:rPr sz="1400" b="0">
                <a:solidFill>
                  <a:srgbClr val="161B26"/>
                </a:solidFill>
                <a:latin typeface="Arial"/>
              </a:rPr>
              <a:t>•  Build an HR Policy Skill from Your Real Policies — An hr-policy-draft skill built from your real policy library and template, and two new policies on the company letterhead.</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transition spd="med">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Write a Hiring Plan in Word</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161B26"/>
                </a:solidFill>
                <a:latin typeface="Arial"/>
              </a:rPr>
              <a:t>Section 2 of the brief lists five roles the teams want and the budget that limits them. Claude works out what fits, writes the plan into your document, then exports it as a standalone document for approval.</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hiring plan section written into the brief, and a separate Lumina-Living-FY2027-Hiring-Plan.docx ready for the Head of HR.</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Claude for Word, company templates, evidence checks, human approval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transition spd="med">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DC2626"/>
                </a:solidFill>
                <a:latin typeface="Arial"/>
              </a:rPr>
              <a:t>CONCEPT-TO-OUTCOME</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4 — Process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Read the role table</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DC2626"/>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Work out what fits</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DC2626"/>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Write it into the brief</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DC2626"/>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Check every figure</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DC2626"/>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Export for approval</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transition spd="med">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DC2626"/>
                </a:solidFill>
                <a:latin typeface="Arial"/>
              </a:rPr>
              <a:t>KEY DECISIONS &amp; CONTROLS</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4 — Professional Practice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The budget is the constraint</a:t>
            </a:r>
          </a:p>
          <a:p>
            <a:pPr algn="l">
              <a:spcAft>
                <a:spcPts val="300"/>
              </a:spcAft>
            </a:pPr>
            <a:r>
              <a:rPr sz="1200" b="0">
                <a:solidFill>
                  <a:srgbClr val="5B6372"/>
                </a:solidFill>
                <a:latin typeface="Arial"/>
              </a:rPr>
              <a:t>Not every requested role can be filled; the plan must say which and why.</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Every figure has a source</a:t>
            </a:r>
          </a:p>
          <a:p>
            <a:pPr algn="l">
              <a:spcAft>
                <a:spcPts val="300"/>
              </a:spcAft>
            </a:pPr>
            <a:r>
              <a:rPr sz="1200" b="0">
                <a:solidFill>
                  <a:srgbClr val="5B6372"/>
                </a:solidFill>
                <a:latin typeface="Arial"/>
              </a:rPr>
              <a:t>Salary bands come from the table, never from memory.</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Propose before you write</a:t>
            </a:r>
          </a:p>
          <a:p>
            <a:pPr algn="l">
              <a:spcAft>
                <a:spcPts val="300"/>
              </a:spcAft>
            </a:pPr>
            <a:r>
              <a:rPr sz="1200" b="0">
                <a:solidFill>
                  <a:srgbClr val="5B6372"/>
                </a:solidFill>
                <a:latin typeface="Arial"/>
              </a:rPr>
              <a:t>Check the arithmetic in the panel before it touches the document.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Two documents, two jobs</a:t>
            </a:r>
          </a:p>
          <a:p>
            <a:pPr algn="l">
              <a:spcAft>
                <a:spcPts val="300"/>
              </a:spcAft>
            </a:pPr>
            <a:r>
              <a:rPr sz="1200" b="0">
                <a:solidFill>
                  <a:srgbClr val="5B6372"/>
                </a:solidFill>
                <a:latin typeface="Arial"/>
              </a:rPr>
              <a:t>The brief keeps the evidence; the exported plan goes for approval.</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transition spd="med">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4 · VERIFY</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Write a Hiring Plan in Word</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98480" cy="19202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084831"/>
            <a:ext cx="10012680" cy="384048"/>
          </a:xfrm>
          <a:prstGeom prst="rect">
            <a:avLst/>
          </a:prstGeom>
          <a:noFill/>
        </p:spPr>
        <p:txBody>
          <a:bodyPr wrap="square" anchor="t">
            <a:spAutoFit/>
          </a:bodyPr>
          <a:lstStyle/>
          <a:p>
            <a:pPr algn="l">
              <a:spcAft>
                <a:spcPts val="400"/>
              </a:spcAft>
            </a:pPr>
            <a:r>
              <a:rPr sz="1500" b="1">
                <a:solidFill>
                  <a:srgbClr val="127A3E"/>
                </a:solidFill>
                <a:latin typeface="Arial"/>
              </a:rPr>
              <a:t>✅  ACCEPTANCE CHECK</a:t>
            </a:r>
          </a:p>
        </p:txBody>
      </p:sp>
      <p:sp>
        <p:nvSpPr>
          <p:cNvPr id="9" name="TextBox 8"/>
          <p:cNvSpPr txBox="1"/>
          <p:nvPr/>
        </p:nvSpPr>
        <p:spPr>
          <a:xfrm>
            <a:off x="1051560" y="2615184"/>
            <a:ext cx="10012680" cy="932688"/>
          </a:xfrm>
          <a:prstGeom prst="rect">
            <a:avLst/>
          </a:prstGeom>
          <a:noFill/>
        </p:spPr>
        <p:txBody>
          <a:bodyPr wrap="square" anchor="ctr">
            <a:spAutoFit/>
          </a:bodyPr>
          <a:lstStyle/>
          <a:p>
            <a:pPr algn="l">
              <a:spcAft>
                <a:spcPts val="400"/>
              </a:spcAft>
            </a:pPr>
            <a:r>
              <a:rPr sz="1600" b="0">
                <a:solidFill>
                  <a:srgbClr val="161B26"/>
                </a:solidFill>
                <a:latin typeface="Arial"/>
              </a:rPr>
              <a:t>The brief has an 'FY2027 hiring plan' section after section 3 with every salary matching the table in section 2, the total is shown against the $38,000 budget and the 10-role cap, and a separate file named Lumina-Living-FY2027-Hiring-Plan.docx exists in the folder containing only the plan.</a:t>
            </a:r>
          </a:p>
        </p:txBody>
      </p:sp>
      <p:sp>
        <p:nvSpPr>
          <p:cNvPr id="10" name="Rectangle 9"/>
          <p:cNvSpPr/>
          <p:nvPr/>
        </p:nvSpPr>
        <p:spPr>
          <a:xfrm>
            <a:off x="777240"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041648"/>
            <a:ext cx="343204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270248"/>
            <a:ext cx="3066288" cy="310896"/>
          </a:xfrm>
          <a:prstGeom prst="rect">
            <a:avLst/>
          </a:prstGeom>
          <a:noFill/>
        </p:spPr>
        <p:txBody>
          <a:bodyPr wrap="square" anchor="t">
            <a:spAutoFit/>
          </a:bodyPr>
          <a:lstStyle/>
          <a:p>
            <a:pPr algn="ctr">
              <a:spcAft>
                <a:spcPts val="400"/>
              </a:spcAft>
            </a:pPr>
            <a:r>
              <a:rPr sz="1200" b="1">
                <a:solidFill>
                  <a:srgbClr val="1F6FEB"/>
                </a:solidFill>
                <a:latin typeface="Arial"/>
              </a:rPr>
              <a:t>INSPECT</a:t>
            </a:r>
          </a:p>
        </p:txBody>
      </p:sp>
      <p:sp>
        <p:nvSpPr>
          <p:cNvPr id="13" name="TextBox 12"/>
          <p:cNvSpPr txBox="1"/>
          <p:nvPr/>
        </p:nvSpPr>
        <p:spPr>
          <a:xfrm>
            <a:off x="978408"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Open the native artifact and challenge its sources, formulas, structure and versions.</a:t>
            </a:r>
          </a:p>
        </p:txBody>
      </p:sp>
      <p:sp>
        <p:nvSpPr>
          <p:cNvPr id="14" name="Rectangle 13"/>
          <p:cNvSpPr/>
          <p:nvPr/>
        </p:nvSpPr>
        <p:spPr>
          <a:xfrm>
            <a:off x="4410456"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10456" y="4041648"/>
            <a:ext cx="343204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3336" y="4270248"/>
            <a:ext cx="3066288" cy="310896"/>
          </a:xfrm>
          <a:prstGeom prst="rect">
            <a:avLst/>
          </a:prstGeom>
          <a:noFill/>
        </p:spPr>
        <p:txBody>
          <a:bodyPr wrap="square" anchor="t">
            <a:spAutoFit/>
          </a:bodyPr>
          <a:lstStyle/>
          <a:p>
            <a:pPr algn="ctr">
              <a:spcAft>
                <a:spcPts val="400"/>
              </a:spcAft>
            </a:pPr>
            <a:r>
              <a:rPr sz="1200" b="1">
                <a:solidFill>
                  <a:srgbClr val="10B981"/>
                </a:solidFill>
                <a:latin typeface="Arial"/>
              </a:rPr>
              <a:t>RECONCILE</a:t>
            </a:r>
          </a:p>
        </p:txBody>
      </p:sp>
      <p:sp>
        <p:nvSpPr>
          <p:cNvPr id="17" name="TextBox 16"/>
          <p:cNvSpPr txBox="1"/>
          <p:nvPr/>
        </p:nvSpPr>
        <p:spPr>
          <a:xfrm>
            <a:off x="4611624"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Confirm every material figure or claim against the approved evidence location.</a:t>
            </a:r>
          </a:p>
        </p:txBody>
      </p:sp>
      <p:sp>
        <p:nvSpPr>
          <p:cNvPr id="18" name="Rectangle 17"/>
          <p:cNvSpPr/>
          <p:nvPr/>
        </p:nvSpPr>
        <p:spPr>
          <a:xfrm>
            <a:off x="8043672"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3672" y="4041648"/>
            <a:ext cx="343204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6552" y="4270248"/>
            <a:ext cx="3066288" cy="310896"/>
          </a:xfrm>
          <a:prstGeom prst="rect">
            <a:avLst/>
          </a:prstGeom>
          <a:noFill/>
        </p:spPr>
        <p:txBody>
          <a:bodyPr wrap="square" anchor="t">
            <a:spAutoFit/>
          </a:bodyPr>
          <a:lstStyle/>
          <a:p>
            <a:pPr algn="ctr">
              <a:spcAft>
                <a:spcPts val="400"/>
              </a:spcAft>
            </a:pPr>
            <a:r>
              <a:rPr sz="1200" b="1">
                <a:solidFill>
                  <a:srgbClr val="7C3AED"/>
                </a:solidFill>
                <a:latin typeface="Arial"/>
              </a:rPr>
              <a:t>ENDORSE</a:t>
            </a:r>
          </a:p>
        </p:txBody>
      </p:sp>
      <p:sp>
        <p:nvSpPr>
          <p:cNvPr id="21" name="TextBox 20"/>
          <p:cNvSpPr txBox="1"/>
          <p:nvPr/>
        </p:nvSpPr>
        <p:spPr>
          <a:xfrm>
            <a:off x="8244840"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Record the named reviewer before accepting, saving, releasing or sending the work.</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transition spd="med">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100" b="1">
                <a:solidFill>
                  <a:srgbClr val="161B26"/>
                </a:solidFill>
                <a:latin typeface="Arial"/>
              </a:rPr>
              <a:t>Build an HR Policy Skill from Your Real Policies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5</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161B26"/>
                </a:solidFill>
                <a:latin typeface="Arial"/>
              </a:rPr>
              <a:t>Your house style already exists in the policies you have published and the template you write them into. Hand Claude the examples, the rules and the template, turn that into a skill, then draft two new policies from a real consultation note.</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An hr-policy-draft skill built from your real policy library and template, and two new policies on the company letterhead.</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Claude Skills, Upload a skill, Claude for Word</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transition spd="med">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5 · SCREENSHOT</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Creating the HR Policy Skill</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154002" y="1792224"/>
            <a:ext cx="5883691" cy="420624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laude-skills-add-menu.png"/>
          <p:cNvPicPr>
            <a:picLocks noChangeAspect="1"/>
          </p:cNvPicPr>
          <p:nvPr/>
        </p:nvPicPr>
        <p:blipFill>
          <a:blip r:embed="rId2"/>
          <a:stretch>
            <a:fillRect/>
          </a:stretch>
        </p:blipFill>
        <p:spPr>
          <a:xfrm>
            <a:off x="3208866" y="1847088"/>
            <a:ext cx="5773963" cy="4096512"/>
          </a:xfrm>
          <a:prstGeom prst="rect">
            <a:avLst/>
          </a:prstGeom>
        </p:spPr>
      </p:pic>
      <p:sp>
        <p:nvSpPr>
          <p:cNvPr id="9" name="TextBox 8"/>
          <p:cNvSpPr txBox="1"/>
          <p:nvPr/>
        </p:nvSpPr>
        <p:spPr>
          <a:xfrm>
            <a:off x="777240" y="6108192"/>
            <a:ext cx="10607040" cy="320040"/>
          </a:xfrm>
          <a:prstGeom prst="rect">
            <a:avLst/>
          </a:prstGeom>
          <a:noFill/>
        </p:spPr>
        <p:txBody>
          <a:bodyPr wrap="square" anchor="ctr">
            <a:spAutoFit/>
          </a:bodyPr>
          <a:lstStyle/>
          <a:p>
            <a:pPr algn="ctr">
              <a:spcAft>
                <a:spcPts val="400"/>
              </a:spcAft>
            </a:pPr>
            <a:r>
              <a:rPr sz="1200" b="0">
                <a:solidFill>
                  <a:srgbClr val="5B6372"/>
                </a:solidFill>
                <a:latin typeface="Arial"/>
              </a:rPr>
              <a:t>Settings &gt; Skills &gt; Add. Lab 5 uses Create with Claude, handing it the policy library and the written standard.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transition spd="med">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DC2626"/>
                </a:solidFill>
                <a:latin typeface="Arial"/>
              </a:rPr>
              <a:t>CONCEPT-TO-OUTCOME</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5 — Process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Define boundary</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DC2626"/>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Verify metrics</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DC2626"/>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Draft narrative</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DC2626"/>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Separate policy from procedure</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DC2626"/>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Obtain specialist approval</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transition spd="med">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DC2626"/>
                </a:solidFill>
                <a:latin typeface="Arial"/>
              </a:rPr>
              <a:t>KEY DECISIONS &amp; CONTROLS</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5 — Professional Practice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Boundary before narrative</a:t>
            </a:r>
          </a:p>
          <a:p>
            <a:pPr algn="l">
              <a:spcAft>
                <a:spcPts val="300"/>
              </a:spcAft>
            </a:pPr>
            <a:r>
              <a:rPr sz="1200" b="0">
                <a:solidFill>
                  <a:srgbClr val="5B6372"/>
                </a:solidFill>
                <a:latin typeface="Arial"/>
              </a:rPr>
              <a:t>State entities, sites, period, method and exclusions before describing performance.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Numbers need lineage</a:t>
            </a:r>
          </a:p>
          <a:p>
            <a:pPr algn="l">
              <a:spcAft>
                <a:spcPts val="300"/>
              </a:spcAft>
            </a:pPr>
            <a:r>
              <a:rPr sz="1200" b="0">
                <a:solidFill>
                  <a:srgbClr val="5B6372"/>
                </a:solidFill>
                <a:latin typeface="Arial"/>
              </a:rPr>
              <a:t>Every metric names the source system, owner, unit, method and limitation.</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Policy is not legal advice</a:t>
            </a:r>
          </a:p>
          <a:p>
            <a:pPr algn="l">
              <a:spcAft>
                <a:spcPts val="300"/>
              </a:spcAft>
            </a:pPr>
            <a:r>
              <a:rPr sz="1200" b="0">
                <a:solidFill>
                  <a:srgbClr val="5B6372"/>
                </a:solidFill>
                <a:latin typeface="Arial"/>
              </a:rPr>
              <a:t>AI drafts require authorised HR and legal review before organisational release.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Exceptions are designed</a:t>
            </a:r>
          </a:p>
          <a:p>
            <a:pPr algn="l">
              <a:spcAft>
                <a:spcPts val="300"/>
              </a:spcAft>
            </a:pPr>
            <a:r>
              <a:rPr sz="1200" b="0">
                <a:solidFill>
                  <a:srgbClr val="5B6372"/>
                </a:solidFill>
                <a:latin typeface="Arial"/>
              </a:rPr>
              <a:t>Eligibility, decision rights, escalation and record keeping prevent an attractive policy from becoming unusable.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transition spd="med">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5 · VERIFY</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100" b="1">
                <a:solidFill>
                  <a:srgbClr val="161B26"/>
                </a:solidFill>
                <a:latin typeface="Arial"/>
              </a:rPr>
              <a:t>Build an HR Policy Skill from Your Real Policies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98480" cy="19202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084831"/>
            <a:ext cx="10012680" cy="384048"/>
          </a:xfrm>
          <a:prstGeom prst="rect">
            <a:avLst/>
          </a:prstGeom>
          <a:noFill/>
        </p:spPr>
        <p:txBody>
          <a:bodyPr wrap="square" anchor="t">
            <a:spAutoFit/>
          </a:bodyPr>
          <a:lstStyle/>
          <a:p>
            <a:pPr algn="l">
              <a:spcAft>
                <a:spcPts val="400"/>
              </a:spcAft>
            </a:pPr>
            <a:r>
              <a:rPr sz="1500" b="1">
                <a:solidFill>
                  <a:srgbClr val="127A3E"/>
                </a:solidFill>
                <a:latin typeface="Arial"/>
              </a:rPr>
              <a:t>✅  ACCEPTANCE CHECK</a:t>
            </a:r>
          </a:p>
        </p:txBody>
      </p:sp>
      <p:sp>
        <p:nvSpPr>
          <p:cNvPr id="9" name="TextBox 8"/>
          <p:cNvSpPr txBox="1"/>
          <p:nvPr/>
        </p:nvSpPr>
        <p:spPr>
          <a:xfrm>
            <a:off x="1051560" y="2615184"/>
            <a:ext cx="10012680" cy="932688"/>
          </a:xfrm>
          <a:prstGeom prst="rect">
            <a:avLst/>
          </a:prstGeom>
          <a:noFill/>
        </p:spPr>
        <p:txBody>
          <a:bodyPr wrap="square" anchor="ctr">
            <a:spAutoFit/>
          </a:bodyPr>
          <a:lstStyle/>
          <a:p>
            <a:pPr algn="l">
              <a:spcAft>
                <a:spcPts val="400"/>
              </a:spcAft>
            </a:pPr>
            <a:r>
              <a:rPr sz="1600" b="0">
                <a:solidFill>
                  <a:srgbClr val="161B26"/>
                </a:solidFill>
                <a:latin typeface="Arial"/>
              </a:rPr>
              <a:t>A skill named hr-policy-draft is listed in Settings &gt; Skills, both new policies use the company letterhead and the four numbered sections, every fact traces to the consultation note, every open point from the note appears under 'Still to confirm', no legal conclusion is stated, the approval table is intact, and both files are saved in the lab folder.</a:t>
            </a:r>
          </a:p>
        </p:txBody>
      </p:sp>
      <p:sp>
        <p:nvSpPr>
          <p:cNvPr id="10" name="Rectangle 9"/>
          <p:cNvSpPr/>
          <p:nvPr/>
        </p:nvSpPr>
        <p:spPr>
          <a:xfrm>
            <a:off x="777240"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041648"/>
            <a:ext cx="343204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270248"/>
            <a:ext cx="3066288" cy="310896"/>
          </a:xfrm>
          <a:prstGeom prst="rect">
            <a:avLst/>
          </a:prstGeom>
          <a:noFill/>
        </p:spPr>
        <p:txBody>
          <a:bodyPr wrap="square" anchor="t">
            <a:spAutoFit/>
          </a:bodyPr>
          <a:lstStyle/>
          <a:p>
            <a:pPr algn="ctr">
              <a:spcAft>
                <a:spcPts val="400"/>
              </a:spcAft>
            </a:pPr>
            <a:r>
              <a:rPr sz="1200" b="1">
                <a:solidFill>
                  <a:srgbClr val="1F6FEB"/>
                </a:solidFill>
                <a:latin typeface="Arial"/>
              </a:rPr>
              <a:t>INSPECT</a:t>
            </a:r>
          </a:p>
        </p:txBody>
      </p:sp>
      <p:sp>
        <p:nvSpPr>
          <p:cNvPr id="13" name="TextBox 12"/>
          <p:cNvSpPr txBox="1"/>
          <p:nvPr/>
        </p:nvSpPr>
        <p:spPr>
          <a:xfrm>
            <a:off x="978408"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Open the native artifact and challenge its sources, formulas, structure and versions.</a:t>
            </a:r>
          </a:p>
        </p:txBody>
      </p:sp>
      <p:sp>
        <p:nvSpPr>
          <p:cNvPr id="14" name="Rectangle 13"/>
          <p:cNvSpPr/>
          <p:nvPr/>
        </p:nvSpPr>
        <p:spPr>
          <a:xfrm>
            <a:off x="4410456"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10456" y="4041648"/>
            <a:ext cx="343204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3336" y="4270248"/>
            <a:ext cx="3066288" cy="310896"/>
          </a:xfrm>
          <a:prstGeom prst="rect">
            <a:avLst/>
          </a:prstGeom>
          <a:noFill/>
        </p:spPr>
        <p:txBody>
          <a:bodyPr wrap="square" anchor="t">
            <a:spAutoFit/>
          </a:bodyPr>
          <a:lstStyle/>
          <a:p>
            <a:pPr algn="ctr">
              <a:spcAft>
                <a:spcPts val="400"/>
              </a:spcAft>
            </a:pPr>
            <a:r>
              <a:rPr sz="1200" b="1">
                <a:solidFill>
                  <a:srgbClr val="10B981"/>
                </a:solidFill>
                <a:latin typeface="Arial"/>
              </a:rPr>
              <a:t>RECONCILE</a:t>
            </a:r>
          </a:p>
        </p:txBody>
      </p:sp>
      <p:sp>
        <p:nvSpPr>
          <p:cNvPr id="17" name="TextBox 16"/>
          <p:cNvSpPr txBox="1"/>
          <p:nvPr/>
        </p:nvSpPr>
        <p:spPr>
          <a:xfrm>
            <a:off x="4611624"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Confirm every material figure or claim against the approved evidence location.</a:t>
            </a:r>
          </a:p>
        </p:txBody>
      </p:sp>
      <p:sp>
        <p:nvSpPr>
          <p:cNvPr id="18" name="Rectangle 17"/>
          <p:cNvSpPr/>
          <p:nvPr/>
        </p:nvSpPr>
        <p:spPr>
          <a:xfrm>
            <a:off x="8043672"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3672" y="4041648"/>
            <a:ext cx="343204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6552" y="4270248"/>
            <a:ext cx="3066288" cy="310896"/>
          </a:xfrm>
          <a:prstGeom prst="rect">
            <a:avLst/>
          </a:prstGeom>
          <a:noFill/>
        </p:spPr>
        <p:txBody>
          <a:bodyPr wrap="square" anchor="t">
            <a:spAutoFit/>
          </a:bodyPr>
          <a:lstStyle/>
          <a:p>
            <a:pPr algn="ctr">
              <a:spcAft>
                <a:spcPts val="400"/>
              </a:spcAft>
            </a:pPr>
            <a:r>
              <a:rPr sz="1200" b="1">
                <a:solidFill>
                  <a:srgbClr val="7C3AED"/>
                </a:solidFill>
                <a:latin typeface="Arial"/>
              </a:rPr>
              <a:t>ENDORSE</a:t>
            </a:r>
          </a:p>
        </p:txBody>
      </p:sp>
      <p:sp>
        <p:nvSpPr>
          <p:cNvPr id="21" name="TextBox 20"/>
          <p:cNvSpPr txBox="1"/>
          <p:nvPr/>
        </p:nvSpPr>
        <p:spPr>
          <a:xfrm>
            <a:off x="8244840"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Record the named reviewer before accepting, saving, releasing or sending the work.</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transition spd="med">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100" b="1">
                <a:solidFill>
                  <a:srgbClr val="161B26"/>
                </a:solidFill>
                <a:latin typeface="Arial"/>
              </a:rPr>
              <a:t>Recap — Hiring Plans, Policies and Staff Documents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Capability — Write an FY2027 hiring plan in Word using only what the HR brief actually says.</a:t>
            </a:r>
          </a:p>
        </p:txBody>
      </p:sp>
      <p:sp>
        <p:nvSpPr>
          <p:cNvPr id="12" name="Rectangle 11"/>
          <p:cNvSpPr/>
          <p:nvPr/>
        </p:nvSpPr>
        <p:spPr>
          <a:xfrm>
            <a:off x="6176772" y="1828800"/>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Evidence retained — A hiring plan section written into the brief, and a separate Lumina-Living-FY2027-Hiring-Plan.docx ready for the Head of HR.</a:t>
            </a:r>
          </a:p>
        </p:txBody>
      </p:sp>
      <p:sp>
        <p:nvSpPr>
          <p:cNvPr id="17" name="Rectangle 16"/>
          <p:cNvSpPr/>
          <p:nvPr/>
        </p:nvSpPr>
        <p:spPr>
          <a:xfrm>
            <a:off x="777240" y="4059936"/>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Capability — Create a skill from your company's existing policy documents, then use it to draft new policy wording that matches them.</a:t>
            </a:r>
          </a:p>
        </p:txBody>
      </p:sp>
      <p:sp>
        <p:nvSpPr>
          <p:cNvPr id="22" name="Rectangle 21"/>
          <p:cNvSpPr/>
          <p:nvPr/>
        </p:nvSpPr>
        <p:spPr>
          <a:xfrm>
            <a:off x="6176772" y="4059936"/>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Evidence retained — An hr-policy-draft skill built from your real policy library and template, and two new policies on the company letterhead.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transition spd="med">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People Numbers and Reporting to Leadership</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Headcount and turnover in Excel · what the numbers say · the leadership update</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transition spd="med">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COURSE COVERAGE 25%</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1700" b="1">
                <a:solidFill>
                  <a:srgbClr val="161B26"/>
                </a:solidFill>
                <a:latin typeface="Arial"/>
              </a:rPr>
              <a:t>Key Concepts — People Numbers and Reporting to Leadership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Keep the staff data, the assumptions and the results on separate sheets so anyone can follow the working.</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Use live formulas that point at the source data. A number typed in by hand cannot be checked or updated.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Compare actual headcount and cost against plan, month by month and team by team, before you explain the result.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Pick the chart that answers the question leadership asked. More charts is not more insight.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Every slide title should say what you concluded, not name a topic.</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Put the source under any figure on a slide, so the room can challenge it.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transition spd="med">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1700" b="1">
                <a:solidFill>
                  <a:srgbClr val="161B26"/>
                </a:solidFill>
                <a:latin typeface="Arial"/>
              </a:rPr>
              <a:t>Hands-On Labs — People Numbers and Reporting to Leadership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21208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4754880" cy="548640"/>
          </a:xfrm>
          <a:prstGeom prst="rect">
            <a:avLst/>
          </a:prstGeom>
          <a:noFill/>
        </p:spPr>
        <p:txBody>
          <a:bodyPr wrap="square" anchor="t">
            <a:spAutoFit/>
          </a:bodyPr>
          <a:lstStyle/>
          <a:p>
            <a:pPr algn="l">
              <a:spcAft>
                <a:spcPts val="400"/>
              </a:spcAft>
            </a:pPr>
            <a:r>
              <a:rPr sz="1900" b="1">
                <a:solidFill>
                  <a:srgbClr val="1F6FEB"/>
                </a:solidFill>
                <a:latin typeface="Arial"/>
              </a:rPr>
              <a:t>Lab 6</a:t>
            </a:r>
          </a:p>
        </p:txBody>
      </p:sp>
      <p:sp>
        <p:nvSpPr>
          <p:cNvPr id="10" name="TextBox 9"/>
          <p:cNvSpPr txBox="1"/>
          <p:nvPr/>
        </p:nvSpPr>
        <p:spPr>
          <a:xfrm>
            <a:off x="1005840" y="2697480"/>
            <a:ext cx="4754880" cy="3108960"/>
          </a:xfrm>
          <a:prstGeom prst="rect">
            <a:avLst/>
          </a:prstGeom>
          <a:noFill/>
        </p:spPr>
        <p:txBody>
          <a:bodyPr wrap="square">
            <a:spAutoFit/>
          </a:bodyPr>
          <a:lstStyle/>
          <a:p>
            <a:pPr>
              <a:spcAft>
                <a:spcPts val="900"/>
              </a:spcAft>
            </a:pPr>
            <a:r>
              <a:rPr sz="1400" b="0">
                <a:solidFill>
                  <a:srgbClr val="161B26"/>
                </a:solidFill>
                <a:latin typeface="Arial"/>
              </a:rPr>
              <a:t>•  Build a Headcount Analysis in Excel — An analysis sheet where every result is a formula that points back to the source data.</a:t>
            </a:r>
          </a:p>
        </p:txBody>
      </p:sp>
      <p:sp>
        <p:nvSpPr>
          <p:cNvPr id="11" name="Rectangle 10"/>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55080" y="1783080"/>
            <a:ext cx="507492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2011680"/>
            <a:ext cx="4617720" cy="548640"/>
          </a:xfrm>
          <a:prstGeom prst="rect">
            <a:avLst/>
          </a:prstGeom>
          <a:noFill/>
        </p:spPr>
        <p:txBody>
          <a:bodyPr wrap="square" anchor="t">
            <a:spAutoFit/>
          </a:bodyPr>
          <a:lstStyle/>
          <a:p>
            <a:pPr algn="l">
              <a:spcAft>
                <a:spcPts val="400"/>
              </a:spcAft>
            </a:pPr>
            <a:r>
              <a:rPr sz="1900" b="1">
                <a:solidFill>
                  <a:srgbClr val="10B981"/>
                </a:solidFill>
                <a:latin typeface="Arial"/>
              </a:rPr>
              <a:t>Lab 7</a:t>
            </a:r>
          </a:p>
        </p:txBody>
      </p:sp>
      <p:sp>
        <p:nvSpPr>
          <p:cNvPr id="14" name="TextBox 13"/>
          <p:cNvSpPr txBox="1"/>
          <p:nvPr/>
        </p:nvSpPr>
        <p:spPr>
          <a:xfrm>
            <a:off x="6583680" y="2697480"/>
            <a:ext cx="4617720" cy="3108960"/>
          </a:xfrm>
          <a:prstGeom prst="rect">
            <a:avLst/>
          </a:prstGeom>
          <a:noFill/>
        </p:spPr>
        <p:txBody>
          <a:bodyPr wrap="square">
            <a:spAutoFit/>
          </a:bodyPr>
          <a:lstStyle/>
          <a:p>
            <a:pPr>
              <a:spcAft>
                <a:spcPts val="900"/>
              </a:spcAft>
            </a:pPr>
            <a:r>
              <a:rPr sz="1400" b="0">
                <a:solidFill>
                  <a:srgbClr val="161B26"/>
                </a:solidFill>
                <a:latin typeface="Arial"/>
              </a:rPr>
              <a:t>•  Build a Leadership Deck Two Ways — Two versions of the same six-slide update: one built in the panel with a linked Excel chart, one built end to end by Claude Desktop.</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transition spd="med">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Build a Headcount Analysis in Excel</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6</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Compare actual headcount and staff cost against plan, month by month and team by team, using formulas that point at the source data.</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An analysis sheet where every result is a formula that points back to the source data.</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Claude for Excel, tables, formulas, pivots, scenarios, chart selection, dashboard, audit log</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transition spd="med">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CONCEPT-TO-OUTCOME</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6 — Process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Understand the model</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Validate inputs</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Build formulas</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Explain drivers</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Dashboard and senior review</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transition spd="med">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KEY DECISIONS &amp; CONTROLS</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6 — Professional Practice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Model architecture</a:t>
            </a:r>
          </a:p>
          <a:p>
            <a:pPr algn="l">
              <a:spcAft>
                <a:spcPts val="300"/>
              </a:spcAft>
            </a:pPr>
            <a:r>
              <a:rPr sz="1200" b="0">
                <a:solidFill>
                  <a:srgbClr val="5B6372"/>
                </a:solidFill>
                <a:latin typeface="Arial"/>
              </a:rPr>
              <a:t>Separate Assumptions, Transactions, Budget, Analysis, Dashboard and Audit Log.</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No pasted answers</a:t>
            </a:r>
          </a:p>
          <a:p>
            <a:pPr algn="l">
              <a:spcAft>
                <a:spcPts val="300"/>
              </a:spcAft>
            </a:pPr>
            <a:r>
              <a:rPr sz="1200" b="0">
                <a:solidFill>
                  <a:srgbClr val="5B6372"/>
                </a:solidFill>
                <a:latin typeface="Arial"/>
              </a:rPr>
              <a:t>Keep calculations live in formulas or pivots and cite the source range.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Charts answer decisions</a:t>
            </a:r>
          </a:p>
          <a:p>
            <a:pPr algn="l">
              <a:spcAft>
                <a:spcPts val="300"/>
              </a:spcAft>
            </a:pPr>
            <a:r>
              <a:rPr sz="1200" b="0">
                <a:solidFill>
                  <a:srgbClr val="5B6372"/>
                </a:solidFill>
                <a:latin typeface="Arial"/>
              </a:rPr>
              <a:t>Use trend, variance and driver visuals with honest scales and units.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Review like a finance leader</a:t>
            </a:r>
          </a:p>
          <a:p>
            <a:pPr algn="l">
              <a:spcAft>
                <a:spcPts val="300"/>
              </a:spcAft>
            </a:pPr>
            <a:r>
              <a:rPr sz="1200" b="0">
                <a:solidFill>
                  <a:srgbClr val="5B6372"/>
                </a:solidFill>
                <a:latin typeface="Arial"/>
              </a:rPr>
              <a:t>Challenge timing, hardcodes, range gaps, margin logic and scenario sensitivity.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transition spd="med">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6 · VERIFY</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Build a Headcount Analysis in Excel</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98480" cy="19202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084831"/>
            <a:ext cx="10012680" cy="384048"/>
          </a:xfrm>
          <a:prstGeom prst="rect">
            <a:avLst/>
          </a:prstGeom>
          <a:noFill/>
        </p:spPr>
        <p:txBody>
          <a:bodyPr wrap="square" anchor="t">
            <a:spAutoFit/>
          </a:bodyPr>
          <a:lstStyle/>
          <a:p>
            <a:pPr algn="l">
              <a:spcAft>
                <a:spcPts val="400"/>
              </a:spcAft>
            </a:pPr>
            <a:r>
              <a:rPr sz="1500" b="1">
                <a:solidFill>
                  <a:srgbClr val="127A3E"/>
                </a:solidFill>
                <a:latin typeface="Arial"/>
              </a:rPr>
              <a:t>✅  ACCEPTANCE CHECK</a:t>
            </a:r>
          </a:p>
        </p:txBody>
      </p:sp>
      <p:sp>
        <p:nvSpPr>
          <p:cNvPr id="9" name="TextBox 8"/>
          <p:cNvSpPr txBox="1"/>
          <p:nvPr/>
        </p:nvSpPr>
        <p:spPr>
          <a:xfrm>
            <a:off x="1051560" y="2615184"/>
            <a:ext cx="10012680" cy="932688"/>
          </a:xfrm>
          <a:prstGeom prst="rect">
            <a:avLst/>
          </a:prstGeom>
          <a:noFill/>
        </p:spPr>
        <p:txBody>
          <a:bodyPr wrap="square" anchor="ctr">
            <a:spAutoFit/>
          </a:bodyPr>
          <a:lstStyle/>
          <a:p>
            <a:pPr algn="l">
              <a:spcAft>
                <a:spcPts val="400"/>
              </a:spcAft>
            </a:pPr>
            <a:r>
              <a:rPr sz="1600" b="0">
                <a:solidFill>
                  <a:srgbClr val="161B26"/>
                </a:solidFill>
                <a:latin typeface="Arial"/>
              </a:rPr>
              <a:t>Two result cells checked in the formula bar show real formulas pointing at the source data, and changing an assumption updates the analysis.</a:t>
            </a:r>
          </a:p>
        </p:txBody>
      </p:sp>
      <p:sp>
        <p:nvSpPr>
          <p:cNvPr id="10" name="Rectangle 9"/>
          <p:cNvSpPr/>
          <p:nvPr/>
        </p:nvSpPr>
        <p:spPr>
          <a:xfrm>
            <a:off x="777240"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041648"/>
            <a:ext cx="343204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270248"/>
            <a:ext cx="3066288" cy="310896"/>
          </a:xfrm>
          <a:prstGeom prst="rect">
            <a:avLst/>
          </a:prstGeom>
          <a:noFill/>
        </p:spPr>
        <p:txBody>
          <a:bodyPr wrap="square" anchor="t">
            <a:spAutoFit/>
          </a:bodyPr>
          <a:lstStyle/>
          <a:p>
            <a:pPr algn="ctr">
              <a:spcAft>
                <a:spcPts val="400"/>
              </a:spcAft>
            </a:pPr>
            <a:r>
              <a:rPr sz="1200" b="1">
                <a:solidFill>
                  <a:srgbClr val="1F6FEB"/>
                </a:solidFill>
                <a:latin typeface="Arial"/>
              </a:rPr>
              <a:t>INSPECT</a:t>
            </a:r>
          </a:p>
        </p:txBody>
      </p:sp>
      <p:sp>
        <p:nvSpPr>
          <p:cNvPr id="13" name="TextBox 12"/>
          <p:cNvSpPr txBox="1"/>
          <p:nvPr/>
        </p:nvSpPr>
        <p:spPr>
          <a:xfrm>
            <a:off x="978408"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Open the native artifact and challenge its sources, formulas, structure and versions.</a:t>
            </a:r>
          </a:p>
        </p:txBody>
      </p:sp>
      <p:sp>
        <p:nvSpPr>
          <p:cNvPr id="14" name="Rectangle 13"/>
          <p:cNvSpPr/>
          <p:nvPr/>
        </p:nvSpPr>
        <p:spPr>
          <a:xfrm>
            <a:off x="4410456"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10456" y="4041648"/>
            <a:ext cx="343204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3336" y="4270248"/>
            <a:ext cx="3066288" cy="310896"/>
          </a:xfrm>
          <a:prstGeom prst="rect">
            <a:avLst/>
          </a:prstGeom>
          <a:noFill/>
        </p:spPr>
        <p:txBody>
          <a:bodyPr wrap="square" anchor="t">
            <a:spAutoFit/>
          </a:bodyPr>
          <a:lstStyle/>
          <a:p>
            <a:pPr algn="ctr">
              <a:spcAft>
                <a:spcPts val="400"/>
              </a:spcAft>
            </a:pPr>
            <a:r>
              <a:rPr sz="1200" b="1">
                <a:solidFill>
                  <a:srgbClr val="10B981"/>
                </a:solidFill>
                <a:latin typeface="Arial"/>
              </a:rPr>
              <a:t>RECONCILE</a:t>
            </a:r>
          </a:p>
        </p:txBody>
      </p:sp>
      <p:sp>
        <p:nvSpPr>
          <p:cNvPr id="17" name="TextBox 16"/>
          <p:cNvSpPr txBox="1"/>
          <p:nvPr/>
        </p:nvSpPr>
        <p:spPr>
          <a:xfrm>
            <a:off x="4611624"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Confirm every material figure or claim against the approved evidence location.</a:t>
            </a:r>
          </a:p>
        </p:txBody>
      </p:sp>
      <p:sp>
        <p:nvSpPr>
          <p:cNvPr id="18" name="Rectangle 17"/>
          <p:cNvSpPr/>
          <p:nvPr/>
        </p:nvSpPr>
        <p:spPr>
          <a:xfrm>
            <a:off x="8043672"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3672" y="4041648"/>
            <a:ext cx="343204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6552" y="4270248"/>
            <a:ext cx="3066288" cy="310896"/>
          </a:xfrm>
          <a:prstGeom prst="rect">
            <a:avLst/>
          </a:prstGeom>
          <a:noFill/>
        </p:spPr>
        <p:txBody>
          <a:bodyPr wrap="square" anchor="t">
            <a:spAutoFit/>
          </a:bodyPr>
          <a:lstStyle/>
          <a:p>
            <a:pPr algn="ctr">
              <a:spcAft>
                <a:spcPts val="400"/>
              </a:spcAft>
            </a:pPr>
            <a:r>
              <a:rPr sz="1200" b="1">
                <a:solidFill>
                  <a:srgbClr val="7C3AED"/>
                </a:solidFill>
                <a:latin typeface="Arial"/>
              </a:rPr>
              <a:t>ENDORSE</a:t>
            </a:r>
          </a:p>
        </p:txBody>
      </p:sp>
      <p:sp>
        <p:nvSpPr>
          <p:cNvPr id="21" name="TextBox 20"/>
          <p:cNvSpPr txBox="1"/>
          <p:nvPr/>
        </p:nvSpPr>
        <p:spPr>
          <a:xfrm>
            <a:off x="8244840"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Record the named reviewer before accepting, saving, releasing or sending the work.</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transition spd="med">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Build a Leadership Deck Two Ways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7</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Start from a blank deck. Build it with the Office panel, pasting the chart yourself so it stays linked to Excel. Then have Claude Desktop build the whole thing unaided, and compare what each produced.</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Two versions of the same six-slide update: one built in the panel with a linked Excel chart, one built end to end by Claude Desktop.</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Claude for PowerPoint, Claude for Excel, Claude Desktop, linked native charts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transition spd="med">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CONCEPT-TO-OUTCOME</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7 — Process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Get the headline in Excel</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Plan the six slides</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Panel builds, you paste the chart</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Desktop builds the whole deck</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Compare and refine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transition spd="med">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KEY DECISIONS &amp; CONTROLS</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7 — Professional Practice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Panel: one file at a time</a:t>
            </a:r>
          </a:p>
          <a:p>
            <a:pPr algn="l">
              <a:spcAft>
                <a:spcPts val="300"/>
              </a:spcAft>
            </a:pPr>
            <a:r>
              <a:rPr sz="1200" b="0">
                <a:solidFill>
                  <a:srgbClr val="5B6372"/>
                </a:solidFill>
                <a:latin typeface="Arial"/>
              </a:rPr>
              <a:t>It edits the deck you have open, so you paste the chart yourself — and it stays linked.</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Desktop: reads the folder</a:t>
            </a:r>
          </a:p>
          <a:p>
            <a:pPr algn="l">
              <a:spcAft>
                <a:spcPts val="300"/>
              </a:spcAft>
            </a:pPr>
            <a:r>
              <a:rPr sz="1200" b="0">
                <a:solidFill>
                  <a:srgbClr val="5B6372"/>
                </a:solidFill>
                <a:latin typeface="Arial"/>
              </a:rPr>
              <a:t>It sees Excel and Word together and produces a finished file, but not into your open deck.</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Linked beats pasted picture</a:t>
            </a:r>
          </a:p>
          <a:p>
            <a:pPr algn="l">
              <a:spcAft>
                <a:spcPts val="300"/>
              </a:spcAft>
            </a:pPr>
            <a:r>
              <a:rPr sz="1200" b="0">
                <a:solidFill>
                  <a:srgbClr val="5B6372"/>
                </a:solidFill>
                <a:latin typeface="Arial"/>
              </a:rPr>
              <a:t>A linked chart updates when the numbers change; a picture does not.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Keep prompting</a:t>
            </a:r>
          </a:p>
          <a:p>
            <a:pPr algn="l">
              <a:spcAft>
                <a:spcPts val="300"/>
              </a:spcAft>
            </a:pPr>
            <a:r>
              <a:rPr sz="1200" b="0">
                <a:solidFill>
                  <a:srgbClr val="5B6372"/>
                </a:solidFill>
                <a:latin typeface="Arial"/>
              </a:rPr>
              <a:t>Neither method is one-shot. Split a slide, sharpen a title, add a closing ask.</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transition spd="med">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7 · VERIFY</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Build a Leadership Deck Two Ways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98480" cy="19202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084831"/>
            <a:ext cx="10012680" cy="384048"/>
          </a:xfrm>
          <a:prstGeom prst="rect">
            <a:avLst/>
          </a:prstGeom>
          <a:noFill/>
        </p:spPr>
        <p:txBody>
          <a:bodyPr wrap="square" anchor="t">
            <a:spAutoFit/>
          </a:bodyPr>
          <a:lstStyle/>
          <a:p>
            <a:pPr algn="l">
              <a:spcAft>
                <a:spcPts val="400"/>
              </a:spcAft>
            </a:pPr>
            <a:r>
              <a:rPr sz="1500" b="1">
                <a:solidFill>
                  <a:srgbClr val="127A3E"/>
                </a:solidFill>
                <a:latin typeface="Arial"/>
              </a:rPr>
              <a:t>✅  ACCEPTANCE CHECK</a:t>
            </a:r>
          </a:p>
        </p:txBody>
      </p:sp>
      <p:sp>
        <p:nvSpPr>
          <p:cNvPr id="9" name="TextBox 8"/>
          <p:cNvSpPr txBox="1"/>
          <p:nvPr/>
        </p:nvSpPr>
        <p:spPr>
          <a:xfrm>
            <a:off x="1051560" y="2615184"/>
            <a:ext cx="10012680" cy="932688"/>
          </a:xfrm>
          <a:prstGeom prst="rect">
            <a:avLst/>
          </a:prstGeom>
          <a:noFill/>
        </p:spPr>
        <p:txBody>
          <a:bodyPr wrap="square" anchor="ctr">
            <a:spAutoFit/>
          </a:bodyPr>
          <a:lstStyle/>
          <a:p>
            <a:pPr algn="l">
              <a:spcAft>
                <a:spcPts val="400"/>
              </a:spcAft>
            </a:pPr>
            <a:r>
              <a:rPr sz="1600" b="0">
                <a:solidFill>
                  <a:srgbClr val="161B26"/>
                </a:solidFill>
                <a:latin typeface="Arial"/>
              </a:rPr>
              <a:t>Both decks exist: one built in the panel with the Excel chart pasted in and linked, one named Lumina-Living-Q1-Update-Desktop.pptx built by Claude Desktop. Every title states a conclusion, every figure has a source note, you have written which version keeps the chart linked to the workbook, and at least one refinement prompt was used after the first build.</a:t>
            </a:r>
          </a:p>
        </p:txBody>
      </p:sp>
      <p:sp>
        <p:nvSpPr>
          <p:cNvPr id="10" name="Rectangle 9"/>
          <p:cNvSpPr/>
          <p:nvPr/>
        </p:nvSpPr>
        <p:spPr>
          <a:xfrm>
            <a:off x="777240"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041648"/>
            <a:ext cx="343204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270248"/>
            <a:ext cx="3066288" cy="310896"/>
          </a:xfrm>
          <a:prstGeom prst="rect">
            <a:avLst/>
          </a:prstGeom>
          <a:noFill/>
        </p:spPr>
        <p:txBody>
          <a:bodyPr wrap="square" anchor="t">
            <a:spAutoFit/>
          </a:bodyPr>
          <a:lstStyle/>
          <a:p>
            <a:pPr algn="ctr">
              <a:spcAft>
                <a:spcPts val="400"/>
              </a:spcAft>
            </a:pPr>
            <a:r>
              <a:rPr sz="1200" b="1">
                <a:solidFill>
                  <a:srgbClr val="1F6FEB"/>
                </a:solidFill>
                <a:latin typeface="Arial"/>
              </a:rPr>
              <a:t>INSPECT</a:t>
            </a:r>
          </a:p>
        </p:txBody>
      </p:sp>
      <p:sp>
        <p:nvSpPr>
          <p:cNvPr id="13" name="TextBox 12"/>
          <p:cNvSpPr txBox="1"/>
          <p:nvPr/>
        </p:nvSpPr>
        <p:spPr>
          <a:xfrm>
            <a:off x="978408"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Open the native artifact and challenge its sources, formulas, structure and versions.</a:t>
            </a:r>
          </a:p>
        </p:txBody>
      </p:sp>
      <p:sp>
        <p:nvSpPr>
          <p:cNvPr id="14" name="Rectangle 13"/>
          <p:cNvSpPr/>
          <p:nvPr/>
        </p:nvSpPr>
        <p:spPr>
          <a:xfrm>
            <a:off x="4410456"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10456" y="4041648"/>
            <a:ext cx="343204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3336" y="4270248"/>
            <a:ext cx="3066288" cy="310896"/>
          </a:xfrm>
          <a:prstGeom prst="rect">
            <a:avLst/>
          </a:prstGeom>
          <a:noFill/>
        </p:spPr>
        <p:txBody>
          <a:bodyPr wrap="square" anchor="t">
            <a:spAutoFit/>
          </a:bodyPr>
          <a:lstStyle/>
          <a:p>
            <a:pPr algn="ctr">
              <a:spcAft>
                <a:spcPts val="400"/>
              </a:spcAft>
            </a:pPr>
            <a:r>
              <a:rPr sz="1200" b="1">
                <a:solidFill>
                  <a:srgbClr val="10B981"/>
                </a:solidFill>
                <a:latin typeface="Arial"/>
              </a:rPr>
              <a:t>RECONCILE</a:t>
            </a:r>
          </a:p>
        </p:txBody>
      </p:sp>
      <p:sp>
        <p:nvSpPr>
          <p:cNvPr id="17" name="TextBox 16"/>
          <p:cNvSpPr txBox="1"/>
          <p:nvPr/>
        </p:nvSpPr>
        <p:spPr>
          <a:xfrm>
            <a:off x="4611624"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Confirm every material figure or claim against the approved evidence location.</a:t>
            </a:r>
          </a:p>
        </p:txBody>
      </p:sp>
      <p:sp>
        <p:nvSpPr>
          <p:cNvPr id="18" name="Rectangle 17"/>
          <p:cNvSpPr/>
          <p:nvPr/>
        </p:nvSpPr>
        <p:spPr>
          <a:xfrm>
            <a:off x="8043672"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3672" y="4041648"/>
            <a:ext cx="343204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6552" y="4270248"/>
            <a:ext cx="3066288" cy="310896"/>
          </a:xfrm>
          <a:prstGeom prst="rect">
            <a:avLst/>
          </a:prstGeom>
          <a:noFill/>
        </p:spPr>
        <p:txBody>
          <a:bodyPr wrap="square" anchor="t">
            <a:spAutoFit/>
          </a:bodyPr>
          <a:lstStyle/>
          <a:p>
            <a:pPr algn="ctr">
              <a:spcAft>
                <a:spcPts val="400"/>
              </a:spcAft>
            </a:pPr>
            <a:r>
              <a:rPr sz="1200" b="1">
                <a:solidFill>
                  <a:srgbClr val="7C3AED"/>
                </a:solidFill>
                <a:latin typeface="Arial"/>
              </a:rPr>
              <a:t>ENDORSE</a:t>
            </a:r>
          </a:p>
        </p:txBody>
      </p:sp>
      <p:sp>
        <p:nvSpPr>
          <p:cNvPr id="21" name="TextBox 20"/>
          <p:cNvSpPr txBox="1"/>
          <p:nvPr/>
        </p:nvSpPr>
        <p:spPr>
          <a:xfrm>
            <a:off x="8244840"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Record the named reviewer before accepting, saving, releasing or sending the work.</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transition spd="med">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100" b="1">
                <a:solidFill>
                  <a:srgbClr val="161B26"/>
                </a:solidFill>
                <a:latin typeface="Arial"/>
              </a:rPr>
              <a:t>Recap — People Numbers and Reporting to Leadership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Capability — Build a headcount and cost analysis in Excel using live formulas, not typed-in numbers.</a:t>
            </a:r>
          </a:p>
        </p:txBody>
      </p:sp>
      <p:sp>
        <p:nvSpPr>
          <p:cNvPr id="12" name="Rectangle 11"/>
          <p:cNvSpPr/>
          <p:nvPr/>
        </p:nvSpPr>
        <p:spPr>
          <a:xfrm>
            <a:off x="6176772" y="1828800"/>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Evidence retained — An analysis sheet where every result is a formula that points back to the source data.</a:t>
            </a:r>
          </a:p>
        </p:txBody>
      </p:sp>
      <p:sp>
        <p:nvSpPr>
          <p:cNvPr id="17" name="Rectangle 16"/>
          <p:cNvSpPr/>
          <p:nvPr/>
        </p:nvSpPr>
        <p:spPr>
          <a:xfrm>
            <a:off x="777240" y="4059936"/>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Capability — Build the same deck twice — once with the PowerPoint panel and a pasted Excel chart, once with Claude Desktop reading both files — and judge which suits the job.</a:t>
            </a:r>
          </a:p>
        </p:txBody>
      </p:sp>
      <p:sp>
        <p:nvSpPr>
          <p:cNvPr id="22" name="Rectangle 21"/>
          <p:cNvSpPr/>
          <p:nvPr/>
        </p:nvSpPr>
        <p:spPr>
          <a:xfrm>
            <a:off x="6176772" y="4059936"/>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Evidence retained — Two versions of the same six-slide update: one built in the panel with a linked Excel chart, one built end to end by Claude Desktop.</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transition spd="med">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0B981"/>
                </a:solidFill>
                <a:latin typeface="Arial"/>
              </a:rPr>
              <a:t>TOPIC 04</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Staff Questions, Repeatable Work and Advanced Claude</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Sorting the HR inbox · one folder, one summary · the weekly update · Skills, connectors and plugins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04</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transition spd="med">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COURSE COVERAGE 23%</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1700" b="1">
                <a:solidFill>
                  <a:srgbClr val="161B26"/>
                </a:solidFill>
                <a:latin typeface="Arial"/>
              </a:rPr>
              <a:t>Key Concepts — Staff Questions, Repeatable Work and Advanced Claude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Sort staff messages by what each one needs: a reply from you, a decision from someone else, or nothing at all.</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Claude drafts the reply; you check the facts, the tone and the recipient, and you are the one who sends it.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Point Claude Desktop at one folder and it can pull a summary together from everything inside it.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When two files disagree, that disagreement is the finding. It is not Claude's job to settle it quietly.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Work you repeat every week is worth automating once, with a backup taken before anything is overwritten.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400" b="0">
                <a:solidFill>
                  <a:srgbClr val="161B26"/>
                </a:solidFill>
                <a:latin typeface="Arial"/>
              </a:rPr>
              <a:t>An automated update still needs a person to read it before it goes to anyone else.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transition spd="med">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1700" b="1">
                <a:solidFill>
                  <a:srgbClr val="161B26"/>
                </a:solidFill>
                <a:latin typeface="Arial"/>
              </a:rPr>
              <a:t>Hands-On Labs — Staff Questions, Repeatable Work and Advanced Claude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880360" cy="548640"/>
          </a:xfrm>
          <a:prstGeom prst="rect">
            <a:avLst/>
          </a:prstGeom>
          <a:noFill/>
        </p:spPr>
        <p:txBody>
          <a:bodyPr wrap="square" anchor="t">
            <a:spAutoFit/>
          </a:bodyPr>
          <a:lstStyle/>
          <a:p>
            <a:pPr algn="l">
              <a:spcAft>
                <a:spcPts val="400"/>
              </a:spcAft>
            </a:pPr>
            <a:r>
              <a:rPr sz="1900" b="1">
                <a:solidFill>
                  <a:srgbClr val="1F6FEB"/>
                </a:solidFill>
                <a:latin typeface="Arial"/>
              </a:rPr>
              <a:t>Labs 8–9, 15</a:t>
            </a:r>
          </a:p>
        </p:txBody>
      </p:sp>
      <p:sp>
        <p:nvSpPr>
          <p:cNvPr id="10" name="TextBox 9"/>
          <p:cNvSpPr txBox="1"/>
          <p:nvPr/>
        </p:nvSpPr>
        <p:spPr>
          <a:xfrm>
            <a:off x="1005840" y="2697480"/>
            <a:ext cx="2880360" cy="3108960"/>
          </a:xfrm>
          <a:prstGeom prst="rect">
            <a:avLst/>
          </a:prstGeom>
          <a:noFill/>
        </p:spPr>
        <p:txBody>
          <a:bodyPr wrap="square">
            <a:spAutoFit/>
          </a:bodyPr>
          <a:lstStyle/>
          <a:p>
            <a:pPr>
              <a:spcAft>
                <a:spcPts val="900"/>
              </a:spcAft>
            </a:pPr>
            <a:r>
              <a:rPr sz="1400" b="0">
                <a:solidFill>
                  <a:srgbClr val="161B26"/>
                </a:solidFill>
                <a:latin typeface="Arial"/>
              </a:rPr>
              <a:t>•  Use the Skill from Word Without Opening Excel — A completed quarterly update with figures drawn from the workbook, saved as a final copy.</a:t>
            </a:r>
          </a:p>
          <a:p>
            <a:pPr>
              <a:spcAft>
                <a:spcPts val="900"/>
              </a:spcAft>
            </a:pPr>
            <a:r>
              <a:rPr sz="1400" b="0">
                <a:solidFill>
                  <a:srgbClr val="161B26"/>
                </a:solidFill>
                <a:latin typeface="Arial"/>
              </a:rPr>
              <a:t>•  Sort the HR Inbox and Draft One Reply — Every message sorted, one reply drafted, the person who would approve it named, and the reply created as an Outlook draft ready for review.</a:t>
            </a:r>
          </a:p>
          <a:p>
            <a:pPr>
              <a:spcAft>
                <a:spcPts val="900"/>
              </a:spcAft>
            </a:pPr>
            <a:r>
              <a:rPr sz="1400" b="0">
                <a:solidFill>
                  <a:srgbClr val="161B26"/>
                </a:solidFill>
                <a:latin typeface="Arial"/>
              </a:rPr>
              <a:t>•  Read a Whole Folder and Write the Summary — A two-page people summary built only from the folder, naming the file behind every claim, with disagreements reported rather than settled.</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880360" cy="548640"/>
          </a:xfrm>
          <a:prstGeom prst="rect">
            <a:avLst/>
          </a:prstGeom>
          <a:noFill/>
        </p:spPr>
        <p:txBody>
          <a:bodyPr wrap="square" anchor="t">
            <a:spAutoFit/>
          </a:bodyPr>
          <a:lstStyle/>
          <a:p>
            <a:pPr algn="l">
              <a:spcAft>
                <a:spcPts val="400"/>
              </a:spcAft>
            </a:pPr>
            <a:r>
              <a:rPr sz="1900" b="1">
                <a:solidFill>
                  <a:srgbClr val="10B981"/>
                </a:solidFill>
                <a:latin typeface="Arial"/>
              </a:rPr>
              <a:t>Labs 10–12</a:t>
            </a:r>
          </a:p>
        </p:txBody>
      </p:sp>
      <p:sp>
        <p:nvSpPr>
          <p:cNvPr id="14" name="TextBox 13"/>
          <p:cNvSpPr txBox="1"/>
          <p:nvPr/>
        </p:nvSpPr>
        <p:spPr>
          <a:xfrm>
            <a:off x="4800600" y="2697480"/>
            <a:ext cx="2880360" cy="3108960"/>
          </a:xfrm>
          <a:prstGeom prst="rect">
            <a:avLst/>
          </a:prstGeom>
          <a:noFill/>
        </p:spPr>
        <p:txBody>
          <a:bodyPr wrap="square">
            <a:spAutoFit/>
          </a:bodyPr>
          <a:lstStyle/>
          <a:p>
            <a:pPr>
              <a:spcAft>
                <a:spcPts val="900"/>
              </a:spcAft>
            </a:pPr>
            <a:r>
              <a:rPr sz="1400" b="0">
                <a:solidFill>
                  <a:srgbClr val="161B26"/>
                </a:solidFill>
                <a:latin typeface="Arial"/>
              </a:rPr>
              <a:t>•  Build a Daily HR Routine with Cowork — A written daily routine covering inbox, reporting and chasing; this week's work assigned an owner and a deadline; and today's daily HR report.</a:t>
            </a:r>
          </a:p>
          <a:p>
            <a:pPr>
              <a:spcAft>
                <a:spcPts val="900"/>
              </a:spcAft>
            </a:pPr>
            <a:r>
              <a:rPr sz="1400" b="0">
                <a:solidFill>
                  <a:srgbClr val="161B26"/>
                </a:solidFill>
                <a:latin typeface="Arial"/>
              </a:rPr>
              <a:t>•  Automate an HR Pipeline with a Project — A Lumina Living HR project with materials and standing instructions, and a new starter pipeline run twice from it.</a:t>
            </a:r>
          </a:p>
          <a:p>
            <a:pPr>
              <a:spcAft>
                <a:spcPts val="900"/>
              </a:spcAft>
            </a:pPr>
            <a:r>
              <a:rPr sz="1400" b="0">
                <a:solidFill>
                  <a:srgbClr val="161B26"/>
                </a:solidFill>
                <a:latin typeface="Arial"/>
              </a:rPr>
              <a:t>•  Draft an Outlook Reply with Claude in Chrome — A reviewed reply drafted in Outlook on the web, sent only after you approved it or deliberately left in Drafts.</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880360" cy="548640"/>
          </a:xfrm>
          <a:prstGeom prst="rect">
            <a:avLst/>
          </a:prstGeom>
          <a:noFill/>
        </p:spPr>
        <p:txBody>
          <a:bodyPr wrap="square" anchor="t">
            <a:spAutoFit/>
          </a:bodyPr>
          <a:lstStyle/>
          <a:p>
            <a:pPr algn="l">
              <a:spcAft>
                <a:spcPts val="400"/>
              </a:spcAft>
            </a:pPr>
            <a:r>
              <a:rPr sz="1900" b="1">
                <a:solidFill>
                  <a:srgbClr val="7C3AED"/>
                </a:solidFill>
                <a:latin typeface="Arial"/>
              </a:rPr>
              <a:t>Labs 13–14</a:t>
            </a:r>
          </a:p>
        </p:txBody>
      </p:sp>
      <p:sp>
        <p:nvSpPr>
          <p:cNvPr id="18" name="TextBox 17"/>
          <p:cNvSpPr txBox="1"/>
          <p:nvPr/>
        </p:nvSpPr>
        <p:spPr>
          <a:xfrm>
            <a:off x="8595360" y="2697480"/>
            <a:ext cx="2880360" cy="3108960"/>
          </a:xfrm>
          <a:prstGeom prst="rect">
            <a:avLst/>
          </a:prstGeom>
          <a:noFill/>
        </p:spPr>
        <p:txBody>
          <a:bodyPr wrap="square">
            <a:spAutoFit/>
          </a:bodyPr>
          <a:lstStyle/>
          <a:p>
            <a:pPr>
              <a:spcAft>
                <a:spcPts val="900"/>
              </a:spcAft>
            </a:pPr>
            <a:r>
              <a:rPr sz="1400" b="0">
                <a:solidFill>
                  <a:srgbClr val="161B26"/>
                </a:solidFill>
                <a:latin typeface="Arial"/>
              </a:rPr>
              <a:t>•  Add Skills and Connectors to the Project — An HR project with materials, standing rules, a skill and a connector, running one request that produces a policy draft, a summary and an Outlook draft.</a:t>
            </a:r>
          </a:p>
          <a:p>
            <a:pPr>
              <a:spcAft>
                <a:spcPts val="900"/>
              </a:spcAft>
            </a:pPr>
            <a:r>
              <a:rPr sz="1400" b="0">
                <a:solidFill>
                  <a:srgbClr val="161B26"/>
                </a:solidFill>
                <a:latin typeface="Arial"/>
              </a:rPr>
              <a:t>•  Upload a Shared Skill for Slides — An uploaded deck-design-standard skill, and a rebuilt deck where every title states a conclusion.</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transition spd="med">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100" b="1">
                <a:solidFill>
                  <a:srgbClr val="161B26"/>
                </a:solidFill>
                <a:latin typeface="Arial"/>
              </a:rPr>
              <a:t>Use the Skill from Word Without Opening Excel</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15</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The quarterly update is due and the figures are in a workbook. One short line, and the skill reads the workbook, works the numbers out your way, and writes them into the update.</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completed quarterly update with figures drawn from the workbook, saved as a final copy.</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Claude Skills, Claude Desktop, Word, Excel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transition spd="med">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CONCEPT-TO-OUTCOME</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15 — Process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Figures in one file, words in another</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Desktop can see both</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One short line</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Check the figures</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Save the final copy</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transition spd="med">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KEY DECISIONS &amp; CONTROLS</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15 — Professional Practice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Across two apps</a:t>
            </a:r>
          </a:p>
          <a:p>
            <a:pPr algn="l">
              <a:spcAft>
                <a:spcPts val="300"/>
              </a:spcAft>
            </a:pPr>
            <a:r>
              <a:rPr sz="1200" b="0">
                <a:solidFill>
                  <a:srgbClr val="5B6372"/>
                </a:solidFill>
                <a:latin typeface="Arial"/>
              </a:rPr>
              <a:t>The skill reads Excel and writes Word without you switching.</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Panel versus Desktop</a:t>
            </a:r>
          </a:p>
          <a:p>
            <a:pPr algn="l">
              <a:spcAft>
                <a:spcPts val="300"/>
              </a:spcAft>
            </a:pPr>
            <a:r>
              <a:rPr sz="1200" b="0">
                <a:solidFill>
                  <a:srgbClr val="5B6372"/>
                </a:solidFill>
                <a:latin typeface="Arial"/>
              </a:rPr>
              <a:t>The Office panel sees one open file; Desktop sees the folder.</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One line is enough</a:t>
            </a:r>
          </a:p>
          <a:p>
            <a:pPr algn="l">
              <a:spcAft>
                <a:spcPts val="300"/>
              </a:spcAft>
            </a:pPr>
            <a:r>
              <a:rPr sz="1200" b="0">
                <a:solidFill>
                  <a:srgbClr val="5B6372"/>
                </a:solidFill>
                <a:latin typeface="Arial"/>
              </a:rPr>
              <a:t>Every rule lives in the skill, not in what you type.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Desktop hands you a copy</a:t>
            </a:r>
          </a:p>
          <a:p>
            <a:pPr algn="l">
              <a:spcAft>
                <a:spcPts val="300"/>
              </a:spcAft>
            </a:pPr>
            <a:r>
              <a:rPr sz="1200" b="0">
                <a:solidFill>
                  <a:srgbClr val="5B6372"/>
                </a:solidFill>
                <a:latin typeface="Arial"/>
              </a:rPr>
              <a:t>It does not edit your open file — save the copy deliberately.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transition spd="med">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15 · VERIFY</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100" b="1">
                <a:solidFill>
                  <a:srgbClr val="161B26"/>
                </a:solidFill>
                <a:latin typeface="Arial"/>
              </a:rPr>
              <a:t>Use the Skill from Word Without Opening Excel</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98480" cy="19202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084831"/>
            <a:ext cx="10012680" cy="384048"/>
          </a:xfrm>
          <a:prstGeom prst="rect">
            <a:avLst/>
          </a:prstGeom>
          <a:noFill/>
        </p:spPr>
        <p:txBody>
          <a:bodyPr wrap="square" anchor="t">
            <a:spAutoFit/>
          </a:bodyPr>
          <a:lstStyle/>
          <a:p>
            <a:pPr algn="l">
              <a:spcAft>
                <a:spcPts val="400"/>
              </a:spcAft>
            </a:pPr>
            <a:r>
              <a:rPr sz="1500" b="1">
                <a:solidFill>
                  <a:srgbClr val="127A3E"/>
                </a:solidFill>
                <a:latin typeface="Arial"/>
              </a:rPr>
              <a:t>✅  ACCEPTANCE CHECK</a:t>
            </a:r>
          </a:p>
        </p:txBody>
      </p:sp>
      <p:sp>
        <p:nvSpPr>
          <p:cNvPr id="9" name="TextBox 8"/>
          <p:cNvSpPr txBox="1"/>
          <p:nvPr/>
        </p:nvSpPr>
        <p:spPr>
          <a:xfrm>
            <a:off x="1051560" y="2615184"/>
            <a:ext cx="10012680" cy="932688"/>
          </a:xfrm>
          <a:prstGeom prst="rect">
            <a:avLst/>
          </a:prstGeom>
          <a:noFill/>
        </p:spPr>
        <p:txBody>
          <a:bodyPr wrap="square" anchor="ctr">
            <a:spAutoFit/>
          </a:bodyPr>
          <a:lstStyle/>
          <a:p>
            <a:pPr algn="l">
              <a:spcAft>
                <a:spcPts val="400"/>
              </a:spcAft>
            </a:pPr>
            <a:r>
              <a:rPr sz="1600" b="0">
                <a:solidFill>
                  <a:srgbClr val="161B26"/>
                </a:solidFill>
                <a:latin typeface="Arial"/>
              </a:rPr>
              <a:t>The update contains totals by team and the leaver rate to one decimal place, the worst team is named and explained, two figures were checked against the workbook by hand, and a file named Lumina-Living-Q1-Update-Final.docx exists in the folder.</a:t>
            </a:r>
          </a:p>
        </p:txBody>
      </p:sp>
      <p:sp>
        <p:nvSpPr>
          <p:cNvPr id="10" name="Rectangle 9"/>
          <p:cNvSpPr/>
          <p:nvPr/>
        </p:nvSpPr>
        <p:spPr>
          <a:xfrm>
            <a:off x="777240"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041648"/>
            <a:ext cx="343204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270248"/>
            <a:ext cx="3066288" cy="310896"/>
          </a:xfrm>
          <a:prstGeom prst="rect">
            <a:avLst/>
          </a:prstGeom>
          <a:noFill/>
        </p:spPr>
        <p:txBody>
          <a:bodyPr wrap="square" anchor="t">
            <a:spAutoFit/>
          </a:bodyPr>
          <a:lstStyle/>
          <a:p>
            <a:pPr algn="ctr">
              <a:spcAft>
                <a:spcPts val="400"/>
              </a:spcAft>
            </a:pPr>
            <a:r>
              <a:rPr sz="1200" b="1">
                <a:solidFill>
                  <a:srgbClr val="1F6FEB"/>
                </a:solidFill>
                <a:latin typeface="Arial"/>
              </a:rPr>
              <a:t>INSPECT</a:t>
            </a:r>
          </a:p>
        </p:txBody>
      </p:sp>
      <p:sp>
        <p:nvSpPr>
          <p:cNvPr id="13" name="TextBox 12"/>
          <p:cNvSpPr txBox="1"/>
          <p:nvPr/>
        </p:nvSpPr>
        <p:spPr>
          <a:xfrm>
            <a:off x="978408"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Open the native artifact and challenge its sources, formulas, structure and versions.</a:t>
            </a:r>
          </a:p>
        </p:txBody>
      </p:sp>
      <p:sp>
        <p:nvSpPr>
          <p:cNvPr id="14" name="Rectangle 13"/>
          <p:cNvSpPr/>
          <p:nvPr/>
        </p:nvSpPr>
        <p:spPr>
          <a:xfrm>
            <a:off x="4410456"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10456" y="4041648"/>
            <a:ext cx="343204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3336" y="4270248"/>
            <a:ext cx="3066288" cy="310896"/>
          </a:xfrm>
          <a:prstGeom prst="rect">
            <a:avLst/>
          </a:prstGeom>
          <a:noFill/>
        </p:spPr>
        <p:txBody>
          <a:bodyPr wrap="square" anchor="t">
            <a:spAutoFit/>
          </a:bodyPr>
          <a:lstStyle/>
          <a:p>
            <a:pPr algn="ctr">
              <a:spcAft>
                <a:spcPts val="400"/>
              </a:spcAft>
            </a:pPr>
            <a:r>
              <a:rPr sz="1200" b="1">
                <a:solidFill>
                  <a:srgbClr val="10B981"/>
                </a:solidFill>
                <a:latin typeface="Arial"/>
              </a:rPr>
              <a:t>RECONCILE</a:t>
            </a:r>
          </a:p>
        </p:txBody>
      </p:sp>
      <p:sp>
        <p:nvSpPr>
          <p:cNvPr id="17" name="TextBox 16"/>
          <p:cNvSpPr txBox="1"/>
          <p:nvPr/>
        </p:nvSpPr>
        <p:spPr>
          <a:xfrm>
            <a:off x="4611624"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Confirm every material figure or claim against the approved evidence location.</a:t>
            </a:r>
          </a:p>
        </p:txBody>
      </p:sp>
      <p:sp>
        <p:nvSpPr>
          <p:cNvPr id="18" name="Rectangle 17"/>
          <p:cNvSpPr/>
          <p:nvPr/>
        </p:nvSpPr>
        <p:spPr>
          <a:xfrm>
            <a:off x="8043672"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3672" y="4041648"/>
            <a:ext cx="343204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6552" y="4270248"/>
            <a:ext cx="3066288" cy="310896"/>
          </a:xfrm>
          <a:prstGeom prst="rect">
            <a:avLst/>
          </a:prstGeom>
          <a:noFill/>
        </p:spPr>
        <p:txBody>
          <a:bodyPr wrap="square" anchor="t">
            <a:spAutoFit/>
          </a:bodyPr>
          <a:lstStyle/>
          <a:p>
            <a:pPr algn="ctr">
              <a:spcAft>
                <a:spcPts val="400"/>
              </a:spcAft>
            </a:pPr>
            <a:r>
              <a:rPr sz="1200" b="1">
                <a:solidFill>
                  <a:srgbClr val="7C3AED"/>
                </a:solidFill>
                <a:latin typeface="Arial"/>
              </a:rPr>
              <a:t>ENDORSE</a:t>
            </a:r>
          </a:p>
        </p:txBody>
      </p:sp>
      <p:sp>
        <p:nvSpPr>
          <p:cNvPr id="21" name="TextBox 20"/>
          <p:cNvSpPr txBox="1"/>
          <p:nvPr/>
        </p:nvSpPr>
        <p:spPr>
          <a:xfrm>
            <a:off x="8244840"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Record the named reviewer before accepting, saving, releasing or sending the work.</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transition spd="med">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Sort the HR Inbox and Draft One Reply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8</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161B26"/>
                </a:solidFill>
                <a:latin typeface="Arial"/>
              </a:rPr>
              <a:t>Work through a set of fictional staff messages held in a local workbook. Claude sorts them by what each one needs and drafts one reply. Then the Microsoft 365 connector turns that reply into a real Outlook draft — which you review and send yourself.</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Every message sorted, one reply drafted, the person who would approve it named, and the reply created as an Outlook draft ready for review.</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Claude for Outlook beta, Outlook categories, thread citations, reply templates, calendar, approval queue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transition spd="med">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CONCEPT-TO-OUTCOME</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8 — Process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Classify</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Summarise with citations</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Select approved template</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Draft in native form</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Review recipients and send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transition spd="med">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KEY DECISIONS &amp; CONTROLS</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8 — Professional Practice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Rules before generation</a:t>
            </a:r>
          </a:p>
          <a:p>
            <a:pPr algn="l">
              <a:spcAft>
                <a:spcPts val="300"/>
              </a:spcAft>
            </a:pPr>
            <a:r>
              <a:rPr sz="1200" b="0">
                <a:solidFill>
                  <a:srgbClr val="5B6372"/>
                </a:solidFill>
                <a:latin typeface="Arial"/>
              </a:rPr>
              <a:t>Define category, priority, SLA, reply eligibility and escalation before asking Claude to draft.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Thread evidence</a:t>
            </a:r>
          </a:p>
          <a:p>
            <a:pPr algn="l">
              <a:spcAft>
                <a:spcPts val="300"/>
              </a:spcAft>
            </a:pPr>
            <a:r>
              <a:rPr sz="1200" b="0">
                <a:solidFill>
                  <a:srgbClr val="5B6372"/>
                </a:solidFill>
                <a:latin typeface="Arial"/>
              </a:rPr>
              <a:t>Capture decisions, owners and deadlines with citations to the specific message.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Auto-draft, not auto-send</a:t>
            </a:r>
          </a:p>
          <a:p>
            <a:pPr algn="l">
              <a:spcAft>
                <a:spcPts val="300"/>
              </a:spcAft>
            </a:pPr>
            <a:r>
              <a:rPr sz="1200" b="0">
                <a:solidFill>
                  <a:srgbClr val="5B6372"/>
                </a:solidFill>
                <a:latin typeface="Arial"/>
              </a:rPr>
              <a:t>Claude for Outlook leaves drafts and invitations in Outlook for the authorised user.</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Consequential details</a:t>
            </a:r>
          </a:p>
          <a:p>
            <a:pPr algn="l">
              <a:spcAft>
                <a:spcPts val="300"/>
              </a:spcAft>
            </a:pPr>
            <a:r>
              <a:rPr sz="1200" b="0">
                <a:solidFill>
                  <a:srgbClr val="5B6372"/>
                </a:solidFill>
                <a:latin typeface="Arial"/>
              </a:rPr>
              <a:t>Recipients, attachments, dates, amounts and promises receive explicit human checks.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transition spd="med">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8 · VERIFY</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Sort the HR Inbox and Draft One Reply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98480" cy="19202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084831"/>
            <a:ext cx="10012680" cy="384048"/>
          </a:xfrm>
          <a:prstGeom prst="rect">
            <a:avLst/>
          </a:prstGeom>
          <a:noFill/>
        </p:spPr>
        <p:txBody>
          <a:bodyPr wrap="square" anchor="t">
            <a:spAutoFit/>
          </a:bodyPr>
          <a:lstStyle/>
          <a:p>
            <a:pPr algn="l">
              <a:spcAft>
                <a:spcPts val="400"/>
              </a:spcAft>
            </a:pPr>
            <a:r>
              <a:rPr sz="1500" b="1">
                <a:solidFill>
                  <a:srgbClr val="127A3E"/>
                </a:solidFill>
                <a:latin typeface="Arial"/>
              </a:rPr>
              <a:t>✅  ACCEPTANCE CHECK</a:t>
            </a:r>
          </a:p>
        </p:txBody>
      </p:sp>
      <p:sp>
        <p:nvSpPr>
          <p:cNvPr id="9" name="TextBox 8"/>
          <p:cNvSpPr txBox="1"/>
          <p:nvPr/>
        </p:nvSpPr>
        <p:spPr>
          <a:xfrm>
            <a:off x="1051560" y="2615184"/>
            <a:ext cx="10012680" cy="932688"/>
          </a:xfrm>
          <a:prstGeom prst="rect">
            <a:avLst/>
          </a:prstGeom>
          <a:noFill/>
        </p:spPr>
        <p:txBody>
          <a:bodyPr wrap="square" anchor="ctr">
            <a:spAutoFit/>
          </a:bodyPr>
          <a:lstStyle/>
          <a:p>
            <a:pPr algn="l">
              <a:spcAft>
                <a:spcPts val="400"/>
              </a:spcAft>
            </a:pPr>
            <a:r>
              <a:rPr sz="1600" b="0">
                <a:solidFill>
                  <a:srgbClr val="161B26"/>
                </a:solidFill>
                <a:latin typeface="Arial"/>
              </a:rPr>
              <a:t>Every message has an answer in the Action column, one reply under 120 words is written in the Draft_Reply column, its approver is named, and the reply exists as an unsent draft in Outlook or the connector state is recorded. Nothing was sent.</a:t>
            </a:r>
          </a:p>
        </p:txBody>
      </p:sp>
      <p:sp>
        <p:nvSpPr>
          <p:cNvPr id="10" name="Rectangle 9"/>
          <p:cNvSpPr/>
          <p:nvPr/>
        </p:nvSpPr>
        <p:spPr>
          <a:xfrm>
            <a:off x="777240"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041648"/>
            <a:ext cx="343204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270248"/>
            <a:ext cx="3066288" cy="310896"/>
          </a:xfrm>
          <a:prstGeom prst="rect">
            <a:avLst/>
          </a:prstGeom>
          <a:noFill/>
        </p:spPr>
        <p:txBody>
          <a:bodyPr wrap="square" anchor="t">
            <a:spAutoFit/>
          </a:bodyPr>
          <a:lstStyle/>
          <a:p>
            <a:pPr algn="ctr">
              <a:spcAft>
                <a:spcPts val="400"/>
              </a:spcAft>
            </a:pPr>
            <a:r>
              <a:rPr sz="1200" b="1">
                <a:solidFill>
                  <a:srgbClr val="1F6FEB"/>
                </a:solidFill>
                <a:latin typeface="Arial"/>
              </a:rPr>
              <a:t>INSPECT</a:t>
            </a:r>
          </a:p>
        </p:txBody>
      </p:sp>
      <p:sp>
        <p:nvSpPr>
          <p:cNvPr id="13" name="TextBox 12"/>
          <p:cNvSpPr txBox="1"/>
          <p:nvPr/>
        </p:nvSpPr>
        <p:spPr>
          <a:xfrm>
            <a:off x="978408"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Open the native artifact and challenge its sources, formulas, structure and versions.</a:t>
            </a:r>
          </a:p>
        </p:txBody>
      </p:sp>
      <p:sp>
        <p:nvSpPr>
          <p:cNvPr id="14" name="Rectangle 13"/>
          <p:cNvSpPr/>
          <p:nvPr/>
        </p:nvSpPr>
        <p:spPr>
          <a:xfrm>
            <a:off x="4410456"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10456" y="4041648"/>
            <a:ext cx="343204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3336" y="4270248"/>
            <a:ext cx="3066288" cy="310896"/>
          </a:xfrm>
          <a:prstGeom prst="rect">
            <a:avLst/>
          </a:prstGeom>
          <a:noFill/>
        </p:spPr>
        <p:txBody>
          <a:bodyPr wrap="square" anchor="t">
            <a:spAutoFit/>
          </a:bodyPr>
          <a:lstStyle/>
          <a:p>
            <a:pPr algn="ctr">
              <a:spcAft>
                <a:spcPts val="400"/>
              </a:spcAft>
            </a:pPr>
            <a:r>
              <a:rPr sz="1200" b="1">
                <a:solidFill>
                  <a:srgbClr val="10B981"/>
                </a:solidFill>
                <a:latin typeface="Arial"/>
              </a:rPr>
              <a:t>RECONCILE</a:t>
            </a:r>
          </a:p>
        </p:txBody>
      </p:sp>
      <p:sp>
        <p:nvSpPr>
          <p:cNvPr id="17" name="TextBox 16"/>
          <p:cNvSpPr txBox="1"/>
          <p:nvPr/>
        </p:nvSpPr>
        <p:spPr>
          <a:xfrm>
            <a:off x="4611624"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Confirm every material figure or claim against the approved evidence location.</a:t>
            </a:r>
          </a:p>
        </p:txBody>
      </p:sp>
      <p:sp>
        <p:nvSpPr>
          <p:cNvPr id="18" name="Rectangle 17"/>
          <p:cNvSpPr/>
          <p:nvPr/>
        </p:nvSpPr>
        <p:spPr>
          <a:xfrm>
            <a:off x="8043672"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3672" y="4041648"/>
            <a:ext cx="343204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6552" y="4270248"/>
            <a:ext cx="3066288" cy="310896"/>
          </a:xfrm>
          <a:prstGeom prst="rect">
            <a:avLst/>
          </a:prstGeom>
          <a:noFill/>
        </p:spPr>
        <p:txBody>
          <a:bodyPr wrap="square" anchor="t">
            <a:spAutoFit/>
          </a:bodyPr>
          <a:lstStyle/>
          <a:p>
            <a:pPr algn="ctr">
              <a:spcAft>
                <a:spcPts val="400"/>
              </a:spcAft>
            </a:pPr>
            <a:r>
              <a:rPr sz="1200" b="1">
                <a:solidFill>
                  <a:srgbClr val="7C3AED"/>
                </a:solidFill>
                <a:latin typeface="Arial"/>
              </a:rPr>
              <a:t>ENDORSE</a:t>
            </a:r>
          </a:p>
        </p:txBody>
      </p:sp>
      <p:sp>
        <p:nvSpPr>
          <p:cNvPr id="21" name="TextBox 20"/>
          <p:cNvSpPr txBox="1"/>
          <p:nvPr/>
        </p:nvSpPr>
        <p:spPr>
          <a:xfrm>
            <a:off x="8244840"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Record the named reviewer before accepting, saving, releasing or sending the work.</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transition spd="med">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100" b="1">
                <a:solidFill>
                  <a:srgbClr val="161B26"/>
                </a:solidFill>
                <a:latin typeface="Arial"/>
              </a:rPr>
              <a:t>Read a Whole Folder and Write the Summary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9</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161B26"/>
                </a:solidFill>
                <a:latin typeface="Arial"/>
              </a:rPr>
              <a:t>A quarter's worth of HR reports sits in one folder as PDFs, with a CSV of the numbers. No single file answers the question. Claude reads them all and writes one summary, naming the file behind every claim.</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two-page people summary built only from the folder, naming the file behind every claim, with disagreements reported rather than settled.</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Claude Cowork, work folder, Projects, plugins, Microsoft 365 connector, multi-step execution, approvals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transition spd="med">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CONCEPT-TO-OUTCOME</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9 — Process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Scope the folder</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Connect approved context</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Plan the task</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Watch and steer</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Review files in Microsoft 365</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transition spd="med">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KEY DECISIONS &amp; CONTROLS</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9 — Professional Practice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Bounded workspace</a:t>
            </a:r>
          </a:p>
          <a:p>
            <a:pPr algn="l">
              <a:spcAft>
                <a:spcPts val="300"/>
              </a:spcAft>
            </a:pPr>
            <a:r>
              <a:rPr sz="1200" b="0">
                <a:solidFill>
                  <a:srgbClr val="5B6372"/>
                </a:solidFill>
                <a:latin typeface="Arial"/>
              </a:rPr>
              <a:t>Give Cowork one project folder or Project, not uncontrolled access to unrelated files.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Connector supplies context</a:t>
            </a:r>
          </a:p>
          <a:p>
            <a:pPr algn="l">
              <a:spcAft>
                <a:spcPts val="300"/>
              </a:spcAft>
            </a:pPr>
            <a:r>
              <a:rPr sz="1200" b="0">
                <a:solidFill>
                  <a:srgbClr val="5B6372"/>
                </a:solidFill>
                <a:latin typeface="Arial"/>
              </a:rPr>
              <a:t>Search approved SharePoint, OneDrive, Outlook and Teams evidence through delegated permissions.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Cowork executes over steps</a:t>
            </a:r>
          </a:p>
          <a:p>
            <a:pPr algn="l">
              <a:spcAft>
                <a:spcPts val="300"/>
              </a:spcAft>
            </a:pPr>
            <a:r>
              <a:rPr sz="1200" b="0">
                <a:solidFill>
                  <a:srgbClr val="5B6372"/>
                </a:solidFill>
                <a:latin typeface="Arial"/>
              </a:rPr>
              <a:t>It can inspect inputs, create real files, update the plan and surface checkpoints.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Office add-ins finish the work</a:t>
            </a:r>
          </a:p>
          <a:p>
            <a:pPr algn="l">
              <a:spcAft>
                <a:spcPts val="300"/>
              </a:spcAft>
            </a:pPr>
            <a:r>
              <a:rPr sz="1200" b="0">
                <a:solidFill>
                  <a:srgbClr val="5B6372"/>
                </a:solidFill>
                <a:latin typeface="Arial"/>
              </a:rPr>
              <a:t>Open generated Word, Excel and PowerPoint files in the native apps for tracked review and approval.</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transition spd="med">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9 · VERIFY</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100" b="1">
                <a:solidFill>
                  <a:srgbClr val="161B26"/>
                </a:solidFill>
                <a:latin typeface="Arial"/>
              </a:rPr>
              <a:t>Read a Whole Folder and Write the Summary</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98480" cy="19202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084831"/>
            <a:ext cx="10012680" cy="384048"/>
          </a:xfrm>
          <a:prstGeom prst="rect">
            <a:avLst/>
          </a:prstGeom>
          <a:noFill/>
        </p:spPr>
        <p:txBody>
          <a:bodyPr wrap="square" anchor="t">
            <a:spAutoFit/>
          </a:bodyPr>
          <a:lstStyle/>
          <a:p>
            <a:pPr algn="l">
              <a:spcAft>
                <a:spcPts val="400"/>
              </a:spcAft>
            </a:pPr>
            <a:r>
              <a:rPr sz="1500" b="1">
                <a:solidFill>
                  <a:srgbClr val="127A3E"/>
                </a:solidFill>
                <a:latin typeface="Arial"/>
              </a:rPr>
              <a:t>✅  ACCEPTANCE CHECK</a:t>
            </a:r>
          </a:p>
        </p:txBody>
      </p:sp>
      <p:sp>
        <p:nvSpPr>
          <p:cNvPr id="9" name="TextBox 8"/>
          <p:cNvSpPr txBox="1"/>
          <p:nvPr/>
        </p:nvSpPr>
        <p:spPr>
          <a:xfrm>
            <a:off x="1051560" y="2615184"/>
            <a:ext cx="10012680" cy="932688"/>
          </a:xfrm>
          <a:prstGeom prst="rect">
            <a:avLst/>
          </a:prstGeom>
          <a:noFill/>
        </p:spPr>
        <p:txBody>
          <a:bodyPr wrap="square" anchor="ctr">
            <a:spAutoFit/>
          </a:bodyPr>
          <a:lstStyle/>
          <a:p>
            <a:pPr algn="l">
              <a:spcAft>
                <a:spcPts val="400"/>
              </a:spcAft>
            </a:pPr>
            <a:r>
              <a:rPr sz="1600" b="0">
                <a:solidFill>
                  <a:srgbClr val="161B26"/>
                </a:solidFill>
                <a:latin typeface="Arial"/>
              </a:rPr>
              <a:t>The summary covers headcount against plan, why people are leaving and the hiring pipeline; every claim names its file; the disagreement between the headcount report and the CSV is reported with both figures; two figures were checked by hand; and the closing note says what still needs the Head of HR to confirm.</a:t>
            </a:r>
          </a:p>
        </p:txBody>
      </p:sp>
      <p:sp>
        <p:nvSpPr>
          <p:cNvPr id="10" name="Rectangle 9"/>
          <p:cNvSpPr/>
          <p:nvPr/>
        </p:nvSpPr>
        <p:spPr>
          <a:xfrm>
            <a:off x="777240"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041648"/>
            <a:ext cx="343204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270248"/>
            <a:ext cx="3066288" cy="310896"/>
          </a:xfrm>
          <a:prstGeom prst="rect">
            <a:avLst/>
          </a:prstGeom>
          <a:noFill/>
        </p:spPr>
        <p:txBody>
          <a:bodyPr wrap="square" anchor="t">
            <a:spAutoFit/>
          </a:bodyPr>
          <a:lstStyle/>
          <a:p>
            <a:pPr algn="ctr">
              <a:spcAft>
                <a:spcPts val="400"/>
              </a:spcAft>
            </a:pPr>
            <a:r>
              <a:rPr sz="1200" b="1">
                <a:solidFill>
                  <a:srgbClr val="1F6FEB"/>
                </a:solidFill>
                <a:latin typeface="Arial"/>
              </a:rPr>
              <a:t>INSPECT</a:t>
            </a:r>
          </a:p>
        </p:txBody>
      </p:sp>
      <p:sp>
        <p:nvSpPr>
          <p:cNvPr id="13" name="TextBox 12"/>
          <p:cNvSpPr txBox="1"/>
          <p:nvPr/>
        </p:nvSpPr>
        <p:spPr>
          <a:xfrm>
            <a:off x="978408"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Open the native artifact and challenge its sources, formulas, structure and versions.</a:t>
            </a:r>
          </a:p>
        </p:txBody>
      </p:sp>
      <p:sp>
        <p:nvSpPr>
          <p:cNvPr id="14" name="Rectangle 13"/>
          <p:cNvSpPr/>
          <p:nvPr/>
        </p:nvSpPr>
        <p:spPr>
          <a:xfrm>
            <a:off x="4410456"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10456" y="4041648"/>
            <a:ext cx="343204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3336" y="4270248"/>
            <a:ext cx="3066288" cy="310896"/>
          </a:xfrm>
          <a:prstGeom prst="rect">
            <a:avLst/>
          </a:prstGeom>
          <a:noFill/>
        </p:spPr>
        <p:txBody>
          <a:bodyPr wrap="square" anchor="t">
            <a:spAutoFit/>
          </a:bodyPr>
          <a:lstStyle/>
          <a:p>
            <a:pPr algn="ctr">
              <a:spcAft>
                <a:spcPts val="400"/>
              </a:spcAft>
            </a:pPr>
            <a:r>
              <a:rPr sz="1200" b="1">
                <a:solidFill>
                  <a:srgbClr val="10B981"/>
                </a:solidFill>
                <a:latin typeface="Arial"/>
              </a:rPr>
              <a:t>RECONCILE</a:t>
            </a:r>
          </a:p>
        </p:txBody>
      </p:sp>
      <p:sp>
        <p:nvSpPr>
          <p:cNvPr id="17" name="TextBox 16"/>
          <p:cNvSpPr txBox="1"/>
          <p:nvPr/>
        </p:nvSpPr>
        <p:spPr>
          <a:xfrm>
            <a:off x="4611624"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Confirm every material figure or claim against the approved evidence location.</a:t>
            </a:r>
          </a:p>
        </p:txBody>
      </p:sp>
      <p:sp>
        <p:nvSpPr>
          <p:cNvPr id="18" name="Rectangle 17"/>
          <p:cNvSpPr/>
          <p:nvPr/>
        </p:nvSpPr>
        <p:spPr>
          <a:xfrm>
            <a:off x="8043672"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3672" y="4041648"/>
            <a:ext cx="343204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6552" y="4270248"/>
            <a:ext cx="3066288" cy="310896"/>
          </a:xfrm>
          <a:prstGeom prst="rect">
            <a:avLst/>
          </a:prstGeom>
          <a:noFill/>
        </p:spPr>
        <p:txBody>
          <a:bodyPr wrap="square" anchor="t">
            <a:spAutoFit/>
          </a:bodyPr>
          <a:lstStyle/>
          <a:p>
            <a:pPr algn="ctr">
              <a:spcAft>
                <a:spcPts val="400"/>
              </a:spcAft>
            </a:pPr>
            <a:r>
              <a:rPr sz="1200" b="1">
                <a:solidFill>
                  <a:srgbClr val="7C3AED"/>
                </a:solidFill>
                <a:latin typeface="Arial"/>
              </a:rPr>
              <a:t>ENDORSE</a:t>
            </a:r>
          </a:p>
        </p:txBody>
      </p:sp>
      <p:sp>
        <p:nvSpPr>
          <p:cNvPr id="21" name="TextBox 20"/>
          <p:cNvSpPr txBox="1"/>
          <p:nvPr/>
        </p:nvSpPr>
        <p:spPr>
          <a:xfrm>
            <a:off x="8244840"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Record the named reviewer before accepting, saving, releasing or sending the work.</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transition spd="med">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Build a Daily HR Routine with Cowork</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Ten things landed on the HR desk this week. Cowork finds what actually repeats, writes a daily routine, applies it back to the week, and produces the Monday brief. No terminal, no scripts.</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written daily routine covering inbox, reporting and chasing; this week's work assigned an owner and a deadline; and today's daily HR report.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Claude Cowork, Claude Desktop, Excel, Word</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transition spd="med">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11 · SCREENSHOT</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Scheduled Tasks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421683" y="1792224"/>
            <a:ext cx="7348329" cy="420624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laude-scheduled-tasks.png"/>
          <p:cNvPicPr>
            <a:picLocks noChangeAspect="1"/>
          </p:cNvPicPr>
          <p:nvPr/>
        </p:nvPicPr>
        <p:blipFill>
          <a:blip r:embed="rId2"/>
          <a:stretch>
            <a:fillRect/>
          </a:stretch>
        </p:blipFill>
        <p:spPr>
          <a:xfrm>
            <a:off x="2476547" y="1847088"/>
            <a:ext cx="7238601" cy="4096512"/>
          </a:xfrm>
          <a:prstGeom prst="rect">
            <a:avLst/>
          </a:prstGeom>
        </p:spPr>
      </p:pic>
      <p:sp>
        <p:nvSpPr>
          <p:cNvPr id="9" name="TextBox 8"/>
          <p:cNvSpPr txBox="1"/>
          <p:nvPr/>
        </p:nvSpPr>
        <p:spPr>
          <a:xfrm>
            <a:off x="777240" y="5879592"/>
            <a:ext cx="10607040" cy="493776"/>
          </a:xfrm>
          <a:prstGeom prst="rect">
            <a:avLst/>
          </a:prstGeom>
          <a:noFill/>
        </p:spPr>
        <p:txBody>
          <a:bodyPr wrap="square" anchor="ctr">
            <a:spAutoFit/>
          </a:bodyPr>
          <a:lstStyle/>
          <a:p>
            <a:pPr algn="ctr">
              <a:spcAft>
                <a:spcPts val="400"/>
              </a:spcAft>
            </a:pPr>
            <a:r>
              <a:rPr sz="1050" b="0">
                <a:solidFill>
                  <a:srgbClr val="5B6372"/>
                </a:solidFill>
                <a:latin typeface="Arial"/>
              </a:rPr>
              <a:t>Claude Desktop &gt; Scheduled. Daily brief and Weekly review are ready-made task types; New task builds your own. Delete a task when the class ends.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transition spd="med">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CONCEPT-TO-OUTCOME</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11 — Process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 week of scattered work</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Find what repeats</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Write the routine</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Apply it to the week</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Run it: today's report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transition spd="med">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KEY DECISIONS &amp; CONTROLS</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11 — Professional Practice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Cowork works across files</a:t>
            </a:r>
          </a:p>
          <a:p>
            <a:pPr algn="l">
              <a:spcAft>
                <a:spcPts val="300"/>
              </a:spcAft>
            </a:pPr>
            <a:r>
              <a:rPr sz="1200" b="0">
                <a:solidFill>
                  <a:srgbClr val="5B6372"/>
                </a:solidFill>
                <a:latin typeface="Arial"/>
              </a:rPr>
              <a:t>Give it a folder and it moves between the workbook and the documents on its own.</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Routine beats memory</a:t>
            </a:r>
          </a:p>
          <a:p>
            <a:pPr algn="l">
              <a:spcAft>
                <a:spcPts val="300"/>
              </a:spcAft>
            </a:pPr>
            <a:r>
              <a:rPr sz="1200" b="0">
                <a:solidFill>
                  <a:srgbClr val="5B6372"/>
                </a:solidFill>
                <a:latin typeface="Arial"/>
              </a:rPr>
              <a:t>Work that repeats every week should not depend on someone remembering it.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Gaps are findings</a:t>
            </a:r>
          </a:p>
          <a:p>
            <a:pPr algn="l">
              <a:spcAft>
                <a:spcPts val="300"/>
              </a:spcAft>
            </a:pPr>
            <a:r>
              <a:rPr sz="1200" b="0">
                <a:solidFill>
                  <a:srgbClr val="5B6372"/>
                </a:solidFill>
                <a:latin typeface="Arial"/>
              </a:rPr>
              <a:t>If the routine cannot place a task, that is a hole in the routine, not a mistake to paper over.</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 person still reads it</a:t>
            </a:r>
          </a:p>
          <a:p>
            <a:pPr algn="l">
              <a:spcAft>
                <a:spcPts val="300"/>
              </a:spcAft>
            </a:pPr>
            <a:r>
              <a:rPr sz="1200" b="0">
                <a:solidFill>
                  <a:srgbClr val="5B6372"/>
                </a:solidFill>
                <a:latin typeface="Arial"/>
              </a:rPr>
              <a:t>The brief goes nowhere until the Head of HR has seen it.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transition spd="med">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11 · VERIFY</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Build a Daily HR Routine with Cowork</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98480" cy="19202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084831"/>
            <a:ext cx="10012680" cy="384048"/>
          </a:xfrm>
          <a:prstGeom prst="rect">
            <a:avLst/>
          </a:prstGeom>
          <a:noFill/>
        </p:spPr>
        <p:txBody>
          <a:bodyPr wrap="square" anchor="t">
            <a:spAutoFit/>
          </a:bodyPr>
          <a:lstStyle/>
          <a:p>
            <a:pPr algn="l">
              <a:spcAft>
                <a:spcPts val="400"/>
              </a:spcAft>
            </a:pPr>
            <a:r>
              <a:rPr sz="1500" b="1">
                <a:solidFill>
                  <a:srgbClr val="127A3E"/>
                </a:solidFill>
                <a:latin typeface="Arial"/>
              </a:rPr>
              <a:t>✅  ACCEPTANCE CHECK</a:t>
            </a:r>
          </a:p>
        </p:txBody>
      </p:sp>
      <p:sp>
        <p:nvSpPr>
          <p:cNvPr id="9" name="TextBox 8"/>
          <p:cNvSpPr txBox="1"/>
          <p:nvPr/>
        </p:nvSpPr>
        <p:spPr>
          <a:xfrm>
            <a:off x="1051560" y="2615184"/>
            <a:ext cx="10012680" cy="932688"/>
          </a:xfrm>
          <a:prstGeom prst="rect">
            <a:avLst/>
          </a:prstGeom>
          <a:noFill/>
        </p:spPr>
        <p:txBody>
          <a:bodyPr wrap="square" anchor="ctr">
            <a:spAutoFit/>
          </a:bodyPr>
          <a:lstStyle/>
          <a:p>
            <a:pPr algn="l">
              <a:spcAft>
                <a:spcPts val="400"/>
              </a:spcAft>
            </a:pPr>
            <a:r>
              <a:rPr sz="1600" b="0">
                <a:solidFill>
                  <a:srgbClr val="161B26"/>
                </a:solidFill>
                <a:latin typeface="Arial"/>
              </a:rPr>
              <a:t>The Daily_Routine sheet covers checking the inbox, the daily report and chasing overdue items, each with when, what, where and who. Every row of This_Week has an action, an owner and a deadline, or is marked as not covered. Lumina-Living-Daily-HR-Report.docx exists, fits one page, and names the row behind every item.</a:t>
            </a:r>
          </a:p>
        </p:txBody>
      </p:sp>
      <p:sp>
        <p:nvSpPr>
          <p:cNvPr id="10" name="Rectangle 9"/>
          <p:cNvSpPr/>
          <p:nvPr/>
        </p:nvSpPr>
        <p:spPr>
          <a:xfrm>
            <a:off x="777240"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041648"/>
            <a:ext cx="343204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270248"/>
            <a:ext cx="3066288" cy="310896"/>
          </a:xfrm>
          <a:prstGeom prst="rect">
            <a:avLst/>
          </a:prstGeom>
          <a:noFill/>
        </p:spPr>
        <p:txBody>
          <a:bodyPr wrap="square" anchor="t">
            <a:spAutoFit/>
          </a:bodyPr>
          <a:lstStyle/>
          <a:p>
            <a:pPr algn="ctr">
              <a:spcAft>
                <a:spcPts val="400"/>
              </a:spcAft>
            </a:pPr>
            <a:r>
              <a:rPr sz="1200" b="1">
                <a:solidFill>
                  <a:srgbClr val="1F6FEB"/>
                </a:solidFill>
                <a:latin typeface="Arial"/>
              </a:rPr>
              <a:t>INSPECT</a:t>
            </a:r>
          </a:p>
        </p:txBody>
      </p:sp>
      <p:sp>
        <p:nvSpPr>
          <p:cNvPr id="13" name="TextBox 12"/>
          <p:cNvSpPr txBox="1"/>
          <p:nvPr/>
        </p:nvSpPr>
        <p:spPr>
          <a:xfrm>
            <a:off x="978408"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Open the native artifact and challenge its sources, formulas, structure and versions.</a:t>
            </a:r>
          </a:p>
        </p:txBody>
      </p:sp>
      <p:sp>
        <p:nvSpPr>
          <p:cNvPr id="14" name="Rectangle 13"/>
          <p:cNvSpPr/>
          <p:nvPr/>
        </p:nvSpPr>
        <p:spPr>
          <a:xfrm>
            <a:off x="4410456"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10456" y="4041648"/>
            <a:ext cx="343204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3336" y="4270248"/>
            <a:ext cx="3066288" cy="310896"/>
          </a:xfrm>
          <a:prstGeom prst="rect">
            <a:avLst/>
          </a:prstGeom>
          <a:noFill/>
        </p:spPr>
        <p:txBody>
          <a:bodyPr wrap="square" anchor="t">
            <a:spAutoFit/>
          </a:bodyPr>
          <a:lstStyle/>
          <a:p>
            <a:pPr algn="ctr">
              <a:spcAft>
                <a:spcPts val="400"/>
              </a:spcAft>
            </a:pPr>
            <a:r>
              <a:rPr sz="1200" b="1">
                <a:solidFill>
                  <a:srgbClr val="10B981"/>
                </a:solidFill>
                <a:latin typeface="Arial"/>
              </a:rPr>
              <a:t>RECONCILE</a:t>
            </a:r>
          </a:p>
        </p:txBody>
      </p:sp>
      <p:sp>
        <p:nvSpPr>
          <p:cNvPr id="17" name="TextBox 16"/>
          <p:cNvSpPr txBox="1"/>
          <p:nvPr/>
        </p:nvSpPr>
        <p:spPr>
          <a:xfrm>
            <a:off x="4611624"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Confirm every material figure or claim against the approved evidence location.</a:t>
            </a:r>
          </a:p>
        </p:txBody>
      </p:sp>
      <p:sp>
        <p:nvSpPr>
          <p:cNvPr id="18" name="Rectangle 17"/>
          <p:cNvSpPr/>
          <p:nvPr/>
        </p:nvSpPr>
        <p:spPr>
          <a:xfrm>
            <a:off x="8043672"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3672" y="4041648"/>
            <a:ext cx="343204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6552" y="4270248"/>
            <a:ext cx="3066288" cy="310896"/>
          </a:xfrm>
          <a:prstGeom prst="rect">
            <a:avLst/>
          </a:prstGeom>
          <a:noFill/>
        </p:spPr>
        <p:txBody>
          <a:bodyPr wrap="square" anchor="t">
            <a:spAutoFit/>
          </a:bodyPr>
          <a:lstStyle/>
          <a:p>
            <a:pPr algn="ctr">
              <a:spcAft>
                <a:spcPts val="400"/>
              </a:spcAft>
            </a:pPr>
            <a:r>
              <a:rPr sz="1200" b="1">
                <a:solidFill>
                  <a:srgbClr val="7C3AED"/>
                </a:solidFill>
                <a:latin typeface="Arial"/>
              </a:rPr>
              <a:t>ENDORSE</a:t>
            </a:r>
          </a:p>
        </p:txBody>
      </p:sp>
      <p:sp>
        <p:nvSpPr>
          <p:cNvPr id="21" name="TextBox 20"/>
          <p:cNvSpPr txBox="1"/>
          <p:nvPr/>
        </p:nvSpPr>
        <p:spPr>
          <a:xfrm>
            <a:off x="8244840"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Record the named reviewer before accepting, saving, releasing or sending the work.</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transition spd="med">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Automate an HR Pipeline with a Project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A project keeps the policy library, the staff data and the house rules in one workspace. Set it up once, then run the new starter pipeline twice without attaching a file or restating a rule.</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Lumina Living HR project with materials and standing instructions, and a new starter pipeline run twice from it.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Claude Projects, Claude Desktop, project instructions, uploaded materials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p:transition spd="med">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12 · SCREENSHOT</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Projects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446032" y="1792224"/>
            <a:ext cx="7299631" cy="420624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laude-projects.png"/>
          <p:cNvPicPr>
            <a:picLocks noChangeAspect="1"/>
          </p:cNvPicPr>
          <p:nvPr/>
        </p:nvPicPr>
        <p:blipFill>
          <a:blip r:embed="rId2"/>
          <a:stretch>
            <a:fillRect/>
          </a:stretch>
        </p:blipFill>
        <p:spPr>
          <a:xfrm>
            <a:off x="2500896" y="1847088"/>
            <a:ext cx="7189903" cy="4096512"/>
          </a:xfrm>
          <a:prstGeom prst="rect">
            <a:avLst/>
          </a:prstGeom>
        </p:spPr>
      </p:pic>
      <p:sp>
        <p:nvSpPr>
          <p:cNvPr id="9" name="TextBox 8"/>
          <p:cNvSpPr txBox="1"/>
          <p:nvPr/>
        </p:nvSpPr>
        <p:spPr>
          <a:xfrm>
            <a:off x="777240" y="5879592"/>
            <a:ext cx="10607040" cy="493776"/>
          </a:xfrm>
          <a:prstGeom prst="rect">
            <a:avLst/>
          </a:prstGeom>
          <a:noFill/>
        </p:spPr>
        <p:txBody>
          <a:bodyPr wrap="square" anchor="ctr">
            <a:spAutoFit/>
          </a:bodyPr>
          <a:lstStyle/>
          <a:p>
            <a:pPr algn="ctr">
              <a:spcAft>
                <a:spcPts val="400"/>
              </a:spcAft>
            </a:pPr>
            <a:r>
              <a:rPr sz="1050" b="0">
                <a:solidFill>
                  <a:srgbClr val="5B6372"/>
                </a:solidFill>
                <a:latin typeface="Arial"/>
              </a:rPr>
              <a:t>Claude Desktop &gt; Projects &gt; New project. Upload the HR materials once and set standing instructions, so every conversation in the project starts with the same context.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transition spd="med">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CONCEPT-TO-OUTCOME</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12 — Process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Create the project</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Upload the materials</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Set the standing rules</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Run the pipeline</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Run it again in one line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p:transition spd="med">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KEY DECISIONS &amp; CONTROLS</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12 — Professional Practice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 project holds context</a:t>
            </a:r>
          </a:p>
          <a:p>
            <a:pPr algn="l">
              <a:spcAft>
                <a:spcPts val="300"/>
              </a:spcAft>
            </a:pPr>
            <a:r>
              <a:rPr sz="1200" b="0">
                <a:solidFill>
                  <a:srgbClr val="5B6372"/>
                </a:solidFill>
                <a:latin typeface="Arial"/>
              </a:rPr>
              <a:t>Materials and instructions live in the workspace, not in each prompt.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Skills carry the how</a:t>
            </a:r>
          </a:p>
          <a:p>
            <a:pPr algn="l">
              <a:spcAft>
                <a:spcPts val="300"/>
              </a:spcAft>
            </a:pPr>
            <a:r>
              <a:rPr sz="1200" b="0">
                <a:solidFill>
                  <a:srgbClr val="5B6372"/>
                </a:solidFill>
                <a:latin typeface="Arial"/>
              </a:rPr>
              <a:t>A skill is a method; a project is the material that method works on.</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Set the rules once</a:t>
            </a:r>
          </a:p>
          <a:p>
            <a:pPr algn="l">
              <a:spcAft>
                <a:spcPts val="300"/>
              </a:spcAft>
            </a:pPr>
            <a:r>
              <a:rPr sz="1200" b="0">
                <a:solidFill>
                  <a:srgbClr val="5B6372"/>
                </a:solidFill>
                <a:latin typeface="Arial"/>
              </a:rPr>
              <a:t>The standing instructions apply to every conversation in the project.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Repeatable, not automatic</a:t>
            </a:r>
          </a:p>
          <a:p>
            <a:pPr algn="l">
              <a:spcAft>
                <a:spcPts val="300"/>
              </a:spcAft>
            </a:pPr>
            <a:r>
              <a:rPr sz="1200" b="0">
                <a:solidFill>
                  <a:srgbClr val="5B6372"/>
                </a:solidFill>
                <a:latin typeface="Arial"/>
              </a:rPr>
              <a:t>The pipeline repeats itself; a person still reads what comes out.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transition spd="med">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12 · VERIFY</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Automate an HR Pipeline with a Project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98480" cy="19202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084831"/>
            <a:ext cx="10012680" cy="384048"/>
          </a:xfrm>
          <a:prstGeom prst="rect">
            <a:avLst/>
          </a:prstGeom>
          <a:noFill/>
        </p:spPr>
        <p:txBody>
          <a:bodyPr wrap="square" anchor="t">
            <a:spAutoFit/>
          </a:bodyPr>
          <a:lstStyle/>
          <a:p>
            <a:pPr algn="l">
              <a:spcAft>
                <a:spcPts val="400"/>
              </a:spcAft>
            </a:pPr>
            <a:r>
              <a:rPr sz="1500" b="1">
                <a:solidFill>
                  <a:srgbClr val="127A3E"/>
                </a:solidFill>
                <a:latin typeface="Arial"/>
              </a:rPr>
              <a:t>✅  ACCEPTANCE CHECK</a:t>
            </a:r>
          </a:p>
        </p:txBody>
      </p:sp>
      <p:sp>
        <p:nvSpPr>
          <p:cNvPr id="9" name="TextBox 8"/>
          <p:cNvSpPr txBox="1"/>
          <p:nvPr/>
        </p:nvSpPr>
        <p:spPr>
          <a:xfrm>
            <a:off x="1051560" y="2615184"/>
            <a:ext cx="10012680" cy="932688"/>
          </a:xfrm>
          <a:prstGeom prst="rect">
            <a:avLst/>
          </a:prstGeom>
          <a:noFill/>
        </p:spPr>
        <p:txBody>
          <a:bodyPr wrap="square" anchor="ctr">
            <a:spAutoFit/>
          </a:bodyPr>
          <a:lstStyle/>
          <a:p>
            <a:pPr algn="l">
              <a:spcAft>
                <a:spcPts val="400"/>
              </a:spcAft>
            </a:pPr>
            <a:r>
              <a:rPr sz="1600" b="0">
                <a:solidFill>
                  <a:srgbClr val="161B26"/>
                </a:solidFill>
                <a:latin typeface="Arial"/>
              </a:rPr>
              <a:t>A project named Lumina Living HR exists with the policy PDFs, the staff workbook and the quarter files uploaded, and custom instructions set. The new starter pipeline produced a checklist with owners, a welcome note and a report line for two different starters, every fact naming its source file, with gaps marked 'need to check'.</a:t>
            </a:r>
          </a:p>
        </p:txBody>
      </p:sp>
      <p:sp>
        <p:nvSpPr>
          <p:cNvPr id="10" name="Rectangle 9"/>
          <p:cNvSpPr/>
          <p:nvPr/>
        </p:nvSpPr>
        <p:spPr>
          <a:xfrm>
            <a:off x="777240"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041648"/>
            <a:ext cx="343204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270248"/>
            <a:ext cx="3066288" cy="310896"/>
          </a:xfrm>
          <a:prstGeom prst="rect">
            <a:avLst/>
          </a:prstGeom>
          <a:noFill/>
        </p:spPr>
        <p:txBody>
          <a:bodyPr wrap="square" anchor="t">
            <a:spAutoFit/>
          </a:bodyPr>
          <a:lstStyle/>
          <a:p>
            <a:pPr algn="ctr">
              <a:spcAft>
                <a:spcPts val="400"/>
              </a:spcAft>
            </a:pPr>
            <a:r>
              <a:rPr sz="1200" b="1">
                <a:solidFill>
                  <a:srgbClr val="1F6FEB"/>
                </a:solidFill>
                <a:latin typeface="Arial"/>
              </a:rPr>
              <a:t>INSPECT</a:t>
            </a:r>
          </a:p>
        </p:txBody>
      </p:sp>
      <p:sp>
        <p:nvSpPr>
          <p:cNvPr id="13" name="TextBox 12"/>
          <p:cNvSpPr txBox="1"/>
          <p:nvPr/>
        </p:nvSpPr>
        <p:spPr>
          <a:xfrm>
            <a:off x="978408"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Open the native artifact and challenge its sources, formulas, structure and versions.</a:t>
            </a:r>
          </a:p>
        </p:txBody>
      </p:sp>
      <p:sp>
        <p:nvSpPr>
          <p:cNvPr id="14" name="Rectangle 13"/>
          <p:cNvSpPr/>
          <p:nvPr/>
        </p:nvSpPr>
        <p:spPr>
          <a:xfrm>
            <a:off x="4410456"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10456" y="4041648"/>
            <a:ext cx="343204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3336" y="4270248"/>
            <a:ext cx="3066288" cy="310896"/>
          </a:xfrm>
          <a:prstGeom prst="rect">
            <a:avLst/>
          </a:prstGeom>
          <a:noFill/>
        </p:spPr>
        <p:txBody>
          <a:bodyPr wrap="square" anchor="t">
            <a:spAutoFit/>
          </a:bodyPr>
          <a:lstStyle/>
          <a:p>
            <a:pPr algn="ctr">
              <a:spcAft>
                <a:spcPts val="400"/>
              </a:spcAft>
            </a:pPr>
            <a:r>
              <a:rPr sz="1200" b="1">
                <a:solidFill>
                  <a:srgbClr val="10B981"/>
                </a:solidFill>
                <a:latin typeface="Arial"/>
              </a:rPr>
              <a:t>RECONCILE</a:t>
            </a:r>
          </a:p>
        </p:txBody>
      </p:sp>
      <p:sp>
        <p:nvSpPr>
          <p:cNvPr id="17" name="TextBox 16"/>
          <p:cNvSpPr txBox="1"/>
          <p:nvPr/>
        </p:nvSpPr>
        <p:spPr>
          <a:xfrm>
            <a:off x="4611624"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Confirm every material figure or claim against the approved evidence location.</a:t>
            </a:r>
          </a:p>
        </p:txBody>
      </p:sp>
      <p:sp>
        <p:nvSpPr>
          <p:cNvPr id="18" name="Rectangle 17"/>
          <p:cNvSpPr/>
          <p:nvPr/>
        </p:nvSpPr>
        <p:spPr>
          <a:xfrm>
            <a:off x="8043672"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3672" y="4041648"/>
            <a:ext cx="343204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6552" y="4270248"/>
            <a:ext cx="3066288" cy="310896"/>
          </a:xfrm>
          <a:prstGeom prst="rect">
            <a:avLst/>
          </a:prstGeom>
          <a:noFill/>
        </p:spPr>
        <p:txBody>
          <a:bodyPr wrap="square" anchor="t">
            <a:spAutoFit/>
          </a:bodyPr>
          <a:lstStyle/>
          <a:p>
            <a:pPr algn="ctr">
              <a:spcAft>
                <a:spcPts val="400"/>
              </a:spcAft>
            </a:pPr>
            <a:r>
              <a:rPr sz="1200" b="1">
                <a:solidFill>
                  <a:srgbClr val="7C3AED"/>
                </a:solidFill>
                <a:latin typeface="Arial"/>
              </a:rPr>
              <a:t>ENDORSE</a:t>
            </a:r>
          </a:p>
        </p:txBody>
      </p:sp>
      <p:sp>
        <p:nvSpPr>
          <p:cNvPr id="21" name="TextBox 20"/>
          <p:cNvSpPr txBox="1"/>
          <p:nvPr/>
        </p:nvSpPr>
        <p:spPr>
          <a:xfrm>
            <a:off x="8244840"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Record the named reviewer before accepting, saving, releasing or sending the work.</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transition spd="med">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100" b="1">
                <a:solidFill>
                  <a:srgbClr val="161B26"/>
                </a:solidFill>
                <a:latin typeface="Arial"/>
              </a:rPr>
              <a:t>Draft an Outlook Reply with Claude in Chrome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10</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Claude in Chrome works on the page in front of you. Open a staff message in Outlook web, have Claude draft the reply into the real compose box, check it, and decide whether it goes.</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reviewed reply drafted in Outlook on the web, sent only after you approved it or deliberately left in Drafts.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Claude for Chrome, Outlook on the web, per-action approval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p:transition spd="med">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CONCEPT-TO-OUTCOME</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10 — Process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Open Outlook in Chrome</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Open the message</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Claude drafts into the reply box</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Check it in Outlook</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You press Send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transition spd="med">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KEY DECISIONS &amp; CONTROLS</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10 — Professional Practice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Chrome sees the page</a:t>
            </a:r>
          </a:p>
          <a:p>
            <a:pPr algn="l">
              <a:spcAft>
                <a:spcPts val="300"/>
              </a:spcAft>
            </a:pPr>
            <a:r>
              <a:rPr sz="1200" b="0">
                <a:solidFill>
                  <a:srgbClr val="5B6372"/>
                </a:solidFill>
                <a:latin typeface="Arial"/>
              </a:rPr>
              <a:t>Claude in Chrome works on whatever is open in the browser, so the message must be on screen.</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Approve each action</a:t>
            </a:r>
          </a:p>
          <a:p>
            <a:pPr algn="l">
              <a:spcAft>
                <a:spcPts val="300"/>
              </a:spcAft>
            </a:pPr>
            <a:r>
              <a:rPr sz="1200" b="0">
                <a:solidFill>
                  <a:srgbClr val="5B6372"/>
                </a:solidFill>
                <a:latin typeface="Arial"/>
              </a:rPr>
              <a:t>Manually approve means Claude asks before it touches the page. Never turn that off.</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The draft is real</a:t>
            </a:r>
          </a:p>
          <a:p>
            <a:pPr algn="l">
              <a:spcAft>
                <a:spcPts val="300"/>
              </a:spcAft>
            </a:pPr>
            <a:r>
              <a:rPr sz="1200" b="0">
                <a:solidFill>
                  <a:srgbClr val="5B6372"/>
                </a:solidFill>
                <a:latin typeface="Arial"/>
              </a:rPr>
              <a:t>It lands in the Outlook compose box, not in a chat window.</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Sending stays yours</a:t>
            </a:r>
          </a:p>
          <a:p>
            <a:pPr algn="l">
              <a:spcAft>
                <a:spcPts val="300"/>
              </a:spcAft>
            </a:pPr>
            <a:r>
              <a:rPr sz="1200" b="0">
                <a:solidFill>
                  <a:srgbClr val="5B6372"/>
                </a:solidFill>
                <a:latin typeface="Arial"/>
              </a:rPr>
              <a:t>Claude drafts. A person reads it and presses Send.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Tree>
  </p:cSld>
  <p:clrMapOvr>
    <a:masterClrMapping/>
  </p:clrMapOvr>
  <p:transition spd="med">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10 · VERIFY</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100" b="1">
                <a:solidFill>
                  <a:srgbClr val="161B26"/>
                </a:solidFill>
                <a:latin typeface="Arial"/>
              </a:rPr>
              <a:t>Draft an Outlook Reply with Claude in Chrome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98480" cy="19202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084831"/>
            <a:ext cx="10012680" cy="384048"/>
          </a:xfrm>
          <a:prstGeom prst="rect">
            <a:avLst/>
          </a:prstGeom>
          <a:noFill/>
        </p:spPr>
        <p:txBody>
          <a:bodyPr wrap="square" anchor="t">
            <a:spAutoFit/>
          </a:bodyPr>
          <a:lstStyle/>
          <a:p>
            <a:pPr algn="l">
              <a:spcAft>
                <a:spcPts val="400"/>
              </a:spcAft>
            </a:pPr>
            <a:r>
              <a:rPr sz="1500" b="1">
                <a:solidFill>
                  <a:srgbClr val="127A3E"/>
                </a:solidFill>
                <a:latin typeface="Arial"/>
              </a:rPr>
              <a:t>✅  ACCEPTANCE CHECK</a:t>
            </a:r>
          </a:p>
        </p:txBody>
      </p:sp>
      <p:sp>
        <p:nvSpPr>
          <p:cNvPr id="9" name="TextBox 8"/>
          <p:cNvSpPr txBox="1"/>
          <p:nvPr/>
        </p:nvSpPr>
        <p:spPr>
          <a:xfrm>
            <a:off x="1051560" y="2615184"/>
            <a:ext cx="10012680" cy="932688"/>
          </a:xfrm>
          <a:prstGeom prst="rect">
            <a:avLst/>
          </a:prstGeom>
          <a:noFill/>
        </p:spPr>
        <p:txBody>
          <a:bodyPr wrap="square" anchor="ctr">
            <a:spAutoFit/>
          </a:bodyPr>
          <a:lstStyle/>
          <a:p>
            <a:pPr algn="l">
              <a:spcAft>
                <a:spcPts val="400"/>
              </a:spcAft>
            </a:pPr>
            <a:r>
              <a:rPr sz="1600" b="0">
                <a:solidFill>
                  <a:srgbClr val="161B26"/>
                </a:solidFill>
                <a:latin typeface="Arial"/>
              </a:rPr>
              <a:t>A reply was drafted into the Outlook compose box, the recipient and every fact were checked, anything unsupported is marked 'need to check', and the message was either sent after approval or deliberately left in Drafts. Permission mode stayed on Manually approve throughout.</a:t>
            </a:r>
          </a:p>
        </p:txBody>
      </p:sp>
      <p:sp>
        <p:nvSpPr>
          <p:cNvPr id="10" name="Rectangle 9"/>
          <p:cNvSpPr/>
          <p:nvPr/>
        </p:nvSpPr>
        <p:spPr>
          <a:xfrm>
            <a:off x="777240"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041648"/>
            <a:ext cx="343204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270248"/>
            <a:ext cx="3066288" cy="310896"/>
          </a:xfrm>
          <a:prstGeom prst="rect">
            <a:avLst/>
          </a:prstGeom>
          <a:noFill/>
        </p:spPr>
        <p:txBody>
          <a:bodyPr wrap="square" anchor="t">
            <a:spAutoFit/>
          </a:bodyPr>
          <a:lstStyle/>
          <a:p>
            <a:pPr algn="ctr">
              <a:spcAft>
                <a:spcPts val="400"/>
              </a:spcAft>
            </a:pPr>
            <a:r>
              <a:rPr sz="1200" b="1">
                <a:solidFill>
                  <a:srgbClr val="1F6FEB"/>
                </a:solidFill>
                <a:latin typeface="Arial"/>
              </a:rPr>
              <a:t>INSPECT</a:t>
            </a:r>
          </a:p>
        </p:txBody>
      </p:sp>
      <p:sp>
        <p:nvSpPr>
          <p:cNvPr id="13" name="TextBox 12"/>
          <p:cNvSpPr txBox="1"/>
          <p:nvPr/>
        </p:nvSpPr>
        <p:spPr>
          <a:xfrm>
            <a:off x="978408"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Open the native artifact and challenge its sources, formulas, structure and versions.</a:t>
            </a:r>
          </a:p>
        </p:txBody>
      </p:sp>
      <p:sp>
        <p:nvSpPr>
          <p:cNvPr id="14" name="Rectangle 13"/>
          <p:cNvSpPr/>
          <p:nvPr/>
        </p:nvSpPr>
        <p:spPr>
          <a:xfrm>
            <a:off x="4410456"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10456" y="4041648"/>
            <a:ext cx="343204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3336" y="4270248"/>
            <a:ext cx="3066288" cy="310896"/>
          </a:xfrm>
          <a:prstGeom prst="rect">
            <a:avLst/>
          </a:prstGeom>
          <a:noFill/>
        </p:spPr>
        <p:txBody>
          <a:bodyPr wrap="square" anchor="t">
            <a:spAutoFit/>
          </a:bodyPr>
          <a:lstStyle/>
          <a:p>
            <a:pPr algn="ctr">
              <a:spcAft>
                <a:spcPts val="400"/>
              </a:spcAft>
            </a:pPr>
            <a:r>
              <a:rPr sz="1200" b="1">
                <a:solidFill>
                  <a:srgbClr val="10B981"/>
                </a:solidFill>
                <a:latin typeface="Arial"/>
              </a:rPr>
              <a:t>RECONCILE</a:t>
            </a:r>
          </a:p>
        </p:txBody>
      </p:sp>
      <p:sp>
        <p:nvSpPr>
          <p:cNvPr id="17" name="TextBox 16"/>
          <p:cNvSpPr txBox="1"/>
          <p:nvPr/>
        </p:nvSpPr>
        <p:spPr>
          <a:xfrm>
            <a:off x="4611624"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Confirm every material figure or claim against the approved evidence location.</a:t>
            </a:r>
          </a:p>
        </p:txBody>
      </p:sp>
      <p:sp>
        <p:nvSpPr>
          <p:cNvPr id="18" name="Rectangle 17"/>
          <p:cNvSpPr/>
          <p:nvPr/>
        </p:nvSpPr>
        <p:spPr>
          <a:xfrm>
            <a:off x="8043672"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3672" y="4041648"/>
            <a:ext cx="343204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6552" y="4270248"/>
            <a:ext cx="3066288" cy="310896"/>
          </a:xfrm>
          <a:prstGeom prst="rect">
            <a:avLst/>
          </a:prstGeom>
          <a:noFill/>
        </p:spPr>
        <p:txBody>
          <a:bodyPr wrap="square" anchor="t">
            <a:spAutoFit/>
          </a:bodyPr>
          <a:lstStyle/>
          <a:p>
            <a:pPr algn="ctr">
              <a:spcAft>
                <a:spcPts val="400"/>
              </a:spcAft>
            </a:pPr>
            <a:r>
              <a:rPr sz="1200" b="1">
                <a:solidFill>
                  <a:srgbClr val="7C3AED"/>
                </a:solidFill>
                <a:latin typeface="Arial"/>
              </a:rPr>
              <a:t>ENDORSE</a:t>
            </a:r>
          </a:p>
        </p:txBody>
      </p:sp>
      <p:sp>
        <p:nvSpPr>
          <p:cNvPr id="21" name="TextBox 20"/>
          <p:cNvSpPr txBox="1"/>
          <p:nvPr/>
        </p:nvSpPr>
        <p:spPr>
          <a:xfrm>
            <a:off x="8244840"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Record the named reviewer before accepting, saving, releasing or sending the work.</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p:transition spd="med">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Add Skills and Connectors to the Project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161B26"/>
                </a:solidFill>
                <a:latin typeface="Arial"/>
              </a:rPr>
              <a:t>The project holds the materials and the rules. Add the hr-policy-draft skill so it knows your method, and the Microsoft 365 connector so it can reach real files and mail. Then run the full HR workflow end to end.</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An HR project with materials, standing rules, a skill and a connector, running one request that produces a policy draft, a summary and an Outlook draft.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Claude Projects, Claude Skills, Microsoft 365 connector, Cowork</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p:transition spd="med">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CONCEPT-TO-OUTCOME</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13 — Process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Materials and rules</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Add the skill</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Add the connector</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Run the whole workflow</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Decide what stays automatic</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p:transition spd="med">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KEY DECISIONS &amp; CONTROLS</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13 — Professional Practice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Three things, one workspace</a:t>
            </a:r>
          </a:p>
          <a:p>
            <a:pPr algn="l">
              <a:spcAft>
                <a:spcPts val="300"/>
              </a:spcAft>
            </a:pPr>
            <a:r>
              <a:rPr sz="1200" b="0">
                <a:solidFill>
                  <a:srgbClr val="5B6372"/>
                </a:solidFill>
                <a:latin typeface="Arial"/>
              </a:rPr>
              <a:t>Materials say what to work on, the skill says how, the connector says where else to look.</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One request, many steps</a:t>
            </a:r>
          </a:p>
          <a:p>
            <a:pPr algn="l">
              <a:spcAft>
                <a:spcPts val="300"/>
              </a:spcAft>
            </a:pPr>
            <a:r>
              <a:rPr sz="1200" b="0">
                <a:solidFill>
                  <a:srgbClr val="5B6372"/>
                </a:solidFill>
                <a:latin typeface="Arial"/>
              </a:rPr>
              <a:t>The project can draft, summarise and prepare mail without you moving between apps.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More reach, more care</a:t>
            </a:r>
          </a:p>
          <a:p>
            <a:pPr algn="l">
              <a:spcAft>
                <a:spcPts val="300"/>
              </a:spcAft>
            </a:pPr>
            <a:r>
              <a:rPr sz="1200" b="0">
                <a:solidFill>
                  <a:srgbClr val="5B6372"/>
                </a:solidFill>
                <a:latin typeface="Arial"/>
              </a:rPr>
              <a:t>A connector reads real company content, so the read-only boundary matters more, not less.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Automatic is a choice</a:t>
            </a:r>
          </a:p>
          <a:p>
            <a:pPr algn="l">
              <a:spcAft>
                <a:spcPts val="300"/>
              </a:spcAft>
            </a:pPr>
            <a:r>
              <a:rPr sz="1200" b="0">
                <a:solidFill>
                  <a:srgbClr val="5B6372"/>
                </a:solidFill>
                <a:latin typeface="Arial"/>
              </a:rPr>
              <a:t>Decide deliberately which steps may run unattended and which always need a person.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p:transition spd="med">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13 · VERIFY</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Add Skills and Connectors to the Project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98480" cy="19202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084831"/>
            <a:ext cx="10012680" cy="384048"/>
          </a:xfrm>
          <a:prstGeom prst="rect">
            <a:avLst/>
          </a:prstGeom>
          <a:noFill/>
        </p:spPr>
        <p:txBody>
          <a:bodyPr wrap="square" anchor="t">
            <a:spAutoFit/>
          </a:bodyPr>
          <a:lstStyle/>
          <a:p>
            <a:pPr algn="l">
              <a:spcAft>
                <a:spcPts val="400"/>
              </a:spcAft>
            </a:pPr>
            <a:r>
              <a:rPr sz="1500" b="1">
                <a:solidFill>
                  <a:srgbClr val="127A3E"/>
                </a:solidFill>
                <a:latin typeface="Arial"/>
              </a:rPr>
              <a:t>✅  ACCEPTANCE CHECK</a:t>
            </a:r>
          </a:p>
        </p:txBody>
      </p:sp>
      <p:sp>
        <p:nvSpPr>
          <p:cNvPr id="9" name="TextBox 8"/>
          <p:cNvSpPr txBox="1"/>
          <p:nvPr/>
        </p:nvSpPr>
        <p:spPr>
          <a:xfrm>
            <a:off x="1051560" y="2615184"/>
            <a:ext cx="10012680" cy="932688"/>
          </a:xfrm>
          <a:prstGeom prst="rect">
            <a:avLst/>
          </a:prstGeom>
          <a:noFill/>
        </p:spPr>
        <p:txBody>
          <a:bodyPr wrap="square" anchor="ctr">
            <a:spAutoFit/>
          </a:bodyPr>
          <a:lstStyle/>
          <a:p>
            <a:pPr algn="l">
              <a:spcAft>
                <a:spcPts val="400"/>
              </a:spcAft>
            </a:pPr>
            <a:r>
              <a:rPr sz="1600" b="0">
                <a:solidFill>
                  <a:srgbClr val="161B26"/>
                </a:solidFill>
                <a:latin typeface="Arial"/>
              </a:rPr>
              <a:t>The project has the hr-policy-draft skill enabled and the connector state recorded. One request produced a policy draft following the skill's rules, a headcount summary naming its source files, and an unsent Outlook draft. Nothing was sent, and you have written which steps may run unattended and which always need a person.</a:t>
            </a:r>
          </a:p>
        </p:txBody>
      </p:sp>
      <p:sp>
        <p:nvSpPr>
          <p:cNvPr id="10" name="Rectangle 9"/>
          <p:cNvSpPr/>
          <p:nvPr/>
        </p:nvSpPr>
        <p:spPr>
          <a:xfrm>
            <a:off x="777240"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041648"/>
            <a:ext cx="343204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270248"/>
            <a:ext cx="3066288" cy="310896"/>
          </a:xfrm>
          <a:prstGeom prst="rect">
            <a:avLst/>
          </a:prstGeom>
          <a:noFill/>
        </p:spPr>
        <p:txBody>
          <a:bodyPr wrap="square" anchor="t">
            <a:spAutoFit/>
          </a:bodyPr>
          <a:lstStyle/>
          <a:p>
            <a:pPr algn="ctr">
              <a:spcAft>
                <a:spcPts val="400"/>
              </a:spcAft>
            </a:pPr>
            <a:r>
              <a:rPr sz="1200" b="1">
                <a:solidFill>
                  <a:srgbClr val="1F6FEB"/>
                </a:solidFill>
                <a:latin typeface="Arial"/>
              </a:rPr>
              <a:t>INSPECT</a:t>
            </a:r>
          </a:p>
        </p:txBody>
      </p:sp>
      <p:sp>
        <p:nvSpPr>
          <p:cNvPr id="13" name="TextBox 12"/>
          <p:cNvSpPr txBox="1"/>
          <p:nvPr/>
        </p:nvSpPr>
        <p:spPr>
          <a:xfrm>
            <a:off x="978408"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Open the native artifact and challenge its sources, formulas, structure and versions.</a:t>
            </a:r>
          </a:p>
        </p:txBody>
      </p:sp>
      <p:sp>
        <p:nvSpPr>
          <p:cNvPr id="14" name="Rectangle 13"/>
          <p:cNvSpPr/>
          <p:nvPr/>
        </p:nvSpPr>
        <p:spPr>
          <a:xfrm>
            <a:off x="4410456"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10456" y="4041648"/>
            <a:ext cx="343204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3336" y="4270248"/>
            <a:ext cx="3066288" cy="310896"/>
          </a:xfrm>
          <a:prstGeom prst="rect">
            <a:avLst/>
          </a:prstGeom>
          <a:noFill/>
        </p:spPr>
        <p:txBody>
          <a:bodyPr wrap="square" anchor="t">
            <a:spAutoFit/>
          </a:bodyPr>
          <a:lstStyle/>
          <a:p>
            <a:pPr algn="ctr">
              <a:spcAft>
                <a:spcPts val="400"/>
              </a:spcAft>
            </a:pPr>
            <a:r>
              <a:rPr sz="1200" b="1">
                <a:solidFill>
                  <a:srgbClr val="10B981"/>
                </a:solidFill>
                <a:latin typeface="Arial"/>
              </a:rPr>
              <a:t>RECONCILE</a:t>
            </a:r>
          </a:p>
        </p:txBody>
      </p:sp>
      <p:sp>
        <p:nvSpPr>
          <p:cNvPr id="17" name="TextBox 16"/>
          <p:cNvSpPr txBox="1"/>
          <p:nvPr/>
        </p:nvSpPr>
        <p:spPr>
          <a:xfrm>
            <a:off x="4611624"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Confirm every material figure or claim against the approved evidence location.</a:t>
            </a:r>
          </a:p>
        </p:txBody>
      </p:sp>
      <p:sp>
        <p:nvSpPr>
          <p:cNvPr id="18" name="Rectangle 17"/>
          <p:cNvSpPr/>
          <p:nvPr/>
        </p:nvSpPr>
        <p:spPr>
          <a:xfrm>
            <a:off x="8043672"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3672" y="4041648"/>
            <a:ext cx="343204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6552" y="4270248"/>
            <a:ext cx="3066288" cy="310896"/>
          </a:xfrm>
          <a:prstGeom prst="rect">
            <a:avLst/>
          </a:prstGeom>
          <a:noFill/>
        </p:spPr>
        <p:txBody>
          <a:bodyPr wrap="square" anchor="t">
            <a:spAutoFit/>
          </a:bodyPr>
          <a:lstStyle/>
          <a:p>
            <a:pPr algn="ctr">
              <a:spcAft>
                <a:spcPts val="400"/>
              </a:spcAft>
            </a:pPr>
            <a:r>
              <a:rPr sz="1200" b="1">
                <a:solidFill>
                  <a:srgbClr val="7C3AED"/>
                </a:solidFill>
                <a:latin typeface="Arial"/>
              </a:rPr>
              <a:t>ENDORSE</a:t>
            </a:r>
          </a:p>
        </p:txBody>
      </p:sp>
      <p:sp>
        <p:nvSpPr>
          <p:cNvPr id="21" name="TextBox 20"/>
          <p:cNvSpPr txBox="1"/>
          <p:nvPr/>
        </p:nvSpPr>
        <p:spPr>
          <a:xfrm>
            <a:off x="8244840"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Record the named reviewer before accepting, saving, releasing or sending the work.</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p:transition spd="med">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Upload a Shared Skill for Slides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161B26"/>
                </a:solidFill>
                <a:latin typeface="Arial"/>
              </a:rPr>
              <a:t>Your company has a house standard for decks, written once and shared as a file. Upload it as a skill and apply it to a weak draft deck.</a:t>
            </a:r>
          </a:p>
        </p:txBody>
      </p:sp>
      <p:sp>
        <p:nvSpPr>
          <p:cNvPr id="10" name="Rectangle 9"/>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An uploaded deck-design-standard skill, and a rebuilt deck where every title states a conclusion.</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Claude Skills, Claude for PowerPoint, Upload a skill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102</a:t>
            </a:r>
          </a:p>
        </p:txBody>
      </p:sp>
    </p:spTree>
  </p:cSld>
  <p:clrMapOvr>
    <a:masterClrMapping/>
  </p:clrMapOvr>
  <p:transition spd="med">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CONCEPT-TO-OUTCOME</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14 — Process Map</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 standard written once</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Upload it</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Apply it to a weak deck</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Compare with your own version</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Choose the right method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103</a:t>
            </a:r>
          </a:p>
        </p:txBody>
      </p:sp>
    </p:spTree>
  </p:cSld>
  <p:clrMapOvr>
    <a:masterClrMapping/>
  </p:clrMapOvr>
  <p:transition spd="med">
    <p:fade/>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KEY DECISIONS &amp; CONTROLS</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Lab 14 — Professional Practice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Upload a skill</a:t>
            </a:r>
          </a:p>
          <a:p>
            <a:pPr algn="l">
              <a:spcAft>
                <a:spcPts val="300"/>
              </a:spcAft>
            </a:pPr>
            <a:r>
              <a:rPr sz="1200" b="0">
                <a:solidFill>
                  <a:srgbClr val="5B6372"/>
                </a:solidFill>
                <a:latin typeface="Arial"/>
              </a:rPr>
              <a:t>Use this when the standard already exists and the team should share it.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One house standard</a:t>
            </a:r>
          </a:p>
          <a:p>
            <a:pPr algn="l">
              <a:spcAft>
                <a:spcPts val="300"/>
              </a:spcAft>
            </a:pPr>
            <a:r>
              <a:rPr sz="1200" b="0">
                <a:solidFill>
                  <a:srgbClr val="5B6372"/>
                </a:solidFill>
                <a:latin typeface="Arial"/>
              </a:rPr>
              <a:t>Everyone's deck looks like the company wrote it.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Read before you upload</a:t>
            </a:r>
          </a:p>
          <a:p>
            <a:pPr algn="l">
              <a:spcAft>
                <a:spcPts val="300"/>
              </a:spcAft>
            </a:pPr>
            <a:r>
              <a:rPr sz="1200" b="0">
                <a:solidFill>
                  <a:srgbClr val="5B6372"/>
                </a:solidFill>
                <a:latin typeface="Arial"/>
              </a:rPr>
              <a:t>A shared skill applies someone else's rules to your work.</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Three ways to create</a:t>
            </a:r>
          </a:p>
          <a:p>
            <a:pPr algn="l">
              <a:spcAft>
                <a:spcPts val="300"/>
              </a:spcAft>
            </a:pPr>
            <a:r>
              <a:rPr sz="1200" b="0">
                <a:solidFill>
                  <a:srgbClr val="5B6372"/>
                </a:solidFill>
                <a:latin typeface="Arial"/>
              </a:rPr>
              <a:t>Write it, have Claude create it, or upload one someone else wrote.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104</a:t>
            </a:r>
          </a:p>
        </p:txBody>
      </p:sp>
    </p:spTree>
  </p:cSld>
  <p:clrMapOvr>
    <a:masterClrMapping/>
  </p:clrMapOvr>
  <p:transition spd="med">
    <p:fade/>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LAB 14 · VERIFY</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Upload a Shared Skill for Slides</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98480" cy="19202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084831"/>
            <a:ext cx="10012680" cy="384048"/>
          </a:xfrm>
          <a:prstGeom prst="rect">
            <a:avLst/>
          </a:prstGeom>
          <a:noFill/>
        </p:spPr>
        <p:txBody>
          <a:bodyPr wrap="square" anchor="t">
            <a:spAutoFit/>
          </a:bodyPr>
          <a:lstStyle/>
          <a:p>
            <a:pPr algn="l">
              <a:spcAft>
                <a:spcPts val="400"/>
              </a:spcAft>
            </a:pPr>
            <a:r>
              <a:rPr sz="1500" b="1">
                <a:solidFill>
                  <a:srgbClr val="127A3E"/>
                </a:solidFill>
                <a:latin typeface="Arial"/>
              </a:rPr>
              <a:t>✅  ACCEPTANCE CHECK</a:t>
            </a:r>
          </a:p>
        </p:txBody>
      </p:sp>
      <p:sp>
        <p:nvSpPr>
          <p:cNvPr id="9" name="TextBox 8"/>
          <p:cNvSpPr txBox="1"/>
          <p:nvPr/>
        </p:nvSpPr>
        <p:spPr>
          <a:xfrm>
            <a:off x="1051560" y="2615184"/>
            <a:ext cx="10012680" cy="932688"/>
          </a:xfrm>
          <a:prstGeom prst="rect">
            <a:avLst/>
          </a:prstGeom>
          <a:noFill/>
        </p:spPr>
        <p:txBody>
          <a:bodyPr wrap="square" anchor="ctr">
            <a:spAutoFit/>
          </a:bodyPr>
          <a:lstStyle/>
          <a:p>
            <a:pPr algn="l">
              <a:spcAft>
                <a:spcPts val="400"/>
              </a:spcAft>
            </a:pPr>
            <a:r>
              <a:rPr sz="1600" b="0">
                <a:solidFill>
                  <a:srgbClr val="161B26"/>
                </a:solidFill>
                <a:latin typeface="Arial"/>
              </a:rPr>
              <a:t>The deck-design-standard skill was uploaded from the supplied file, running it changed every slide title to a conclusion and added source notes, the slide master is unchanged, and slide 1's speaker notes say which of the ways of creating a skill you would use and why.</a:t>
            </a:r>
          </a:p>
        </p:txBody>
      </p:sp>
      <p:sp>
        <p:nvSpPr>
          <p:cNvPr id="10" name="Rectangle 9"/>
          <p:cNvSpPr/>
          <p:nvPr/>
        </p:nvSpPr>
        <p:spPr>
          <a:xfrm>
            <a:off x="777240"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041648"/>
            <a:ext cx="343204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270248"/>
            <a:ext cx="3066288" cy="310896"/>
          </a:xfrm>
          <a:prstGeom prst="rect">
            <a:avLst/>
          </a:prstGeom>
          <a:noFill/>
        </p:spPr>
        <p:txBody>
          <a:bodyPr wrap="square" anchor="t">
            <a:spAutoFit/>
          </a:bodyPr>
          <a:lstStyle/>
          <a:p>
            <a:pPr algn="ctr">
              <a:spcAft>
                <a:spcPts val="400"/>
              </a:spcAft>
            </a:pPr>
            <a:r>
              <a:rPr sz="1200" b="1">
                <a:solidFill>
                  <a:srgbClr val="1F6FEB"/>
                </a:solidFill>
                <a:latin typeface="Arial"/>
              </a:rPr>
              <a:t>INSPECT</a:t>
            </a:r>
          </a:p>
        </p:txBody>
      </p:sp>
      <p:sp>
        <p:nvSpPr>
          <p:cNvPr id="13" name="TextBox 12"/>
          <p:cNvSpPr txBox="1"/>
          <p:nvPr/>
        </p:nvSpPr>
        <p:spPr>
          <a:xfrm>
            <a:off x="978408"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Open the native artifact and challenge its sources, formulas, structure and versions.</a:t>
            </a:r>
          </a:p>
        </p:txBody>
      </p:sp>
      <p:sp>
        <p:nvSpPr>
          <p:cNvPr id="14" name="Rectangle 13"/>
          <p:cNvSpPr/>
          <p:nvPr/>
        </p:nvSpPr>
        <p:spPr>
          <a:xfrm>
            <a:off x="4410456"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10456" y="4041648"/>
            <a:ext cx="343204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3336" y="4270248"/>
            <a:ext cx="3066288" cy="310896"/>
          </a:xfrm>
          <a:prstGeom prst="rect">
            <a:avLst/>
          </a:prstGeom>
          <a:noFill/>
        </p:spPr>
        <p:txBody>
          <a:bodyPr wrap="square" anchor="t">
            <a:spAutoFit/>
          </a:bodyPr>
          <a:lstStyle/>
          <a:p>
            <a:pPr algn="ctr">
              <a:spcAft>
                <a:spcPts val="400"/>
              </a:spcAft>
            </a:pPr>
            <a:r>
              <a:rPr sz="1200" b="1">
                <a:solidFill>
                  <a:srgbClr val="10B981"/>
                </a:solidFill>
                <a:latin typeface="Arial"/>
              </a:rPr>
              <a:t>RECONCILE</a:t>
            </a:r>
          </a:p>
        </p:txBody>
      </p:sp>
      <p:sp>
        <p:nvSpPr>
          <p:cNvPr id="17" name="TextBox 16"/>
          <p:cNvSpPr txBox="1"/>
          <p:nvPr/>
        </p:nvSpPr>
        <p:spPr>
          <a:xfrm>
            <a:off x="4611624"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Confirm every material figure or claim against the approved evidence location.</a:t>
            </a:r>
          </a:p>
        </p:txBody>
      </p:sp>
      <p:sp>
        <p:nvSpPr>
          <p:cNvPr id="18" name="Rectangle 17"/>
          <p:cNvSpPr/>
          <p:nvPr/>
        </p:nvSpPr>
        <p:spPr>
          <a:xfrm>
            <a:off x="8043672" y="4041648"/>
            <a:ext cx="3432048" cy="171907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3672" y="4041648"/>
            <a:ext cx="343204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6552" y="4270248"/>
            <a:ext cx="3066288" cy="310896"/>
          </a:xfrm>
          <a:prstGeom prst="rect">
            <a:avLst/>
          </a:prstGeom>
          <a:noFill/>
        </p:spPr>
        <p:txBody>
          <a:bodyPr wrap="square" anchor="t">
            <a:spAutoFit/>
          </a:bodyPr>
          <a:lstStyle/>
          <a:p>
            <a:pPr algn="ctr">
              <a:spcAft>
                <a:spcPts val="400"/>
              </a:spcAft>
            </a:pPr>
            <a:r>
              <a:rPr sz="1200" b="1">
                <a:solidFill>
                  <a:srgbClr val="7C3AED"/>
                </a:solidFill>
                <a:latin typeface="Arial"/>
              </a:rPr>
              <a:t>ENDORSE</a:t>
            </a:r>
          </a:p>
        </p:txBody>
      </p:sp>
      <p:sp>
        <p:nvSpPr>
          <p:cNvPr id="21" name="TextBox 20"/>
          <p:cNvSpPr txBox="1"/>
          <p:nvPr/>
        </p:nvSpPr>
        <p:spPr>
          <a:xfrm>
            <a:off x="8244840" y="4700016"/>
            <a:ext cx="3029712" cy="804672"/>
          </a:xfrm>
          <a:prstGeom prst="rect">
            <a:avLst/>
          </a:prstGeom>
          <a:noFill/>
        </p:spPr>
        <p:txBody>
          <a:bodyPr wrap="square" anchor="ctr">
            <a:spAutoFit/>
          </a:bodyPr>
          <a:lstStyle/>
          <a:p>
            <a:pPr algn="ctr">
              <a:spcAft>
                <a:spcPts val="400"/>
              </a:spcAft>
            </a:pPr>
            <a:r>
              <a:rPr sz="1150" b="0">
                <a:solidFill>
                  <a:srgbClr val="161B26"/>
                </a:solidFill>
                <a:latin typeface="Arial"/>
              </a:rPr>
              <a:t>Record the named reviewer before accepting, saving, releasing or sending the work.</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105</a:t>
            </a:r>
          </a:p>
        </p:txBody>
      </p:sp>
    </p:spTree>
  </p:cSld>
  <p:clrMapOvr>
    <a:masterClrMapping/>
  </p:clrMapOvr>
  <p:transition spd="med">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1700" b="1">
                <a:solidFill>
                  <a:srgbClr val="161B26"/>
                </a:solidFill>
                <a:latin typeface="Arial"/>
              </a:rPr>
              <a:t>Recap — Staff Questions, Repeatable Work and Advanced Claude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Capability — Invoke a saved skill from Word so it reads the Excel workbook and writes the figures into the document.</a:t>
            </a:r>
          </a:p>
        </p:txBody>
      </p:sp>
      <p:sp>
        <p:nvSpPr>
          <p:cNvPr id="12" name="Rectangle 11"/>
          <p:cNvSpPr/>
          <p:nvPr/>
        </p:nvSpPr>
        <p:spPr>
          <a:xfrm>
            <a:off x="6176772" y="1828800"/>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Evidence retained — A completed quarterly update with figures drawn from the workbook, saved as a final copy.</a:t>
            </a:r>
          </a:p>
        </p:txBody>
      </p:sp>
      <p:sp>
        <p:nvSpPr>
          <p:cNvPr id="17" name="Rectangle 16"/>
          <p:cNvSpPr/>
          <p:nvPr/>
        </p:nvSpPr>
        <p:spPr>
          <a:xfrm>
            <a:off x="777240" y="3316224"/>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Capability — Sort a set of staff messages by what each one needs, and draft one reply for approval.</a:t>
            </a:r>
          </a:p>
        </p:txBody>
      </p:sp>
      <p:sp>
        <p:nvSpPr>
          <p:cNvPr id="22" name="Rectangle 21"/>
          <p:cNvSpPr/>
          <p:nvPr/>
        </p:nvSpPr>
        <p:spPr>
          <a:xfrm>
            <a:off x="6176772" y="3316224"/>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Evidence retained — Every message sorted, one reply drafted, the person who would approve it named, and the reply created as an Outlook draft ready for review.</a:t>
            </a:r>
          </a:p>
        </p:txBody>
      </p:sp>
      <p:sp>
        <p:nvSpPr>
          <p:cNvPr id="27" name="Rectangle 26"/>
          <p:cNvSpPr/>
          <p:nvPr/>
        </p:nvSpPr>
        <p:spPr>
          <a:xfrm>
            <a:off x="777240" y="4803648"/>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Capability — Have Claude read across a folder of HR files and write one summary, reporting what the files disagree on rather than resolving it.</a:t>
            </a:r>
          </a:p>
        </p:txBody>
      </p:sp>
      <p:sp>
        <p:nvSpPr>
          <p:cNvPr id="32" name="Rectangle 31"/>
          <p:cNvSpPr/>
          <p:nvPr/>
        </p:nvSpPr>
        <p:spPr>
          <a:xfrm>
            <a:off x="6176772" y="4803648"/>
            <a:ext cx="5234940" cy="1322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6772" y="4803648"/>
            <a:ext cx="64008" cy="1322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359652" y="5291328"/>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9652" y="5309616"/>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6</a:t>
            </a:r>
          </a:p>
        </p:txBody>
      </p:sp>
      <p:sp>
        <p:nvSpPr>
          <p:cNvPr id="36" name="TextBox 35"/>
          <p:cNvSpPr txBox="1"/>
          <p:nvPr/>
        </p:nvSpPr>
        <p:spPr>
          <a:xfrm>
            <a:off x="6853428" y="4876800"/>
            <a:ext cx="4338828" cy="1176528"/>
          </a:xfrm>
          <a:prstGeom prst="rect">
            <a:avLst/>
          </a:prstGeom>
          <a:noFill/>
        </p:spPr>
        <p:txBody>
          <a:bodyPr wrap="square" anchor="ctr">
            <a:spAutoFit/>
          </a:bodyPr>
          <a:lstStyle/>
          <a:p>
            <a:pPr algn="l">
              <a:spcAft>
                <a:spcPts val="400"/>
              </a:spcAft>
            </a:pPr>
            <a:r>
              <a:rPr sz="1400" b="0">
                <a:solidFill>
                  <a:srgbClr val="161B26"/>
                </a:solidFill>
                <a:latin typeface="Arial"/>
              </a:rPr>
              <a:t>Evidence retained — A two-page people summary built only from the folder, naming the file behind every claim, with disagreements reported rather than settled.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106</a:t>
            </a:r>
          </a:p>
        </p:txBody>
      </p:sp>
    </p:spTree>
  </p:cSld>
  <p:clrMapOvr>
    <a:masterClrMapping/>
  </p:clrMapOvr>
  <p:transition spd="med">
    <p:fade/>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Course Summary &amp; Next Steps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107</a:t>
            </a:r>
          </a:p>
        </p:txBody>
      </p:sp>
    </p:spTree>
  </p:cSld>
  <p:clrMapOvr>
    <a:masterClrMapping/>
  </p:clrMapOvr>
  <p:transition spd="med">
    <p:fade/>
  </p:transition>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What You Achieved</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Pick the right place</a:t>
            </a:r>
          </a:p>
          <a:p>
            <a:pPr algn="l">
              <a:spcAft>
                <a:spcPts val="300"/>
              </a:spcAft>
            </a:pPr>
            <a:r>
              <a:rPr sz="1300" b="0">
                <a:solidFill>
                  <a:srgbClr val="5B6372"/>
                </a:solidFill>
                <a:latin typeface="Arial"/>
              </a:rPr>
              <a:t>Choose the right place to use Claude for an HR task.</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Decide what Claude reads</a:t>
            </a:r>
          </a:p>
          <a:p>
            <a:pPr algn="l">
              <a:spcAft>
                <a:spcPts val="300"/>
              </a:spcAft>
            </a:pPr>
            <a:r>
              <a:rPr sz="1300" b="0">
                <a:solidFill>
                  <a:srgbClr val="5B6372"/>
                </a:solidFill>
                <a:latin typeface="Arial"/>
              </a:rPr>
              <a:t>Decide what staff information Claude may read, and what it must never change.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Ask clearly</a:t>
            </a:r>
          </a:p>
          <a:p>
            <a:pPr algn="l">
              <a:spcAft>
                <a:spcPts val="300"/>
              </a:spcAft>
            </a:pPr>
            <a:r>
              <a:rPr sz="1300" b="0">
                <a:solidFill>
                  <a:srgbClr val="5B6372"/>
                </a:solidFill>
                <a:latin typeface="Arial"/>
              </a:rPr>
              <a:t>Write a request that says what you want, what to use, what to leave alone and when to stop.</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Plan the hiring</a:t>
            </a:r>
          </a:p>
          <a:p>
            <a:pPr algn="l">
              <a:spcAft>
                <a:spcPts val="300"/>
              </a:spcAft>
            </a:pPr>
            <a:r>
              <a:rPr sz="1300" b="0">
                <a:solidFill>
                  <a:srgbClr val="5B6372"/>
                </a:solidFill>
                <a:latin typeface="Arial"/>
              </a:rPr>
              <a:t>Write a hiring plan in Word using only what the brief actually says.</a:t>
            </a:r>
          </a:p>
        </p:txBody>
      </p:sp>
      <p:sp>
        <p:nvSpPr>
          <p:cNvPr id="27" name="Rectangle 26"/>
          <p:cNvSpPr/>
          <p:nvPr/>
        </p:nvSpPr>
        <p:spPr>
          <a:xfrm>
            <a:off x="3504438"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504438"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760470"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60470"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4491990" y="4983480"/>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Check the policy wording</a:t>
            </a:r>
          </a:p>
          <a:p>
            <a:pPr algn="l">
              <a:spcAft>
                <a:spcPts val="300"/>
              </a:spcAft>
            </a:pPr>
            <a:r>
              <a:rPr sz="1300" b="0">
                <a:solidFill>
                  <a:srgbClr val="5B6372"/>
                </a:solidFill>
                <a:latin typeface="Arial"/>
              </a:rPr>
              <a:t>Draft leave and flexible-work policy wording that flags every point needing legal review.</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108</a:t>
            </a:r>
          </a:p>
        </p:txBody>
      </p:sp>
    </p:spTree>
  </p:cSld>
  <p:clrMapOvr>
    <a:masterClrMapping/>
  </p:clrMapOvr>
  <p:transition spd="med">
    <p:fade/>
  </p:transition>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What You Achieved (cont.)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People numbers</a:t>
            </a:r>
          </a:p>
          <a:p>
            <a:pPr algn="l">
              <a:spcAft>
                <a:spcPts val="300"/>
              </a:spcAft>
            </a:pPr>
            <a:r>
              <a:rPr sz="1300" b="0">
                <a:solidFill>
                  <a:srgbClr val="5B6372"/>
                </a:solidFill>
                <a:latin typeface="Arial"/>
              </a:rPr>
              <a:t>Build a headcount and turnover analysis in Excel using live formulas.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Tell leadership</a:t>
            </a:r>
          </a:p>
          <a:p>
            <a:pPr algn="l">
              <a:spcAft>
                <a:spcPts val="300"/>
              </a:spcAft>
            </a:pPr>
            <a:r>
              <a:rPr sz="1300" b="0">
                <a:solidFill>
                  <a:srgbClr val="5B6372"/>
                </a:solidFill>
                <a:latin typeface="Arial"/>
              </a:rPr>
              <a:t>Build a leadership update deck where every slide title states a conclusion.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8</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Handle the inbox</a:t>
            </a:r>
          </a:p>
          <a:p>
            <a:pPr algn="l">
              <a:spcAft>
                <a:spcPts val="300"/>
              </a:spcAft>
            </a:pPr>
            <a:r>
              <a:rPr sz="1300" b="0">
                <a:solidFill>
                  <a:srgbClr val="5B6372"/>
                </a:solidFill>
                <a:latin typeface="Arial"/>
              </a:rPr>
              <a:t>Sort the HR inbox and draft one reply ready for approval.</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9</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One folder, one summary</a:t>
            </a:r>
          </a:p>
          <a:p>
            <a:pPr algn="l">
              <a:spcAft>
                <a:spcPts val="300"/>
              </a:spcAft>
            </a:pPr>
            <a:r>
              <a:rPr sz="1300" b="0">
                <a:solidFill>
                  <a:srgbClr val="5B6372"/>
                </a:solidFill>
                <a:latin typeface="Arial"/>
              </a:rPr>
              <a:t>Have Claude read one folder and write a people summary that says where each fact came from.</a:t>
            </a:r>
          </a:p>
        </p:txBody>
      </p:sp>
      <p:sp>
        <p:nvSpPr>
          <p:cNvPr id="27" name="Rectangle 26"/>
          <p:cNvSpPr/>
          <p:nvPr/>
        </p:nvSpPr>
        <p:spPr>
          <a:xfrm>
            <a:off x="3504438"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504438"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760470"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60470"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10</a:t>
            </a:r>
          </a:p>
        </p:txBody>
      </p:sp>
      <p:sp>
        <p:nvSpPr>
          <p:cNvPr id="31" name="TextBox 30"/>
          <p:cNvSpPr txBox="1"/>
          <p:nvPr/>
        </p:nvSpPr>
        <p:spPr>
          <a:xfrm>
            <a:off x="4491990" y="4983480"/>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Automate the update</a:t>
            </a:r>
          </a:p>
          <a:p>
            <a:pPr algn="l">
              <a:spcAft>
                <a:spcPts val="300"/>
              </a:spcAft>
            </a:pPr>
            <a:r>
              <a:rPr sz="1300" b="0">
                <a:solidFill>
                  <a:srgbClr val="5B6372"/>
                </a:solidFill>
                <a:latin typeface="Arial"/>
              </a:rPr>
              <a:t>Automate a weekly people update on your own computer.</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109</a:t>
            </a:r>
          </a:p>
        </p:txBody>
      </p:sp>
    </p:spTree>
  </p:cSld>
  <p:clrMapOvr>
    <a:masterClrMapping/>
  </p:clrMapOvr>
  <p:transition spd="med">
    <p:fade/>
  </p:transition>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What You Achieved (cont.)</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Save it as a Skill</a:t>
            </a:r>
          </a:p>
          <a:p>
            <a:pPr algn="l">
              <a:spcAft>
                <a:spcPts val="300"/>
              </a:spcAft>
            </a:pPr>
            <a:r>
              <a:rPr sz="1300" b="0">
                <a:solidFill>
                  <a:srgbClr val="5B6372"/>
                </a:solidFill>
                <a:latin typeface="Arial"/>
              </a:rPr>
              <a:t>Save a working method as a Skill so the whole team applies the same standard.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Connect SharePoint</a:t>
            </a:r>
          </a:p>
          <a:p>
            <a:pPr algn="l">
              <a:spcAft>
                <a:spcPts val="300"/>
              </a:spcAft>
            </a:pPr>
            <a:r>
              <a:rPr sz="1300" b="0">
                <a:solidFill>
                  <a:srgbClr val="5B6372"/>
                </a:solidFill>
                <a:latin typeface="Arial"/>
              </a:rPr>
              <a:t>Use the Microsoft 365 connector to find HR files stored in SharePoint.</a:t>
            </a:r>
          </a:p>
        </p:txBody>
      </p:sp>
      <p:sp>
        <p:nvSpPr>
          <p:cNvPr id="17" name="Rectangle 16"/>
          <p:cNvSpPr/>
          <p:nvPr/>
        </p:nvSpPr>
        <p:spPr>
          <a:xfrm>
            <a:off x="3504438"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504438" y="3319272"/>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760470" y="369417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760470"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13</a:t>
            </a:r>
          </a:p>
        </p:txBody>
      </p:sp>
      <p:sp>
        <p:nvSpPr>
          <p:cNvPr id="21" name="TextBox 20"/>
          <p:cNvSpPr txBox="1"/>
          <p:nvPr/>
        </p:nvSpPr>
        <p:spPr>
          <a:xfrm>
            <a:off x="4491990" y="3447288"/>
            <a:ext cx="3973068" cy="1115568"/>
          </a:xfrm>
          <a:prstGeom prst="rect">
            <a:avLst/>
          </a:prstGeom>
          <a:noFill/>
        </p:spPr>
        <p:txBody>
          <a:bodyPr wrap="square" anchor="ctr">
            <a:spAutoFit/>
          </a:bodyPr>
          <a:lstStyle/>
          <a:p>
            <a:pPr algn="l">
              <a:spcAft>
                <a:spcPts val="300"/>
              </a:spcAft>
            </a:pPr>
            <a:r>
              <a:rPr sz="1700" b="1">
                <a:solidFill>
                  <a:srgbClr val="161B26"/>
                </a:solidFill>
                <a:latin typeface="Arial"/>
              </a:rPr>
              <a:t>Add a plugin</a:t>
            </a:r>
          </a:p>
          <a:p>
            <a:pPr algn="l">
              <a:spcAft>
                <a:spcPts val="300"/>
              </a:spcAft>
            </a:pPr>
            <a:r>
              <a:rPr sz="1300" b="0">
                <a:solidFill>
                  <a:srgbClr val="5B6372"/>
                </a:solidFill>
                <a:latin typeface="Arial"/>
              </a:rPr>
              <a:t>Add a plugin, and judge when a task needs one and when it does not.</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110</a:t>
            </a:r>
          </a:p>
        </p:txBody>
      </p:sp>
    </p:spTree>
  </p:cSld>
  <p:clrMapOvr>
    <a:masterClrMapping/>
  </p:clrMapOvr>
  <p:transition spd="med">
    <p:fade/>
  </p:transition>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F6FEB"/>
                </a:solidFill>
                <a:latin typeface="Arial"/>
              </a:rPr>
              <a:t>WRAP-UP</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Keep Practising After the Course</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Re-run the labs on your own machine — repetition is what makes the skills stick.</a:t>
            </a:r>
          </a:p>
        </p:txBody>
      </p:sp>
      <p:sp>
        <p:nvSpPr>
          <p:cNvPr id="12" name="Rectangle 11"/>
          <p:cNvSpPr/>
          <p:nvPr/>
        </p:nvSpPr>
        <p:spPr>
          <a:xfrm>
            <a:off x="6176772" y="1828800"/>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Apply the techniques to a real process or project in your own organisation.</a:t>
            </a:r>
          </a:p>
        </p:txBody>
      </p:sp>
      <p:sp>
        <p:nvSpPr>
          <p:cNvPr id="17" name="Rectangle 16"/>
          <p:cNvSpPr/>
          <p:nvPr/>
        </p:nvSpPr>
        <p:spPr>
          <a:xfrm>
            <a:off x="777240" y="4059936"/>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Your course material stays available at https://lms-tms.tertiaryinfotech.com/.</a:t>
            </a:r>
          </a:p>
        </p:txBody>
      </p:sp>
      <p:sp>
        <p:nvSpPr>
          <p:cNvPr id="22" name="Rectangle 21"/>
          <p:cNvSpPr/>
          <p:nvPr/>
        </p:nvSpPr>
        <p:spPr>
          <a:xfrm>
            <a:off x="6176772" y="4059936"/>
            <a:ext cx="5234940"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FFFFFF"/>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161B26"/>
                </a:solidFill>
                <a:latin typeface="Arial"/>
              </a:rPr>
              <a:t>Explore the follow-on courses at www.tertiarycourses.com.sg.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111</a:t>
            </a:r>
          </a:p>
        </p:txBody>
      </p:sp>
    </p:spTree>
  </p:cSld>
  <p:clrMapOvr>
    <a:masterClrMapping/>
  </p:clrMapOvr>
  <p:transition spd="med">
    <p:fade/>
  </p:transition>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7C3AED"/>
                </a:solidFill>
                <a:latin typeface="Arial"/>
              </a:rPr>
              <a:t>CURRENT PRODUCT GUIDANCE</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Selected References &amp; Further Learning</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Claude for Microsoft 365 overview</a:t>
            </a:r>
          </a:p>
          <a:p>
            <a:pPr algn="l">
              <a:spcAft>
                <a:spcPts val="300"/>
              </a:spcAft>
            </a:pPr>
            <a:r>
              <a:rPr sz="1100" b="0">
                <a:solidFill>
                  <a:srgbClr val="5B6372"/>
                </a:solidFill>
                <a:latin typeface="Arial"/>
              </a:rPr>
              <a:t>claude.com</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Claude for Microsoft 365 add-ins overview</a:t>
            </a:r>
          </a:p>
          <a:p>
            <a:pPr algn="l">
              <a:spcAft>
                <a:spcPts val="300"/>
              </a:spcAft>
            </a:pPr>
            <a:r>
              <a:rPr sz="1100" b="0">
                <a:solidFill>
                  <a:srgbClr val="5B6372"/>
                </a:solidFill>
                <a:latin typeface="Arial"/>
              </a:rPr>
              <a:t>claude.com</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Use Claude for Word</a:t>
            </a:r>
          </a:p>
          <a:p>
            <a:pPr algn="l">
              <a:spcAft>
                <a:spcPts val="300"/>
              </a:spcAft>
            </a:pPr>
            <a:r>
              <a:rPr sz="1100" b="0">
                <a:solidFill>
                  <a:srgbClr val="5B6372"/>
                </a:solidFill>
                <a:latin typeface="Arial"/>
              </a:rPr>
              <a:t>claude.com</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Use Claude for Outlook</a:t>
            </a:r>
          </a:p>
          <a:p>
            <a:pPr algn="l">
              <a:spcAft>
                <a:spcPts val="300"/>
              </a:spcAft>
            </a:pPr>
            <a:r>
              <a:rPr sz="1100" b="0">
                <a:solidFill>
                  <a:srgbClr val="5B6372"/>
                </a:solidFill>
                <a:latin typeface="Arial"/>
              </a:rPr>
              <a:t>claude.com</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Get started with Claude in Chrome</a:t>
            </a:r>
          </a:p>
          <a:p>
            <a:pPr algn="l">
              <a:spcAft>
                <a:spcPts val="300"/>
              </a:spcAft>
            </a:pPr>
            <a:r>
              <a:rPr sz="1100" b="0">
                <a:solidFill>
                  <a:srgbClr val="5B6372"/>
                </a:solidFill>
                <a:latin typeface="Arial"/>
              </a:rPr>
              <a:t>support.claude.com</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Claude in Chrome permissions guide</a:t>
            </a:r>
          </a:p>
          <a:p>
            <a:pPr algn="l">
              <a:spcAft>
                <a:spcPts val="300"/>
              </a:spcAft>
            </a:pPr>
            <a:r>
              <a:rPr sz="1100" b="0">
                <a:solidFill>
                  <a:srgbClr val="5B6372"/>
                </a:solidFill>
                <a:latin typeface="Arial"/>
              </a:rPr>
              <a:t>support.claude.com</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112</a:t>
            </a:r>
          </a:p>
        </p:txBody>
      </p:sp>
    </p:spTree>
  </p:cSld>
  <p:clrMapOvr>
    <a:masterClrMapping/>
  </p:clrMapOvr>
  <p:transition spd="med">
    <p:fade/>
  </p:transition>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10B981"/>
                </a:solidFill>
                <a:latin typeface="Arial"/>
              </a:rPr>
              <a:t>COURSE CLOSE</a:t>
            </a:r>
          </a:p>
        </p:txBody>
      </p:sp>
      <p:sp>
        <p:nvSpPr>
          <p:cNvPr id="5" name="TextBox 4"/>
          <p:cNvSpPr txBox="1"/>
          <p:nvPr/>
        </p:nvSpPr>
        <p:spPr>
          <a:xfrm>
            <a:off x="777240" y="822960"/>
            <a:ext cx="10927080" cy="749808"/>
          </a:xfrm>
          <a:prstGeom prst="rect">
            <a:avLst/>
          </a:prstGeom>
          <a:noFill/>
        </p:spPr>
        <p:txBody>
          <a:bodyPr wrap="none" anchor="ctr">
            <a:spAutoFit/>
          </a:bodyPr>
          <a:lstStyle/>
          <a:p>
            <a:pPr algn="l">
              <a:spcAft>
                <a:spcPts val="400"/>
              </a:spcAft>
            </a:pPr>
            <a:r>
              <a:rPr sz="2900" b="1">
                <a:solidFill>
                  <a:srgbClr val="161B26"/>
                </a:solidFill>
                <a:latin typeface="Arial"/>
              </a:rPr>
              <a:t>Thank You — Keep the Workflow Governed</a:t>
            </a:r>
          </a:p>
        </p:txBody>
      </p:sp>
      <p:sp>
        <p:nvSpPr>
          <p:cNvPr id="6" name="Rectangle 5"/>
          <p:cNvSpPr/>
          <p:nvPr/>
        </p:nvSpPr>
        <p:spPr>
          <a:xfrm>
            <a:off x="777240" y="164592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874519"/>
            <a:ext cx="10561320" cy="594360"/>
          </a:xfrm>
          <a:prstGeom prst="rect">
            <a:avLst/>
          </a:prstGeom>
          <a:noFill/>
        </p:spPr>
        <p:txBody>
          <a:bodyPr wrap="square" anchor="t">
            <a:spAutoFit/>
          </a:bodyPr>
          <a:lstStyle/>
          <a:p>
            <a:pPr algn="ctr">
              <a:spcAft>
                <a:spcPts val="400"/>
              </a:spcAft>
            </a:pPr>
            <a:r>
              <a:rPr sz="2400" b="1">
                <a:solidFill>
                  <a:srgbClr val="161B26"/>
                </a:solidFill>
                <a:latin typeface="Arial"/>
              </a:rPr>
              <a:t>Carry one connected evidence chain from source to decision.</a:t>
            </a:r>
          </a:p>
        </p:txBody>
      </p:sp>
      <p:sp>
        <p:nvSpPr>
          <p:cNvPr id="8" name="Rectangle 7"/>
          <p:cNvSpPr/>
          <p:nvPr/>
        </p:nvSpPr>
        <p:spPr>
          <a:xfrm>
            <a:off x="822960" y="2880360"/>
            <a:ext cx="3322320" cy="23317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2880360"/>
            <a:ext cx="332232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154936" y="3200400"/>
            <a:ext cx="658368" cy="65836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54936" y="3200400"/>
            <a:ext cx="658368" cy="658368"/>
          </a:xfrm>
          <a:prstGeom prst="rect">
            <a:avLst/>
          </a:prstGeom>
          <a:noFill/>
        </p:spPr>
        <p:txBody>
          <a:bodyPr wrap="square" anchor="ctr">
            <a:spAutoFit/>
          </a:bodyPr>
          <a:lstStyle/>
          <a:p>
            <a:pPr algn="ctr">
              <a:spcAft>
                <a:spcPts val="400"/>
              </a:spcAft>
            </a:pPr>
            <a:r>
              <a:rPr sz="2100" b="1">
                <a:solidFill>
                  <a:srgbClr val="FFFFFF"/>
                </a:solidFill>
                <a:latin typeface="Arial"/>
              </a:rPr>
              <a:t>1</a:t>
            </a:r>
          </a:p>
        </p:txBody>
      </p:sp>
      <p:sp>
        <p:nvSpPr>
          <p:cNvPr id="12" name="TextBox 11"/>
          <p:cNvSpPr txBox="1"/>
          <p:nvPr/>
        </p:nvSpPr>
        <p:spPr>
          <a:xfrm>
            <a:off x="1005840" y="4050792"/>
            <a:ext cx="2956560" cy="320040"/>
          </a:xfrm>
          <a:prstGeom prst="rect">
            <a:avLst/>
          </a:prstGeom>
          <a:noFill/>
        </p:spPr>
        <p:txBody>
          <a:bodyPr wrap="square" anchor="t">
            <a:spAutoFit/>
          </a:bodyPr>
          <a:lstStyle/>
          <a:p>
            <a:pPr algn="ctr">
              <a:spcAft>
                <a:spcPts val="400"/>
              </a:spcAft>
            </a:pPr>
            <a:r>
              <a:rPr sz="1300" b="1">
                <a:solidFill>
                  <a:srgbClr val="1F6FEB"/>
                </a:solidFill>
                <a:latin typeface="Arial"/>
              </a:rPr>
              <a:t>BUILD</a:t>
            </a:r>
          </a:p>
        </p:txBody>
      </p:sp>
      <p:sp>
        <p:nvSpPr>
          <p:cNvPr id="13" name="TextBox 12"/>
          <p:cNvSpPr txBox="1"/>
          <p:nvPr/>
        </p:nvSpPr>
        <p:spPr>
          <a:xfrm>
            <a:off x="1051560" y="4434840"/>
            <a:ext cx="2865120" cy="594360"/>
          </a:xfrm>
          <a:prstGeom prst="rect">
            <a:avLst/>
          </a:prstGeom>
          <a:noFill/>
        </p:spPr>
        <p:txBody>
          <a:bodyPr wrap="square" anchor="t">
            <a:spAutoFit/>
          </a:bodyPr>
          <a:lstStyle/>
          <a:p>
            <a:pPr algn="ctr">
              <a:spcAft>
                <a:spcPts val="400"/>
              </a:spcAft>
            </a:pPr>
            <a:r>
              <a:rPr sz="1200" b="0">
                <a:solidFill>
                  <a:srgbClr val="161B26"/>
                </a:solidFill>
                <a:latin typeface="Arial"/>
              </a:rPr>
              <a:t>Create useful native Word, Excel and PowerPoint work products.</a:t>
            </a:r>
          </a:p>
        </p:txBody>
      </p:sp>
      <p:sp>
        <p:nvSpPr>
          <p:cNvPr id="14" name="Rectangle 13"/>
          <p:cNvSpPr/>
          <p:nvPr/>
        </p:nvSpPr>
        <p:spPr>
          <a:xfrm>
            <a:off x="4419600" y="2880360"/>
            <a:ext cx="3322320" cy="23317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19600" y="2880360"/>
            <a:ext cx="33223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751576" y="3200400"/>
            <a:ext cx="658368" cy="65836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751576" y="3200400"/>
            <a:ext cx="658368" cy="658368"/>
          </a:xfrm>
          <a:prstGeom prst="rect">
            <a:avLst/>
          </a:prstGeom>
          <a:noFill/>
        </p:spPr>
        <p:txBody>
          <a:bodyPr wrap="square" anchor="ctr">
            <a:spAutoFit/>
          </a:bodyPr>
          <a:lstStyle/>
          <a:p>
            <a:pPr algn="ctr">
              <a:spcAft>
                <a:spcPts val="400"/>
              </a:spcAft>
            </a:pPr>
            <a:r>
              <a:rPr sz="2100" b="1">
                <a:solidFill>
                  <a:srgbClr val="FFFFFF"/>
                </a:solidFill>
                <a:latin typeface="Arial"/>
              </a:rPr>
              <a:t>2</a:t>
            </a:r>
          </a:p>
        </p:txBody>
      </p:sp>
      <p:sp>
        <p:nvSpPr>
          <p:cNvPr id="18" name="TextBox 17"/>
          <p:cNvSpPr txBox="1"/>
          <p:nvPr/>
        </p:nvSpPr>
        <p:spPr>
          <a:xfrm>
            <a:off x="4602480" y="4050792"/>
            <a:ext cx="2956560" cy="320040"/>
          </a:xfrm>
          <a:prstGeom prst="rect">
            <a:avLst/>
          </a:prstGeom>
          <a:noFill/>
        </p:spPr>
        <p:txBody>
          <a:bodyPr wrap="square" anchor="t">
            <a:spAutoFit/>
          </a:bodyPr>
          <a:lstStyle/>
          <a:p>
            <a:pPr algn="ctr">
              <a:spcAft>
                <a:spcPts val="400"/>
              </a:spcAft>
            </a:pPr>
            <a:r>
              <a:rPr sz="1300" b="1">
                <a:solidFill>
                  <a:srgbClr val="10B981"/>
                </a:solidFill>
                <a:latin typeface="Arial"/>
              </a:rPr>
              <a:t>VERIFY</a:t>
            </a:r>
          </a:p>
        </p:txBody>
      </p:sp>
      <p:sp>
        <p:nvSpPr>
          <p:cNvPr id="19" name="TextBox 18"/>
          <p:cNvSpPr txBox="1"/>
          <p:nvPr/>
        </p:nvSpPr>
        <p:spPr>
          <a:xfrm>
            <a:off x="4648200" y="4434840"/>
            <a:ext cx="2865120" cy="594360"/>
          </a:xfrm>
          <a:prstGeom prst="rect">
            <a:avLst/>
          </a:prstGeom>
          <a:noFill/>
        </p:spPr>
        <p:txBody>
          <a:bodyPr wrap="square" anchor="t">
            <a:spAutoFit/>
          </a:bodyPr>
          <a:lstStyle/>
          <a:p>
            <a:pPr algn="ctr">
              <a:spcAft>
                <a:spcPts val="400"/>
              </a:spcAft>
            </a:pPr>
            <a:r>
              <a:rPr sz="1200" b="0">
                <a:solidFill>
                  <a:srgbClr val="161B26"/>
                </a:solidFill>
                <a:latin typeface="Arial"/>
              </a:rPr>
              <a:t>Trace claims, formulas, charts, recipients and assumptions to evidence.</a:t>
            </a:r>
          </a:p>
        </p:txBody>
      </p:sp>
      <p:sp>
        <p:nvSpPr>
          <p:cNvPr id="20" name="Rectangle 19"/>
          <p:cNvSpPr/>
          <p:nvPr/>
        </p:nvSpPr>
        <p:spPr>
          <a:xfrm>
            <a:off x="8016240" y="2880360"/>
            <a:ext cx="3322320" cy="233172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6240" y="2880360"/>
            <a:ext cx="3322320"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348216" y="3200400"/>
            <a:ext cx="658368" cy="6583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48216" y="3200400"/>
            <a:ext cx="658368" cy="658368"/>
          </a:xfrm>
          <a:prstGeom prst="rect">
            <a:avLst/>
          </a:prstGeom>
          <a:noFill/>
        </p:spPr>
        <p:txBody>
          <a:bodyPr wrap="square" anchor="ctr">
            <a:spAutoFit/>
          </a:bodyPr>
          <a:lstStyle/>
          <a:p>
            <a:pPr algn="ctr">
              <a:spcAft>
                <a:spcPts val="400"/>
              </a:spcAft>
            </a:pPr>
            <a:r>
              <a:rPr sz="2100" b="1">
                <a:solidFill>
                  <a:srgbClr val="FFFFFF"/>
                </a:solidFill>
                <a:latin typeface="Arial"/>
              </a:rPr>
              <a:t>3</a:t>
            </a:r>
          </a:p>
        </p:txBody>
      </p:sp>
      <p:sp>
        <p:nvSpPr>
          <p:cNvPr id="24" name="TextBox 23"/>
          <p:cNvSpPr txBox="1"/>
          <p:nvPr/>
        </p:nvSpPr>
        <p:spPr>
          <a:xfrm>
            <a:off x="8199120" y="4050792"/>
            <a:ext cx="2956560" cy="320040"/>
          </a:xfrm>
          <a:prstGeom prst="rect">
            <a:avLst/>
          </a:prstGeom>
          <a:noFill/>
        </p:spPr>
        <p:txBody>
          <a:bodyPr wrap="square" anchor="t">
            <a:spAutoFit/>
          </a:bodyPr>
          <a:lstStyle/>
          <a:p>
            <a:pPr algn="ctr">
              <a:spcAft>
                <a:spcPts val="400"/>
              </a:spcAft>
            </a:pPr>
            <a:r>
              <a:rPr sz="1300" b="1">
                <a:solidFill>
                  <a:srgbClr val="7C3AED"/>
                </a:solidFill>
                <a:latin typeface="Arial"/>
              </a:rPr>
              <a:t>APPROVE</a:t>
            </a:r>
          </a:p>
        </p:txBody>
      </p:sp>
      <p:sp>
        <p:nvSpPr>
          <p:cNvPr id="25" name="TextBox 24"/>
          <p:cNvSpPr txBox="1"/>
          <p:nvPr/>
        </p:nvSpPr>
        <p:spPr>
          <a:xfrm>
            <a:off x="8244840" y="4434840"/>
            <a:ext cx="2865120" cy="594360"/>
          </a:xfrm>
          <a:prstGeom prst="rect">
            <a:avLst/>
          </a:prstGeom>
          <a:noFill/>
        </p:spPr>
        <p:txBody>
          <a:bodyPr wrap="square" anchor="t">
            <a:spAutoFit/>
          </a:bodyPr>
          <a:lstStyle/>
          <a:p>
            <a:pPr algn="ctr">
              <a:spcAft>
                <a:spcPts val="400"/>
              </a:spcAft>
            </a:pPr>
            <a:r>
              <a:rPr sz="1200" b="0">
                <a:solidFill>
                  <a:srgbClr val="161B26"/>
                </a:solidFill>
                <a:latin typeface="Arial"/>
              </a:rPr>
              <a:t>Keep final save, release and send decisions with the authorised human.</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Claude Microsoft 365 Masterclass (C197)  ·  C197</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113</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