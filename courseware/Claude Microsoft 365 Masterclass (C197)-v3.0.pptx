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learnerlogi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rtiarycourses.com.sg/learnerlogi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Claude Microsoft 365 Masterclass (C197)</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C197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v3.0  ·  13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LEARNER LMS ACCESS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Download Your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4709160" cy="41605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470916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7552" y="2020824"/>
            <a:ext cx="109728" cy="10972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34440" y="2020824"/>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81328" y="2020824"/>
            <a:ext cx="109728" cy="1097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633472"/>
            <a:ext cx="4160520" cy="384048"/>
          </a:xfrm>
          <a:prstGeom prst="rect">
            <a:avLst/>
          </a:prstGeom>
          <a:noFill/>
        </p:spPr>
        <p:txBody>
          <a:bodyPr wrap="square" anchor="t">
            <a:spAutoFit/>
          </a:bodyPr>
          <a:lstStyle/>
          <a:p>
            <a:pPr algn="ctr">
              <a:spcAft>
                <a:spcPts val="400"/>
              </a:spcAft>
            </a:pPr>
            <a:r>
              <a:rPr sz="1300" b="1">
                <a:solidFill>
                  <a:srgbClr val="1F6FEB"/>
                </a:solidFill>
                <a:latin typeface="Arial"/>
              </a:rPr>
              <a:t>LEARNER PORTAL</a:t>
            </a:r>
          </a:p>
        </p:txBody>
      </p:sp>
      <p:sp>
        <p:nvSpPr>
          <p:cNvPr id="13" name="TextBox 12"/>
          <p:cNvSpPr txBox="1"/>
          <p:nvPr/>
        </p:nvSpPr>
        <p:spPr>
          <a:xfrm>
            <a:off x="1024128" y="3072384"/>
            <a:ext cx="4206240" cy="658368"/>
          </a:xfrm>
          <a:prstGeom prst="rect">
            <a:avLst/>
          </a:prstGeom>
          <a:noFill/>
        </p:spPr>
        <p:txBody>
          <a:bodyPr wrap="square" anchor="t">
            <a:spAutoFit/>
          </a:bodyPr>
          <a:lstStyle/>
          <a:p>
            <a:pPr algn="ctr">
              <a:spcAft>
                <a:spcPts val="400"/>
              </a:spcAft>
            </a:pPr>
            <a:r>
              <a:rPr sz="1700" b="1">
                <a:solidFill>
                  <a:srgbClr val="161B26"/>
                </a:solidFill>
                <a:latin typeface="Arial"/>
              </a:rPr>
              <a:t>Sign in to access the course deck, Learner Guide and activity files.</a:t>
            </a:r>
          </a:p>
        </p:txBody>
      </p:sp>
      <p:sp>
        <p:nvSpPr>
          <p:cNvPr id="14" name="TextBox 13"/>
          <p:cNvSpPr txBox="1"/>
          <p:nvPr/>
        </p:nvSpPr>
        <p:spPr>
          <a:xfrm>
            <a:off x="1024128" y="3886200"/>
            <a:ext cx="4206240" cy="658368"/>
          </a:xfrm>
          <a:prstGeom prst="rect">
            <a:avLst/>
          </a:prstGeom>
          <a:noFill/>
        </p:spPr>
        <p:txBody>
          <a:bodyPr wrap="square" anchor="ctr">
            <a:spAutoFit/>
          </a:bodyPr>
          <a:lstStyle/>
          <a:p>
            <a:pPr algn="ctr">
              <a:spcAft>
                <a:spcPts val="400"/>
              </a:spcAft>
            </a:pPr>
            <a:r>
              <a:rPr sz="1300" b="1">
                <a:solidFill>
                  <a:srgbClr val="1F6FEB"/>
                </a:solidFill>
                <a:latin typeface="Arial"/>
                <a:hlinkClick r:id="rId2"/>
              </a:rPr>
              <a:t>tertiarycourses.com.sg/learnerlogin</a:t>
            </a:r>
          </a:p>
        </p:txBody>
      </p:sp>
      <p:sp>
        <p:nvSpPr>
          <p:cNvPr id="15" name="Rectangle 14">
            <a:hlinkClick r:id="rId2"/>
          </p:cNvPr>
          <p:cNvSpPr/>
          <p:nvPr/>
        </p:nvSpPr>
        <p:spPr>
          <a:xfrm>
            <a:off x="1325880" y="4800600"/>
            <a:ext cx="3611880" cy="6949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r:id="rId2"/>
          </p:cNvPr>
          <p:cNvSpPr txBox="1"/>
          <p:nvPr/>
        </p:nvSpPr>
        <p:spPr>
          <a:xfrm>
            <a:off x="1325880" y="4800600"/>
            <a:ext cx="3611880" cy="694944"/>
          </a:xfrm>
          <a:prstGeom prst="rect">
            <a:avLst/>
          </a:prstGeom>
          <a:noFill/>
        </p:spPr>
        <p:txBody>
          <a:bodyPr wrap="square" anchor="ctr">
            <a:spAutoFit/>
          </a:bodyPr>
          <a:lstStyle/>
          <a:p>
            <a:pPr algn="ctr">
              <a:spcAft>
                <a:spcPts val="400"/>
              </a:spcAft>
            </a:pPr>
            <a:r>
              <a:rPr sz="1600" b="1">
                <a:solidFill>
                  <a:srgbClr val="FFFFFF"/>
                </a:solidFill>
                <a:latin typeface="Arial"/>
              </a:rPr>
              <a:t>OPEN LEARNER LOGIN</a:t>
            </a:r>
          </a:p>
        </p:txBody>
      </p:sp>
      <p:sp>
        <p:nvSpPr>
          <p:cNvPr id="17" name="TextBox 16"/>
          <p:cNvSpPr txBox="1"/>
          <p:nvPr/>
        </p:nvSpPr>
        <p:spPr>
          <a:xfrm>
            <a:off x="1024128" y="5596128"/>
            <a:ext cx="4206240" cy="256032"/>
          </a:xfrm>
          <a:prstGeom prst="rect">
            <a:avLst/>
          </a:prstGeom>
          <a:noFill/>
        </p:spPr>
        <p:txBody>
          <a:bodyPr wrap="square" anchor="t">
            <a:spAutoFit/>
          </a:bodyPr>
          <a:lstStyle/>
          <a:p>
            <a:pPr algn="ctr">
              <a:spcAft>
                <a:spcPts val="400"/>
              </a:spcAft>
            </a:pPr>
            <a:r>
              <a:rPr sz="1100" b="0">
                <a:solidFill>
                  <a:srgbClr val="161B26"/>
                </a:solidFill>
                <a:latin typeface="Arial"/>
              </a:rPr>
              <a:t>Click the button or type the web address above.</a:t>
            </a:r>
          </a:p>
        </p:txBody>
      </p:sp>
      <p:sp>
        <p:nvSpPr>
          <p:cNvPr id="18" name="TextBox 17"/>
          <p:cNvSpPr txBox="1"/>
          <p:nvPr/>
        </p:nvSpPr>
        <p:spPr>
          <a:xfrm>
            <a:off x="5852160" y="1847088"/>
            <a:ext cx="5440680" cy="384048"/>
          </a:xfrm>
          <a:prstGeom prst="rect">
            <a:avLst/>
          </a:prstGeom>
          <a:noFill/>
        </p:spPr>
        <p:txBody>
          <a:bodyPr wrap="square" anchor="t">
            <a:spAutoFit/>
          </a:bodyPr>
          <a:lstStyle/>
          <a:p>
            <a:pPr algn="l">
              <a:spcAft>
                <a:spcPts val="400"/>
              </a:spcAft>
            </a:pPr>
            <a:r>
              <a:rPr sz="1700" b="1">
                <a:solidFill>
                  <a:srgbClr val="10B981"/>
                </a:solidFill>
                <a:latin typeface="Arial"/>
              </a:rPr>
              <a:t>Use OTP to sign in</a:t>
            </a:r>
          </a:p>
        </p:txBody>
      </p:sp>
      <p:sp>
        <p:nvSpPr>
          <p:cNvPr id="19" name="Oval 18"/>
          <p:cNvSpPr/>
          <p:nvPr/>
        </p:nvSpPr>
        <p:spPr>
          <a:xfrm>
            <a:off x="5852160" y="235915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0" y="2359152"/>
            <a:ext cx="502920" cy="50292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1" name="TextBox 20"/>
          <p:cNvSpPr txBox="1"/>
          <p:nvPr/>
        </p:nvSpPr>
        <p:spPr>
          <a:xfrm>
            <a:off x="6565392" y="2340864"/>
            <a:ext cx="4572000" cy="566928"/>
          </a:xfrm>
          <a:prstGeom prst="rect">
            <a:avLst/>
          </a:prstGeom>
          <a:noFill/>
        </p:spPr>
        <p:txBody>
          <a:bodyPr wrap="square" anchor="ctr">
            <a:spAutoFit/>
          </a:bodyPr>
          <a:lstStyle/>
          <a:p>
            <a:pPr algn="l">
              <a:spcAft>
                <a:spcPts val="400"/>
              </a:spcAft>
            </a:pPr>
            <a:r>
              <a:rPr sz="1500" b="0">
                <a:solidFill>
                  <a:srgbClr val="161B26"/>
                </a:solidFill>
                <a:latin typeface="Arial"/>
              </a:rPr>
              <a:t>Enter the email address registered for your course.</a:t>
            </a:r>
          </a:p>
        </p:txBody>
      </p:sp>
      <p:sp>
        <p:nvSpPr>
          <p:cNvPr id="22" name="Oval 21"/>
          <p:cNvSpPr/>
          <p:nvPr/>
        </p:nvSpPr>
        <p:spPr>
          <a:xfrm>
            <a:off x="5852160" y="319125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0" y="3191256"/>
            <a:ext cx="502920" cy="50292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565392" y="3172968"/>
            <a:ext cx="4572000" cy="566928"/>
          </a:xfrm>
          <a:prstGeom prst="rect">
            <a:avLst/>
          </a:prstGeom>
          <a:noFill/>
        </p:spPr>
        <p:txBody>
          <a:bodyPr wrap="square" anchor="ctr">
            <a:spAutoFit/>
          </a:bodyPr>
          <a:lstStyle/>
          <a:p>
            <a:pPr algn="l">
              <a:spcAft>
                <a:spcPts val="400"/>
              </a:spcAft>
            </a:pPr>
            <a:r>
              <a:rPr sz="1500" b="0">
                <a:solidFill>
                  <a:srgbClr val="161B26"/>
                </a:solidFill>
                <a:latin typeface="Arial"/>
              </a:rPr>
              <a:t>Choose OTP sign-in and request a code. Check your registered email.</a:t>
            </a:r>
          </a:p>
        </p:txBody>
      </p:sp>
      <p:sp>
        <p:nvSpPr>
          <p:cNvPr id="25" name="Oval 24"/>
          <p:cNvSpPr/>
          <p:nvPr/>
        </p:nvSpPr>
        <p:spPr>
          <a:xfrm>
            <a:off x="5852160" y="4023360"/>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0" y="4023360"/>
            <a:ext cx="502920" cy="50292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27" name="TextBox 26"/>
          <p:cNvSpPr txBox="1"/>
          <p:nvPr/>
        </p:nvSpPr>
        <p:spPr>
          <a:xfrm>
            <a:off x="6565392" y="4005072"/>
            <a:ext cx="4572000" cy="566928"/>
          </a:xfrm>
          <a:prstGeom prst="rect">
            <a:avLst/>
          </a:prstGeom>
          <a:noFill/>
        </p:spPr>
        <p:txBody>
          <a:bodyPr wrap="square" anchor="ctr">
            <a:spAutoFit/>
          </a:bodyPr>
          <a:lstStyle/>
          <a:p>
            <a:pPr algn="l">
              <a:spcAft>
                <a:spcPts val="400"/>
              </a:spcAft>
            </a:pPr>
            <a:r>
              <a:rPr sz="1500" b="0">
                <a:solidFill>
                  <a:srgbClr val="161B26"/>
                </a:solidFill>
                <a:latin typeface="Arial"/>
              </a:rPr>
              <a:t>Enter the OTP, open C197 and download your materials.</a:t>
            </a:r>
          </a:p>
        </p:txBody>
      </p:sp>
      <p:sp>
        <p:nvSpPr>
          <p:cNvPr id="28" name="Rectangle 27"/>
          <p:cNvSpPr/>
          <p:nvPr/>
        </p:nvSpPr>
        <p:spPr>
          <a:xfrm>
            <a:off x="5852160" y="4956048"/>
            <a:ext cx="5440680" cy="1078992"/>
          </a:xfrm>
          <a:prstGeom prst="rect">
            <a:avLst/>
          </a:prstGeom>
          <a:solidFill>
            <a:srgbClr val="F5F8FC"/>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4956048"/>
            <a:ext cx="100584" cy="10789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44768" y="5138928"/>
            <a:ext cx="4800600" cy="292608"/>
          </a:xfrm>
          <a:prstGeom prst="rect">
            <a:avLst/>
          </a:prstGeom>
          <a:noFill/>
        </p:spPr>
        <p:txBody>
          <a:bodyPr wrap="square" anchor="t">
            <a:spAutoFit/>
          </a:bodyPr>
          <a:lstStyle/>
          <a:p>
            <a:pPr algn="l">
              <a:spcAft>
                <a:spcPts val="400"/>
              </a:spcAft>
            </a:pPr>
            <a:r>
              <a:rPr sz="1300" b="1">
                <a:solidFill>
                  <a:srgbClr val="F59E0B"/>
                </a:solidFill>
                <a:latin typeface="Arial"/>
              </a:rPr>
              <a:t>Cannot receive the OTP? Use password sign-in</a:t>
            </a:r>
          </a:p>
        </p:txBody>
      </p:sp>
      <p:sp>
        <p:nvSpPr>
          <p:cNvPr id="31" name="TextBox 30"/>
          <p:cNvSpPr txBox="1"/>
          <p:nvPr/>
        </p:nvSpPr>
        <p:spPr>
          <a:xfrm>
            <a:off x="6144768" y="5468112"/>
            <a:ext cx="4800600" cy="347472"/>
          </a:xfrm>
          <a:prstGeom prst="rect">
            <a:avLst/>
          </a:prstGeom>
          <a:noFill/>
        </p:spPr>
        <p:txBody>
          <a:bodyPr wrap="square" anchor="t">
            <a:spAutoFit/>
          </a:bodyPr>
          <a:lstStyle/>
          <a:p>
            <a:pPr algn="l">
              <a:spcAft>
                <a:spcPts val="400"/>
              </a:spcAft>
            </a:pPr>
            <a:r>
              <a:rPr sz="1500" b="1">
                <a:solidFill>
                  <a:srgbClr val="161B26"/>
                </a:solidFill>
                <a:latin typeface="Arial"/>
              </a:rPr>
              <a:t>Same registered email  ·  Password: student12345</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JL</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Jim Gan Chiu Liang (JL)</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RESOURCES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Your Connected Course Workspace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Visual course deck</a:t>
            </a:r>
          </a:p>
          <a:p>
            <a:pPr algn="l">
              <a:spcAft>
                <a:spcPts val="300"/>
              </a:spcAft>
            </a:pPr>
            <a:r>
              <a:rPr sz="1200" b="0">
                <a:solidFill>
                  <a:srgbClr val="5B6372"/>
                </a:solidFill>
                <a:latin typeface="Arial"/>
              </a:rPr>
              <a:t>Concepts, process maps, prompt anatomy and realistic Office exhibits.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Detailed Learner Guide</a:t>
            </a:r>
          </a:p>
          <a:p>
            <a:pPr algn="l">
              <a:spcAft>
                <a:spcPts val="300"/>
              </a:spcAft>
            </a:pPr>
            <a:r>
              <a:rPr sz="1200" b="0">
                <a:solidFill>
                  <a:srgbClr val="5B6372"/>
                </a:solidFill>
                <a:latin typeface="Arial"/>
              </a:rPr>
              <a:t>Click-level procedures, full prompts, commands, checks and troubleshooting.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Eleven lab folders</a:t>
            </a:r>
          </a:p>
          <a:p>
            <a:pPr algn="l">
              <a:spcAft>
                <a:spcPts val="300"/>
              </a:spcAft>
            </a:pPr>
            <a:r>
              <a:rPr sz="1200" b="0">
                <a:solidFill>
                  <a:srgbClr val="5B6372"/>
                </a:solidFill>
                <a:latin typeface="Arial"/>
              </a:rPr>
              <a:t>A connected Lumina Living workflow with a README in every activity folder.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Native Office artifacts</a:t>
            </a:r>
          </a:p>
          <a:p>
            <a:pPr algn="l">
              <a:spcAft>
                <a:spcPts val="300"/>
              </a:spcAft>
            </a:pPr>
            <a:r>
              <a:rPr sz="1200" b="0">
                <a:solidFill>
                  <a:srgbClr val="5B6372"/>
                </a:solidFill>
                <a:latin typeface="Arial"/>
              </a:rPr>
              <a:t>Editable Word, Excel and PowerPoint samples plus reusable review templates.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0" name="TextBox 29"/>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hlinkClick r:id="rId2"/>
              </a:rPr>
              <a:t>Learner login:  https://www.tertiarycourses.com.sg/learnerlogin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Lesson Plan — One Connected Company 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Morning · 9:30am–1:10pm</a:t>
            </a:r>
          </a:p>
          <a:p>
            <a:pPr>
              <a:spcAft>
                <a:spcPts val="1000"/>
              </a:spcAft>
            </a:pPr>
            <a:r>
              <a:rPr sz="1400" b="0">
                <a:solidFill>
                  <a:srgbClr val="5B6372"/>
                </a:solidFill>
                <a:latin typeface="Arial"/>
              </a:rPr>
              <a:t>–  Topic 1: Getting Claude Ready for HR Work (Labs 0–3)</a:t>
            </a:r>
          </a:p>
          <a:p>
            <a:pPr>
              <a:spcAft>
                <a:spcPts val="1000"/>
              </a:spcAft>
            </a:pPr>
            <a:r>
              <a:rPr sz="1400" b="0">
                <a:solidFill>
                  <a:srgbClr val="5B6372"/>
                </a:solidFill>
                <a:latin typeface="Arial"/>
              </a:rPr>
              <a:t>–  Topic 2: Hiring Plans, Policies and Staff Documents (Labs 4–5)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Afternoon · 2:10pm–6:30pm</a:t>
            </a:r>
          </a:p>
          <a:p>
            <a:pPr>
              <a:spcAft>
                <a:spcPts val="1000"/>
              </a:spcAft>
            </a:pPr>
            <a:r>
              <a:rPr sz="1400" b="0">
                <a:solidFill>
                  <a:srgbClr val="5B6372"/>
                </a:solidFill>
                <a:latin typeface="Arial"/>
              </a:rPr>
              <a:t>–  Topic 3: People Numbers and Reporting to Leadership (Labs 6–7)</a:t>
            </a:r>
          </a:p>
          <a:p>
            <a:pPr>
              <a:spcAft>
                <a:spcPts val="1000"/>
              </a:spcAft>
            </a:pPr>
            <a:r>
              <a:rPr sz="1400" b="0">
                <a:solidFill>
                  <a:srgbClr val="5B6372"/>
                </a:solidFill>
                <a:latin typeface="Arial"/>
              </a:rPr>
              <a:t>–  Topic 4: Staff Questions, Repeatable Work and Advanced Claude (Labs 8–15)</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8 scheduled hours excluding lunch · 7.5 instructional hours · two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Pick the right place</a:t>
            </a:r>
          </a:p>
          <a:p>
            <a:pPr algn="l">
              <a:spcAft>
                <a:spcPts val="300"/>
              </a:spcAft>
            </a:pPr>
            <a:r>
              <a:rPr sz="1300" b="0">
                <a:solidFill>
                  <a:srgbClr val="5B6372"/>
                </a:solidFill>
                <a:latin typeface="Arial"/>
              </a:rPr>
              <a:t>Choose the right place to use Claude for an HR task.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Decide what Claude reads</a:t>
            </a:r>
          </a:p>
          <a:p>
            <a:pPr algn="l">
              <a:spcAft>
                <a:spcPts val="300"/>
              </a:spcAft>
            </a:pPr>
            <a:r>
              <a:rPr sz="1300" b="0">
                <a:solidFill>
                  <a:srgbClr val="5B6372"/>
                </a:solidFill>
                <a:latin typeface="Arial"/>
              </a:rPr>
              <a:t>Decide what staff information Claude may read, and what it must never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clearly</a:t>
            </a:r>
          </a:p>
          <a:p>
            <a:pPr algn="l">
              <a:spcAft>
                <a:spcPts val="300"/>
              </a:spcAft>
            </a:pPr>
            <a:r>
              <a:rPr sz="1300" b="0">
                <a:solidFill>
                  <a:srgbClr val="5B6372"/>
                </a:solidFill>
                <a:latin typeface="Arial"/>
              </a:rPr>
              <a:t>Write a request that says what you want, what to use, what to leave alone and when to stop.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Plan the hiring</a:t>
            </a:r>
          </a:p>
          <a:p>
            <a:pPr algn="l">
              <a:spcAft>
                <a:spcPts val="300"/>
              </a:spcAft>
            </a:pPr>
            <a:r>
              <a:rPr sz="1300" b="0">
                <a:solidFill>
                  <a:srgbClr val="5B6372"/>
                </a:solidFill>
                <a:latin typeface="Arial"/>
              </a:rPr>
              <a:t>Write a hiring plan in Word using only what the brief actually says.</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Check the policy wording</a:t>
            </a:r>
          </a:p>
          <a:p>
            <a:pPr algn="l">
              <a:spcAft>
                <a:spcPts val="300"/>
              </a:spcAft>
            </a:pPr>
            <a:r>
              <a:rPr sz="1300" b="0">
                <a:solidFill>
                  <a:srgbClr val="5B6372"/>
                </a:solidFill>
                <a:latin typeface="Arial"/>
              </a:rPr>
              <a:t>Draft leave and flexible-work policy wording that flags every point needing legal review.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People numbers</a:t>
            </a:r>
          </a:p>
          <a:p>
            <a:pPr algn="l">
              <a:spcAft>
                <a:spcPts val="300"/>
              </a:spcAft>
            </a:pPr>
            <a:r>
              <a:rPr sz="1300" b="0">
                <a:solidFill>
                  <a:srgbClr val="5B6372"/>
                </a:solidFill>
                <a:latin typeface="Arial"/>
              </a:rPr>
              <a:t>Build a headcount and turnover analysis in Excel using live formulas.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Tell leadership</a:t>
            </a:r>
          </a:p>
          <a:p>
            <a:pPr algn="l">
              <a:spcAft>
                <a:spcPts val="300"/>
              </a:spcAft>
            </a:pPr>
            <a:r>
              <a:rPr sz="1300" b="0">
                <a:solidFill>
                  <a:srgbClr val="5B6372"/>
                </a:solidFill>
                <a:latin typeface="Arial"/>
              </a:rPr>
              <a:t>Build a leadership update deck where every slide title states a conclusion.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Handle the inbox</a:t>
            </a:r>
          </a:p>
          <a:p>
            <a:pPr algn="l">
              <a:spcAft>
                <a:spcPts val="300"/>
              </a:spcAft>
            </a:pPr>
            <a:r>
              <a:rPr sz="1300" b="0">
                <a:solidFill>
                  <a:srgbClr val="5B6372"/>
                </a:solidFill>
                <a:latin typeface="Arial"/>
              </a:rPr>
              <a:t>Sort the HR inbox and draft one reply ready for approval.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One folder, one summary</a:t>
            </a:r>
          </a:p>
          <a:p>
            <a:pPr algn="l">
              <a:spcAft>
                <a:spcPts val="300"/>
              </a:spcAft>
            </a:pPr>
            <a:r>
              <a:rPr sz="1300" b="0">
                <a:solidFill>
                  <a:srgbClr val="5B6372"/>
                </a:solidFill>
                <a:latin typeface="Arial"/>
              </a:rPr>
              <a:t>Have Claude read one folder and write a people summary that says where each fact came from.</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Automate the update</a:t>
            </a:r>
          </a:p>
          <a:p>
            <a:pPr algn="l">
              <a:spcAft>
                <a:spcPts val="300"/>
              </a:spcAft>
            </a:pPr>
            <a:r>
              <a:rPr sz="1300" b="0">
                <a:solidFill>
                  <a:srgbClr val="5B6372"/>
                </a:solidFill>
                <a:latin typeface="Arial"/>
              </a:rPr>
              <a:t>Automate a weekly people update on your own computer.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Save it as a Skill</a:t>
            </a:r>
          </a:p>
          <a:p>
            <a:pPr algn="l">
              <a:spcAft>
                <a:spcPts val="300"/>
              </a:spcAft>
            </a:pPr>
            <a:r>
              <a:rPr sz="1300" b="0">
                <a:solidFill>
                  <a:srgbClr val="5B6372"/>
                </a:solidFill>
                <a:latin typeface="Arial"/>
              </a:rPr>
              <a:t>Save a working method as a Skill so the whole team applies the same standard.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Connect SharePoint</a:t>
            </a:r>
          </a:p>
          <a:p>
            <a:pPr algn="l">
              <a:spcAft>
                <a:spcPts val="300"/>
              </a:spcAft>
            </a:pPr>
            <a:r>
              <a:rPr sz="1300" b="0">
                <a:solidFill>
                  <a:srgbClr val="5B6372"/>
                </a:solidFill>
                <a:latin typeface="Arial"/>
              </a:rPr>
              <a:t>Use the Microsoft 365 connector to find HR files stored in SharePoint.</a:t>
            </a:r>
          </a:p>
        </p:txBody>
      </p:sp>
      <p:sp>
        <p:nvSpPr>
          <p:cNvPr id="17" name="Rectangle 16"/>
          <p:cNvSpPr/>
          <p:nvPr/>
        </p:nvSpPr>
        <p:spPr>
          <a:xfrm>
            <a:off x="3504438"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13</a:t>
            </a:r>
          </a:p>
        </p:txBody>
      </p:sp>
      <p:sp>
        <p:nvSpPr>
          <p:cNvPr id="21" name="TextBox 20"/>
          <p:cNvSpPr txBox="1"/>
          <p:nvPr/>
        </p:nvSpPr>
        <p:spPr>
          <a:xfrm>
            <a:off x="4491990"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Add a plugin</a:t>
            </a:r>
          </a:p>
          <a:p>
            <a:pPr algn="l">
              <a:spcAft>
                <a:spcPts val="300"/>
              </a:spcAft>
            </a:pPr>
            <a:r>
              <a:rPr sz="1300" b="0">
                <a:solidFill>
                  <a:srgbClr val="5B6372"/>
                </a:solidFill>
                <a:latin typeface="Arial"/>
              </a:rPr>
              <a:t>Add a plugin, and judge when a task needs one and when it does not.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Lumina Living Management Challenge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One Company, One Connected Evidence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Plan the year — turn the company's hiring needs into a plan, staff policies and clear approvals.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Work the numbers — check headcount, staff cost and budget assumptions in an Excel workbook you can follow.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Communicate the decision — build a company-standard executive deck using verified Word and Excel content.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Coordinate the work — triage Outlook, use Cowork for multi-file execution and use Claude Code for a repeatable daily brief.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The FRAME Control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Frame</a:t>
            </a:r>
          </a:p>
          <a:p>
            <a:pPr algn="l">
              <a:spcAft>
                <a:spcPts val="300"/>
              </a:spcAft>
            </a:pPr>
            <a:r>
              <a:rPr sz="1200" b="0">
                <a:solidFill>
                  <a:srgbClr val="5B6372"/>
                </a:solidFill>
                <a:latin typeface="Arial"/>
              </a:rPr>
              <a:t>Name the decision, audience, permitted sources and definition of done.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Retrieve</a:t>
            </a:r>
          </a:p>
          <a:p>
            <a:pPr algn="l">
              <a:spcAft>
                <a:spcPts val="300"/>
              </a:spcAft>
            </a:pPr>
            <a:r>
              <a:rPr sz="1200" b="0">
                <a:solidFill>
                  <a:srgbClr val="5B6372"/>
                </a:solidFill>
                <a:latin typeface="Arial"/>
              </a:rPr>
              <a:t>Bring only authorised files, messages and ranges into context.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Ask Claude to draft or edit the smallest useful unit in the native work product.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Measure</a:t>
            </a:r>
          </a:p>
          <a:p>
            <a:pPr algn="l">
              <a:spcAft>
                <a:spcPts val="300"/>
              </a:spcAft>
            </a:pPr>
            <a:r>
              <a:rPr sz="1200" b="0">
                <a:solidFill>
                  <a:srgbClr val="5B6372"/>
                </a:solidFill>
                <a:latin typeface="Arial"/>
              </a:rPr>
              <a:t>Verify figures, claims, formulas, formatting and policy constraints.</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Endorse</a:t>
            </a:r>
          </a:p>
          <a:p>
            <a:pPr algn="l">
              <a:spcAft>
                <a:spcPts val="300"/>
              </a:spcAft>
            </a:pPr>
            <a:r>
              <a:rPr sz="1200" b="0">
                <a:solidFill>
                  <a:srgbClr val="5B6372"/>
                </a:solidFill>
                <a:latin typeface="Arial"/>
              </a:rPr>
              <a:t>Record assumptions and obtain the named human approval before save, send or release.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PROFESSIONAL STANDARD</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From Polished Output to Trusted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10561320" cy="713232"/>
          </a:xfrm>
          <a:prstGeom prst="rect">
            <a:avLst/>
          </a:prstGeom>
          <a:noFill/>
        </p:spPr>
        <p:txBody>
          <a:bodyPr wrap="square" anchor="ctr">
            <a:spAutoFit/>
          </a:bodyPr>
          <a:lstStyle/>
          <a:p>
            <a:pPr algn="l">
              <a:spcAft>
                <a:spcPts val="400"/>
              </a:spcAft>
            </a:pPr>
            <a:r>
              <a:rPr sz="2400" b="1">
                <a:solidFill>
                  <a:srgbClr val="161B26"/>
                </a:solidFill>
                <a:latin typeface="Arial"/>
              </a:rPr>
              <a:t>A polished output is not a trusted output until its evidence, logic and owner are visible.</a:t>
            </a:r>
          </a:p>
        </p:txBody>
      </p:sp>
      <p:sp>
        <p:nvSpPr>
          <p:cNvPr id="8" name="Rectangle 7"/>
          <p:cNvSpPr/>
          <p:nvPr/>
        </p:nvSpPr>
        <p:spPr>
          <a:xfrm>
            <a:off x="804672"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 y="2788920"/>
            <a:ext cx="248945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738503" y="3099816"/>
            <a:ext cx="621792" cy="6217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8503"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2" name="TextBox 11"/>
          <p:cNvSpPr txBox="1"/>
          <p:nvPr/>
        </p:nvSpPr>
        <p:spPr>
          <a:xfrm>
            <a:off x="969264" y="3886200"/>
            <a:ext cx="2160270" cy="329184"/>
          </a:xfrm>
          <a:prstGeom prst="rect">
            <a:avLst/>
          </a:prstGeom>
          <a:noFill/>
        </p:spPr>
        <p:txBody>
          <a:bodyPr wrap="square" anchor="t">
            <a:spAutoFit/>
          </a:bodyPr>
          <a:lstStyle/>
          <a:p>
            <a:pPr algn="ctr">
              <a:spcAft>
                <a:spcPts val="400"/>
              </a:spcAft>
            </a:pPr>
            <a:r>
              <a:rPr sz="1300" b="1">
                <a:solidFill>
                  <a:srgbClr val="1F6FEB"/>
                </a:solidFill>
                <a:latin typeface="Arial"/>
              </a:rPr>
              <a:t>EVIDENCE</a:t>
            </a:r>
          </a:p>
        </p:txBody>
      </p:sp>
      <p:sp>
        <p:nvSpPr>
          <p:cNvPr id="13" name="TextBox 12"/>
          <p:cNvSpPr txBox="1"/>
          <p:nvPr/>
        </p:nvSpPr>
        <p:spPr>
          <a:xfrm>
            <a:off x="969264"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Claims trace to a file, heading, cell, range or approved message.</a:t>
            </a:r>
          </a:p>
        </p:txBody>
      </p:sp>
      <p:sp>
        <p:nvSpPr>
          <p:cNvPr id="14" name="Rectangle 13"/>
          <p:cNvSpPr/>
          <p:nvPr/>
        </p:nvSpPr>
        <p:spPr>
          <a:xfrm>
            <a:off x="3495294"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95294" y="2788920"/>
            <a:ext cx="248945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29125" y="3099816"/>
            <a:ext cx="621792" cy="6217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29125"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18" name="TextBox 17"/>
          <p:cNvSpPr txBox="1"/>
          <p:nvPr/>
        </p:nvSpPr>
        <p:spPr>
          <a:xfrm>
            <a:off x="3659886" y="3886200"/>
            <a:ext cx="2160270" cy="329184"/>
          </a:xfrm>
          <a:prstGeom prst="rect">
            <a:avLst/>
          </a:prstGeom>
          <a:noFill/>
        </p:spPr>
        <p:txBody>
          <a:bodyPr wrap="square" anchor="t">
            <a:spAutoFit/>
          </a:bodyPr>
          <a:lstStyle/>
          <a:p>
            <a:pPr algn="ctr">
              <a:spcAft>
                <a:spcPts val="400"/>
              </a:spcAft>
            </a:pPr>
            <a:r>
              <a:rPr sz="1300" b="1">
                <a:solidFill>
                  <a:srgbClr val="10B981"/>
                </a:solidFill>
                <a:latin typeface="Arial"/>
              </a:rPr>
              <a:t>LOGIC</a:t>
            </a:r>
          </a:p>
        </p:txBody>
      </p:sp>
      <p:sp>
        <p:nvSpPr>
          <p:cNvPr id="19" name="TextBox 18"/>
          <p:cNvSpPr txBox="1"/>
          <p:nvPr/>
        </p:nvSpPr>
        <p:spPr>
          <a:xfrm>
            <a:off x="3659886"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Formulas, assumptions and recommendations remain visible and challengeable.</a:t>
            </a:r>
          </a:p>
        </p:txBody>
      </p:sp>
      <p:sp>
        <p:nvSpPr>
          <p:cNvPr id="20" name="Rectangle 19"/>
          <p:cNvSpPr/>
          <p:nvPr/>
        </p:nvSpPr>
        <p:spPr>
          <a:xfrm>
            <a:off x="6185916"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2788920"/>
            <a:ext cx="248945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19747" y="3099816"/>
            <a:ext cx="621792" cy="6217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9747"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4" name="TextBox 23"/>
          <p:cNvSpPr txBox="1"/>
          <p:nvPr/>
        </p:nvSpPr>
        <p:spPr>
          <a:xfrm>
            <a:off x="6350508" y="3886200"/>
            <a:ext cx="2160270" cy="329184"/>
          </a:xfrm>
          <a:prstGeom prst="rect">
            <a:avLst/>
          </a:prstGeom>
          <a:noFill/>
        </p:spPr>
        <p:txBody>
          <a:bodyPr wrap="square" anchor="t">
            <a:spAutoFit/>
          </a:bodyPr>
          <a:lstStyle/>
          <a:p>
            <a:pPr algn="ctr">
              <a:spcAft>
                <a:spcPts val="400"/>
              </a:spcAft>
            </a:pPr>
            <a:r>
              <a:rPr sz="1300" b="1">
                <a:solidFill>
                  <a:srgbClr val="7C3AED"/>
                </a:solidFill>
                <a:latin typeface="Arial"/>
              </a:rPr>
              <a:t>OWNERSHIP</a:t>
            </a:r>
          </a:p>
        </p:txBody>
      </p:sp>
      <p:sp>
        <p:nvSpPr>
          <p:cNvPr id="25" name="TextBox 24"/>
          <p:cNvSpPr txBox="1"/>
          <p:nvPr/>
        </p:nvSpPr>
        <p:spPr>
          <a:xfrm>
            <a:off x="6350508"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A named reviewer accepts the business decision and unresolved risk.</a:t>
            </a:r>
          </a:p>
        </p:txBody>
      </p:sp>
      <p:sp>
        <p:nvSpPr>
          <p:cNvPr id="26" name="Rectangle 25"/>
          <p:cNvSpPr/>
          <p:nvPr/>
        </p:nvSpPr>
        <p:spPr>
          <a:xfrm>
            <a:off x="8876538" y="2788920"/>
            <a:ext cx="2489454" cy="24871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76538" y="2788920"/>
            <a:ext cx="248945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10369" y="3099816"/>
            <a:ext cx="621792" cy="6217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10369" y="3099816"/>
            <a:ext cx="621792" cy="621792"/>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0" name="TextBox 29"/>
          <p:cNvSpPr txBox="1"/>
          <p:nvPr/>
        </p:nvSpPr>
        <p:spPr>
          <a:xfrm>
            <a:off x="9041130" y="3886200"/>
            <a:ext cx="2160270" cy="329184"/>
          </a:xfrm>
          <a:prstGeom prst="rect">
            <a:avLst/>
          </a:prstGeom>
          <a:noFill/>
        </p:spPr>
        <p:txBody>
          <a:bodyPr wrap="square" anchor="t">
            <a:spAutoFit/>
          </a:bodyPr>
          <a:lstStyle/>
          <a:p>
            <a:pPr algn="ctr">
              <a:spcAft>
                <a:spcPts val="400"/>
              </a:spcAft>
            </a:pPr>
            <a:r>
              <a:rPr sz="1300" b="1">
                <a:solidFill>
                  <a:srgbClr val="F59E0B"/>
                </a:solidFill>
                <a:latin typeface="Arial"/>
              </a:rPr>
              <a:t>HAND-OFF</a:t>
            </a:r>
          </a:p>
        </p:txBody>
      </p:sp>
      <p:sp>
        <p:nvSpPr>
          <p:cNvPr id="31" name="TextBox 30"/>
          <p:cNvSpPr txBox="1"/>
          <p:nvPr/>
        </p:nvSpPr>
        <p:spPr>
          <a:xfrm>
            <a:off x="9041130" y="4270248"/>
            <a:ext cx="2160270" cy="841248"/>
          </a:xfrm>
          <a:prstGeom prst="rect">
            <a:avLst/>
          </a:prstGeom>
          <a:noFill/>
        </p:spPr>
        <p:txBody>
          <a:bodyPr wrap="square" anchor="ctr">
            <a:spAutoFit/>
          </a:bodyPr>
          <a:lstStyle/>
          <a:p>
            <a:pPr algn="ctr">
              <a:spcAft>
                <a:spcPts val="400"/>
              </a:spcAft>
            </a:pPr>
            <a:r>
              <a:rPr sz="1150" b="0">
                <a:solidFill>
                  <a:srgbClr val="161B26"/>
                </a:solidFill>
                <a:latin typeface="Arial"/>
              </a:rPr>
              <a:t>The presentation teaches the business architecture. The Learner Guide and lab folders contain the exact prompts, commands, source files and review checks.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The Company Pack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1F6FEB"/>
                </a:solidFill>
                <a:latin typeface="Arial"/>
              </a:rPr>
              <a:t>Plans and policies</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Hiring plan</a:t>
            </a:r>
          </a:p>
          <a:p>
            <a:pPr>
              <a:spcAft>
                <a:spcPts val="900"/>
              </a:spcAft>
            </a:pPr>
            <a:r>
              <a:rPr sz="1400" b="0">
                <a:solidFill>
                  <a:srgbClr val="161B26"/>
                </a:solidFill>
                <a:latin typeface="Arial"/>
              </a:rPr>
              <a:t>•  One-page people plan</a:t>
            </a:r>
          </a:p>
          <a:p>
            <a:pPr>
              <a:spcAft>
                <a:spcPts val="900"/>
              </a:spcAft>
            </a:pPr>
            <a:r>
              <a:rPr sz="1400" b="0">
                <a:solidFill>
                  <a:srgbClr val="161B26"/>
                </a:solidFill>
                <a:latin typeface="Arial"/>
              </a:rPr>
              <a:t>•  Leave and flexible-work drafts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10B981"/>
                </a:solidFill>
                <a:latin typeface="Arial"/>
              </a:rPr>
              <a:t>Analysis and story</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Headcount analysis</a:t>
            </a:r>
          </a:p>
          <a:p>
            <a:pPr>
              <a:spcAft>
                <a:spcPts val="900"/>
              </a:spcAft>
            </a:pPr>
            <a:r>
              <a:rPr sz="1400" b="0">
                <a:solidFill>
                  <a:srgbClr val="161B26"/>
                </a:solidFill>
                <a:latin typeface="Arial"/>
              </a:rPr>
              <a:t>•  People numbers</a:t>
            </a:r>
          </a:p>
          <a:p>
            <a:pPr>
              <a:spcAft>
                <a:spcPts val="900"/>
              </a:spcAft>
            </a:pPr>
            <a:r>
              <a:rPr sz="1400" b="0">
                <a:solidFill>
                  <a:srgbClr val="161B26"/>
                </a:solidFill>
                <a:latin typeface="Arial"/>
              </a:rPr>
              <a:t>•  Leadership update deck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7C3AED"/>
                </a:solidFill>
                <a:latin typeface="Arial"/>
              </a:rPr>
              <a:t>Agentic coordination</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Outlook draft workflow</a:t>
            </a:r>
          </a:p>
          <a:p>
            <a:pPr>
              <a:spcAft>
                <a:spcPts val="900"/>
              </a:spcAft>
            </a:pPr>
            <a:r>
              <a:rPr sz="1400" b="0">
                <a:solidFill>
                  <a:srgbClr val="161B26"/>
                </a:solidFill>
                <a:latin typeface="Arial"/>
              </a:rPr>
              <a:t>•  Cowork project</a:t>
            </a:r>
          </a:p>
          <a:p>
            <a:pPr>
              <a:spcAft>
                <a:spcPts val="900"/>
              </a:spcAft>
            </a:pPr>
            <a:r>
              <a:rPr sz="1400" b="0">
                <a:solidFill>
                  <a:srgbClr val="161B26"/>
                </a:solidFill>
                <a:latin typeface="Arial"/>
              </a:rPr>
              <a:t>•  Claude Code daily brief</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How Every Activity Connects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lab folder and inspect its realistic Word, Excel and PowerPoint company artifacts.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the named evidence and prompt contract to create or improve a work product.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Challenge the result against formulas, sources, policy boundaries and company templates.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Record the approval, retain the verified artifact and pass only approved context to the next activity.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PROMPTING FOR OFFICE WORK</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Prompts That Produce Reviewable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Word · Excel · PowerPoint · evidence · constraints · approval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BUSINESS RESULT TO APPROVAL GATE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The Five-Part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Name the business result</a:t>
            </a:r>
          </a:p>
          <a:p>
            <a:pPr algn="l">
              <a:spcAft>
                <a:spcPts val="300"/>
              </a:spcAft>
            </a:pPr>
            <a:r>
              <a:rPr sz="1200" b="0">
                <a:solidFill>
                  <a:srgbClr val="5B6372"/>
                </a:solidFill>
                <a:latin typeface="Arial"/>
              </a:rPr>
              <a:t>State the decision, audience and artifact—not merely the app you are using.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Ground the work</a:t>
            </a:r>
          </a:p>
          <a:p>
            <a:pPr algn="l">
              <a:spcAft>
                <a:spcPts val="300"/>
              </a:spcAft>
            </a:pPr>
            <a:r>
              <a:rPr sz="1200" b="0">
                <a:solidFill>
                  <a:srgbClr val="5B6372"/>
                </a:solidFill>
                <a:latin typeface="Arial"/>
              </a:rPr>
              <a:t>Name the open file, table, sheet, section or approved message set Claude may use.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Constrain the edit</a:t>
            </a:r>
          </a:p>
          <a:p>
            <a:pPr algn="l">
              <a:spcAft>
                <a:spcPts val="300"/>
              </a:spcAft>
            </a:pPr>
            <a:r>
              <a:rPr sz="1200" b="0">
                <a:solidFill>
                  <a:srgbClr val="5B6372"/>
                </a:solidFill>
                <a:latin typeface="Arial"/>
              </a:rPr>
              <a:t>Define scope, length, style, formula method, layout and anything Claude must not change.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Demand evidence</a:t>
            </a:r>
          </a:p>
          <a:p>
            <a:pPr algn="l">
              <a:spcAft>
                <a:spcPts val="300"/>
              </a:spcAft>
            </a:pPr>
            <a:r>
              <a:rPr sz="1200" b="0">
                <a:solidFill>
                  <a:srgbClr val="5B6372"/>
                </a:solidFill>
                <a:latin typeface="Arial"/>
              </a:rPr>
              <a:t>Require cell, range, heading or email citations and ask Claude to flag missing information.</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Set the approval gate</a:t>
            </a:r>
          </a:p>
          <a:p>
            <a:pPr algn="l">
              <a:spcAft>
                <a:spcPts val="300"/>
              </a:spcAft>
            </a:pPr>
            <a:r>
              <a:rPr sz="1200" b="0">
                <a:solidFill>
                  <a:srgbClr val="5B6372"/>
                </a:solidFill>
                <a:latin typeface="Arial"/>
              </a:rPr>
              <a:t>Ask for proposed changes first; verify them before accepting, saving, sending or publishing.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REALISTIC COMPANY WORK</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Claude-Generated Planning and Policy Samples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348691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135255"/>
            <a:ext cx="3285744" cy="282523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4-artifact.png"/>
          <p:cNvPicPr>
            <a:picLocks noChangeAspect="1"/>
          </p:cNvPicPr>
          <p:nvPr/>
        </p:nvPicPr>
        <p:blipFill>
          <a:blip r:embed="rId2"/>
          <a:stretch>
            <a:fillRect/>
          </a:stretch>
        </p:blipFill>
        <p:spPr>
          <a:xfrm>
            <a:off x="786384" y="2162687"/>
            <a:ext cx="3230880" cy="2770369"/>
          </a:xfrm>
          <a:prstGeom prst="rect">
            <a:avLst/>
          </a:prstGeom>
        </p:spPr>
      </p:pic>
      <p:sp>
        <p:nvSpPr>
          <p:cNvPr id="11" name="TextBox 10"/>
          <p:cNvSpPr txBox="1"/>
          <p:nvPr/>
        </p:nvSpPr>
        <p:spPr>
          <a:xfrm>
            <a:off x="822960" y="5166360"/>
            <a:ext cx="3157728" cy="310896"/>
          </a:xfrm>
          <a:prstGeom prst="rect">
            <a:avLst/>
          </a:prstGeom>
          <a:noFill/>
        </p:spPr>
        <p:txBody>
          <a:bodyPr wrap="square" anchor="t">
            <a:spAutoFit/>
          </a:bodyPr>
          <a:lstStyle/>
          <a:p>
            <a:pPr algn="ctr">
              <a:spcAft>
                <a:spcPts val="400"/>
              </a:spcAft>
            </a:pPr>
            <a:r>
              <a:rPr sz="1000" b="1">
                <a:solidFill>
                  <a:srgbClr val="1F6FEB"/>
                </a:solidFill>
                <a:latin typeface="Arial"/>
              </a:rPr>
              <a:t>LAB 04</a:t>
            </a:r>
          </a:p>
        </p:txBody>
      </p:sp>
      <p:sp>
        <p:nvSpPr>
          <p:cNvPr id="12" name="TextBox 11"/>
          <p:cNvSpPr txBox="1"/>
          <p:nvPr/>
        </p:nvSpPr>
        <p:spPr>
          <a:xfrm>
            <a:off x="82296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FY2027 Hiring Plan</a:t>
            </a:r>
          </a:p>
        </p:txBody>
      </p:sp>
      <p:sp>
        <p:nvSpPr>
          <p:cNvPr id="13" name="Rectangle 12"/>
          <p:cNvSpPr/>
          <p:nvPr/>
        </p:nvSpPr>
        <p:spPr>
          <a:xfrm>
            <a:off x="434644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6448" y="1847088"/>
            <a:ext cx="348691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67213" y="2020824"/>
            <a:ext cx="3245382" cy="30540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5-artifact.png"/>
          <p:cNvPicPr>
            <a:picLocks noChangeAspect="1"/>
          </p:cNvPicPr>
          <p:nvPr/>
        </p:nvPicPr>
        <p:blipFill>
          <a:blip r:embed="rId3"/>
          <a:stretch>
            <a:fillRect/>
          </a:stretch>
        </p:blipFill>
        <p:spPr>
          <a:xfrm>
            <a:off x="4494645" y="2048256"/>
            <a:ext cx="3190518" cy="2999232"/>
          </a:xfrm>
          <a:prstGeom prst="rect">
            <a:avLst/>
          </a:prstGeom>
        </p:spPr>
      </p:pic>
      <p:sp>
        <p:nvSpPr>
          <p:cNvPr id="17" name="TextBox 16"/>
          <p:cNvSpPr txBox="1"/>
          <p:nvPr/>
        </p:nvSpPr>
        <p:spPr>
          <a:xfrm>
            <a:off x="4511040" y="5166360"/>
            <a:ext cx="3157728" cy="310896"/>
          </a:xfrm>
          <a:prstGeom prst="rect">
            <a:avLst/>
          </a:prstGeom>
          <a:noFill/>
        </p:spPr>
        <p:txBody>
          <a:bodyPr wrap="square" anchor="t">
            <a:spAutoFit/>
          </a:bodyPr>
          <a:lstStyle/>
          <a:p>
            <a:pPr algn="ctr">
              <a:spcAft>
                <a:spcPts val="400"/>
              </a:spcAft>
            </a:pPr>
            <a:r>
              <a:rPr sz="1000" b="1">
                <a:solidFill>
                  <a:srgbClr val="10B981"/>
                </a:solidFill>
                <a:latin typeface="Arial"/>
              </a:rPr>
              <a:t>LAB 05</a:t>
            </a:r>
          </a:p>
        </p:txBody>
      </p:sp>
      <p:sp>
        <p:nvSpPr>
          <p:cNvPr id="18" name="TextBox 17"/>
          <p:cNvSpPr txBox="1"/>
          <p:nvPr/>
        </p:nvSpPr>
        <p:spPr>
          <a:xfrm>
            <a:off x="451104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One-Page People Plan</a:t>
            </a:r>
          </a:p>
        </p:txBody>
      </p:sp>
      <p:sp>
        <p:nvSpPr>
          <p:cNvPr id="19" name="Rectangle 18"/>
          <p:cNvSpPr/>
          <p:nvPr/>
        </p:nvSpPr>
        <p:spPr>
          <a:xfrm>
            <a:off x="803452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4528" y="1847088"/>
            <a:ext cx="348691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5112" y="2146493"/>
            <a:ext cx="3285744" cy="28027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ab-06-artifact.png"/>
          <p:cNvPicPr>
            <a:picLocks noChangeAspect="1"/>
          </p:cNvPicPr>
          <p:nvPr/>
        </p:nvPicPr>
        <p:blipFill>
          <a:blip r:embed="rId4"/>
          <a:stretch>
            <a:fillRect/>
          </a:stretch>
        </p:blipFill>
        <p:spPr>
          <a:xfrm>
            <a:off x="8162544" y="2173925"/>
            <a:ext cx="3230880" cy="2747894"/>
          </a:xfrm>
          <a:prstGeom prst="rect">
            <a:avLst/>
          </a:prstGeom>
        </p:spPr>
      </p:pic>
      <p:sp>
        <p:nvSpPr>
          <p:cNvPr id="23" name="TextBox 22"/>
          <p:cNvSpPr txBox="1"/>
          <p:nvPr/>
        </p:nvSpPr>
        <p:spPr>
          <a:xfrm>
            <a:off x="8199120" y="5166360"/>
            <a:ext cx="3157728" cy="310896"/>
          </a:xfrm>
          <a:prstGeom prst="rect">
            <a:avLst/>
          </a:prstGeom>
          <a:noFill/>
        </p:spPr>
        <p:txBody>
          <a:bodyPr wrap="square" anchor="t">
            <a:spAutoFit/>
          </a:bodyPr>
          <a:lstStyle/>
          <a:p>
            <a:pPr algn="ctr">
              <a:spcAft>
                <a:spcPts val="400"/>
              </a:spcAft>
            </a:pPr>
            <a:r>
              <a:rPr sz="1000" b="1">
                <a:solidFill>
                  <a:srgbClr val="7C3AED"/>
                </a:solidFill>
                <a:latin typeface="Arial"/>
              </a:rPr>
              <a:t>LAB 06</a:t>
            </a:r>
          </a:p>
        </p:txBody>
      </p:sp>
      <p:sp>
        <p:nvSpPr>
          <p:cNvPr id="24" name="TextBox 23"/>
          <p:cNvSpPr txBox="1"/>
          <p:nvPr/>
        </p:nvSpPr>
        <p:spPr>
          <a:xfrm>
            <a:off x="819912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Leave and Flexible-Work Drafts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NATIVE OFFICE ARTIFACTS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Claude-Generated Analysis and Executive Samples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847088"/>
            <a:ext cx="3486912"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304743"/>
            <a:ext cx="3285744" cy="24862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07-artifact.png"/>
          <p:cNvPicPr>
            <a:picLocks noChangeAspect="1"/>
          </p:cNvPicPr>
          <p:nvPr/>
        </p:nvPicPr>
        <p:blipFill>
          <a:blip r:embed="rId2"/>
          <a:stretch>
            <a:fillRect/>
          </a:stretch>
        </p:blipFill>
        <p:spPr>
          <a:xfrm>
            <a:off x="786384" y="2332175"/>
            <a:ext cx="3230880" cy="2431394"/>
          </a:xfrm>
          <a:prstGeom prst="rect">
            <a:avLst/>
          </a:prstGeom>
        </p:spPr>
      </p:pic>
      <p:sp>
        <p:nvSpPr>
          <p:cNvPr id="11" name="TextBox 10"/>
          <p:cNvSpPr txBox="1"/>
          <p:nvPr/>
        </p:nvSpPr>
        <p:spPr>
          <a:xfrm>
            <a:off x="822960" y="5166360"/>
            <a:ext cx="3157728" cy="310896"/>
          </a:xfrm>
          <a:prstGeom prst="rect">
            <a:avLst/>
          </a:prstGeom>
          <a:noFill/>
        </p:spPr>
        <p:txBody>
          <a:bodyPr wrap="square" anchor="t">
            <a:spAutoFit/>
          </a:bodyPr>
          <a:lstStyle/>
          <a:p>
            <a:pPr algn="ctr">
              <a:spcAft>
                <a:spcPts val="400"/>
              </a:spcAft>
            </a:pPr>
            <a:r>
              <a:rPr sz="1000" b="1">
                <a:solidFill>
                  <a:srgbClr val="1F6FEB"/>
                </a:solidFill>
                <a:latin typeface="Arial"/>
              </a:rPr>
              <a:t>LAB 07</a:t>
            </a:r>
          </a:p>
        </p:txBody>
      </p:sp>
      <p:sp>
        <p:nvSpPr>
          <p:cNvPr id="12" name="TextBox 11"/>
          <p:cNvSpPr txBox="1"/>
          <p:nvPr/>
        </p:nvSpPr>
        <p:spPr>
          <a:xfrm>
            <a:off x="82296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Headcount Analysis in Excel</a:t>
            </a:r>
          </a:p>
        </p:txBody>
      </p:sp>
      <p:sp>
        <p:nvSpPr>
          <p:cNvPr id="13" name="Rectangle 12"/>
          <p:cNvSpPr/>
          <p:nvPr/>
        </p:nvSpPr>
        <p:spPr>
          <a:xfrm>
            <a:off x="434644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6448" y="1847088"/>
            <a:ext cx="3486912"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47032" y="2570181"/>
            <a:ext cx="3285743" cy="19553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8-artifact.png"/>
          <p:cNvPicPr>
            <a:picLocks noChangeAspect="1"/>
          </p:cNvPicPr>
          <p:nvPr/>
        </p:nvPicPr>
        <p:blipFill>
          <a:blip r:embed="rId3"/>
          <a:stretch>
            <a:fillRect/>
          </a:stretch>
        </p:blipFill>
        <p:spPr>
          <a:xfrm>
            <a:off x="4474464" y="2597613"/>
            <a:ext cx="3230879" cy="1900517"/>
          </a:xfrm>
          <a:prstGeom prst="rect">
            <a:avLst/>
          </a:prstGeom>
        </p:spPr>
      </p:pic>
      <p:sp>
        <p:nvSpPr>
          <p:cNvPr id="17" name="TextBox 16"/>
          <p:cNvSpPr txBox="1"/>
          <p:nvPr/>
        </p:nvSpPr>
        <p:spPr>
          <a:xfrm>
            <a:off x="4511040" y="5166360"/>
            <a:ext cx="3157728" cy="310896"/>
          </a:xfrm>
          <a:prstGeom prst="rect">
            <a:avLst/>
          </a:prstGeom>
          <a:noFill/>
        </p:spPr>
        <p:txBody>
          <a:bodyPr wrap="square" anchor="t">
            <a:spAutoFit/>
          </a:bodyPr>
          <a:lstStyle/>
          <a:p>
            <a:pPr algn="ctr">
              <a:spcAft>
                <a:spcPts val="400"/>
              </a:spcAft>
            </a:pPr>
            <a:r>
              <a:rPr sz="1000" b="1">
                <a:solidFill>
                  <a:srgbClr val="10B981"/>
                </a:solidFill>
                <a:latin typeface="Arial"/>
              </a:rPr>
              <a:t>LAB 08</a:t>
            </a:r>
          </a:p>
        </p:txBody>
      </p:sp>
      <p:sp>
        <p:nvSpPr>
          <p:cNvPr id="18" name="TextBox 17"/>
          <p:cNvSpPr txBox="1"/>
          <p:nvPr/>
        </p:nvSpPr>
        <p:spPr>
          <a:xfrm>
            <a:off x="451104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Leadership Update Deck</a:t>
            </a:r>
          </a:p>
        </p:txBody>
      </p:sp>
      <p:sp>
        <p:nvSpPr>
          <p:cNvPr id="19" name="Rectangle 18"/>
          <p:cNvSpPr/>
          <p:nvPr/>
        </p:nvSpPr>
        <p:spPr>
          <a:xfrm>
            <a:off x="8034528" y="1847088"/>
            <a:ext cx="3486912" cy="422452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4528" y="1847088"/>
            <a:ext cx="3486912"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5112" y="2148047"/>
            <a:ext cx="3285744" cy="27996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ab-09-artifact.png"/>
          <p:cNvPicPr>
            <a:picLocks noChangeAspect="1"/>
          </p:cNvPicPr>
          <p:nvPr/>
        </p:nvPicPr>
        <p:blipFill>
          <a:blip r:embed="rId4"/>
          <a:stretch>
            <a:fillRect/>
          </a:stretch>
        </p:blipFill>
        <p:spPr>
          <a:xfrm>
            <a:off x="8162544" y="2175479"/>
            <a:ext cx="3230880" cy="2744786"/>
          </a:xfrm>
          <a:prstGeom prst="rect">
            <a:avLst/>
          </a:prstGeom>
        </p:spPr>
      </p:pic>
      <p:sp>
        <p:nvSpPr>
          <p:cNvPr id="23" name="TextBox 22"/>
          <p:cNvSpPr txBox="1"/>
          <p:nvPr/>
        </p:nvSpPr>
        <p:spPr>
          <a:xfrm>
            <a:off x="8199120" y="5166360"/>
            <a:ext cx="3157728" cy="310896"/>
          </a:xfrm>
          <a:prstGeom prst="rect">
            <a:avLst/>
          </a:prstGeom>
          <a:noFill/>
        </p:spPr>
        <p:txBody>
          <a:bodyPr wrap="square" anchor="t">
            <a:spAutoFit/>
          </a:bodyPr>
          <a:lstStyle/>
          <a:p>
            <a:pPr algn="ctr">
              <a:spcAft>
                <a:spcPts val="400"/>
              </a:spcAft>
            </a:pPr>
            <a:r>
              <a:rPr sz="1000" b="1">
                <a:solidFill>
                  <a:srgbClr val="7C3AED"/>
                </a:solidFill>
                <a:latin typeface="Arial"/>
              </a:rPr>
              <a:t>LAB 09</a:t>
            </a:r>
          </a:p>
        </p:txBody>
      </p:sp>
      <p:sp>
        <p:nvSpPr>
          <p:cNvPr id="24" name="TextBox 23"/>
          <p:cNvSpPr txBox="1"/>
          <p:nvPr/>
        </p:nvSpPr>
        <p:spPr>
          <a:xfrm>
            <a:off x="8199120" y="5486400"/>
            <a:ext cx="3157728" cy="475488"/>
          </a:xfrm>
          <a:prstGeom prst="rect">
            <a:avLst/>
          </a:prstGeom>
          <a:noFill/>
        </p:spPr>
        <p:txBody>
          <a:bodyPr wrap="square" anchor="ctr">
            <a:spAutoFit/>
          </a:bodyPr>
          <a:lstStyle/>
          <a:p>
            <a:pPr algn="ctr">
              <a:spcAft>
                <a:spcPts val="400"/>
              </a:spcAft>
            </a:pPr>
            <a:r>
              <a:rPr sz="1300" b="1">
                <a:solidFill>
                  <a:srgbClr val="161B26"/>
                </a:solidFill>
                <a:latin typeface="Arial"/>
              </a:rPr>
              <a:t>Sorted HR Inbox and Draft Reply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READABLE NATIVE EXCEL CHARTS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Inside the Claude-Generated Excel Dashboard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52760" cy="1234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07-kpis.png"/>
          <p:cNvPicPr>
            <a:picLocks noChangeAspect="1"/>
          </p:cNvPicPr>
          <p:nvPr/>
        </p:nvPicPr>
        <p:blipFill>
          <a:blip r:embed="rId2"/>
          <a:stretch>
            <a:fillRect/>
          </a:stretch>
        </p:blipFill>
        <p:spPr>
          <a:xfrm>
            <a:off x="914400" y="1938528"/>
            <a:ext cx="10378440" cy="987552"/>
          </a:xfrm>
          <a:prstGeom prst="rect">
            <a:avLst/>
          </a:prstGeom>
        </p:spPr>
      </p:pic>
      <p:sp>
        <p:nvSpPr>
          <p:cNvPr id="9" name="Rectangle 8"/>
          <p:cNvSpPr/>
          <p:nvPr/>
        </p:nvSpPr>
        <p:spPr>
          <a:xfrm>
            <a:off x="777240" y="3273552"/>
            <a:ext cx="5198364" cy="25786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3273552"/>
            <a:ext cx="5198364"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ab-07-revenue-chart.png"/>
          <p:cNvPicPr>
            <a:picLocks noChangeAspect="1"/>
          </p:cNvPicPr>
          <p:nvPr/>
        </p:nvPicPr>
        <p:blipFill>
          <a:blip r:embed="rId3"/>
          <a:stretch>
            <a:fillRect/>
          </a:stretch>
        </p:blipFill>
        <p:spPr>
          <a:xfrm>
            <a:off x="923544" y="3438144"/>
            <a:ext cx="4905756" cy="1664208"/>
          </a:xfrm>
          <a:prstGeom prst="rect">
            <a:avLst/>
          </a:prstGeom>
        </p:spPr>
      </p:pic>
      <p:sp>
        <p:nvSpPr>
          <p:cNvPr id="12" name="TextBox 11"/>
          <p:cNvSpPr txBox="1"/>
          <p:nvPr/>
        </p:nvSpPr>
        <p:spPr>
          <a:xfrm>
            <a:off x="960120" y="5175504"/>
            <a:ext cx="4832604" cy="256032"/>
          </a:xfrm>
          <a:prstGeom prst="rect">
            <a:avLst/>
          </a:prstGeom>
          <a:noFill/>
        </p:spPr>
        <p:txBody>
          <a:bodyPr wrap="square" anchor="t">
            <a:spAutoFit/>
          </a:bodyPr>
          <a:lstStyle/>
          <a:p>
            <a:pPr algn="ctr">
              <a:spcAft>
                <a:spcPts val="400"/>
              </a:spcAft>
            </a:pPr>
            <a:r>
              <a:rPr sz="1200" b="1">
                <a:solidFill>
                  <a:srgbClr val="1F6FEB"/>
                </a:solidFill>
                <a:latin typeface="Arial"/>
              </a:rPr>
              <a:t>Actual vs Plan</a:t>
            </a:r>
          </a:p>
        </p:txBody>
      </p:sp>
      <p:sp>
        <p:nvSpPr>
          <p:cNvPr id="13" name="TextBox 12"/>
          <p:cNvSpPr txBox="1"/>
          <p:nvPr/>
        </p:nvSpPr>
        <p:spPr>
          <a:xfrm>
            <a:off x="960120" y="5449824"/>
            <a:ext cx="4832604" cy="274320"/>
          </a:xfrm>
          <a:prstGeom prst="rect">
            <a:avLst/>
          </a:prstGeom>
          <a:noFill/>
        </p:spPr>
        <p:txBody>
          <a:bodyPr wrap="square" anchor="t">
            <a:spAutoFit/>
          </a:bodyPr>
          <a:lstStyle/>
          <a:p>
            <a:pPr algn="ctr">
              <a:spcAft>
                <a:spcPts val="400"/>
              </a:spcAft>
            </a:pPr>
            <a:r>
              <a:rPr sz="1050" b="0">
                <a:solidFill>
                  <a:srgbClr val="5B6372"/>
                </a:solidFill>
                <a:latin typeface="Arial"/>
              </a:rPr>
              <a:t>Shows whether headcount is on plan and where the gap appears each month.</a:t>
            </a:r>
          </a:p>
        </p:txBody>
      </p:sp>
      <p:sp>
        <p:nvSpPr>
          <p:cNvPr id="14" name="Rectangle 13"/>
          <p:cNvSpPr/>
          <p:nvPr/>
        </p:nvSpPr>
        <p:spPr>
          <a:xfrm>
            <a:off x="6231636" y="3273552"/>
            <a:ext cx="5198364" cy="25786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1636" y="3273552"/>
            <a:ext cx="5198364"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lab-07-contribution-chart.png"/>
          <p:cNvPicPr>
            <a:picLocks noChangeAspect="1"/>
          </p:cNvPicPr>
          <p:nvPr/>
        </p:nvPicPr>
        <p:blipFill>
          <a:blip r:embed="rId4"/>
          <a:stretch>
            <a:fillRect/>
          </a:stretch>
        </p:blipFill>
        <p:spPr>
          <a:xfrm>
            <a:off x="6377940" y="3438144"/>
            <a:ext cx="4905756" cy="1664208"/>
          </a:xfrm>
          <a:prstGeom prst="rect">
            <a:avLst/>
          </a:prstGeom>
        </p:spPr>
      </p:pic>
      <p:sp>
        <p:nvSpPr>
          <p:cNvPr id="17" name="TextBox 16"/>
          <p:cNvSpPr txBox="1"/>
          <p:nvPr/>
        </p:nvSpPr>
        <p:spPr>
          <a:xfrm>
            <a:off x="6414516" y="5175504"/>
            <a:ext cx="4832604" cy="256032"/>
          </a:xfrm>
          <a:prstGeom prst="rect">
            <a:avLst/>
          </a:prstGeom>
          <a:noFill/>
        </p:spPr>
        <p:txBody>
          <a:bodyPr wrap="square" anchor="t">
            <a:spAutoFit/>
          </a:bodyPr>
          <a:lstStyle/>
          <a:p>
            <a:pPr algn="ctr">
              <a:spcAft>
                <a:spcPts val="400"/>
              </a:spcAft>
            </a:pPr>
            <a:r>
              <a:rPr sz="1200" b="1">
                <a:solidFill>
                  <a:srgbClr val="10B981"/>
                </a:solidFill>
                <a:latin typeface="Arial"/>
              </a:rPr>
              <a:t>Staff Cost by Team</a:t>
            </a:r>
          </a:p>
        </p:txBody>
      </p:sp>
      <p:sp>
        <p:nvSpPr>
          <p:cNvPr id="18" name="TextBox 17"/>
          <p:cNvSpPr txBox="1"/>
          <p:nvPr/>
        </p:nvSpPr>
        <p:spPr>
          <a:xfrm>
            <a:off x="6414516" y="5449824"/>
            <a:ext cx="4832604" cy="274320"/>
          </a:xfrm>
          <a:prstGeom prst="rect">
            <a:avLst/>
          </a:prstGeom>
          <a:noFill/>
        </p:spPr>
        <p:txBody>
          <a:bodyPr wrap="square" anchor="t">
            <a:spAutoFit/>
          </a:bodyPr>
          <a:lstStyle/>
          <a:p>
            <a:pPr algn="ctr">
              <a:spcAft>
                <a:spcPts val="400"/>
              </a:spcAft>
            </a:pPr>
            <a:r>
              <a:rPr sz="1050" b="0">
                <a:solidFill>
                  <a:srgbClr val="5B6372"/>
                </a:solidFill>
                <a:latin typeface="Arial"/>
              </a:rPr>
              <a:t>Separates team size from team cost so leadership can act on the right one.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Claude Ready for HR Work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Where to use Claude · what it may read · asking for what you want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24%</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Key Concepts — Getting Claude Ready for HR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Three places to use Claude — inside Word, Excel and PowerPoint; in the Claude Desktop app; and in the browser. Each one sees different things.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panel inside Office works on the file you already have open, and keeps your headings, formulas and slide layouts.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Claude Desktop app can read a whole folder at once, so use it when the answer spans several files.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HR files hold information about real people. Decide what Claude may read, and what it must never change, before you start.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Ask Claude to say where each fact came from — which file, which sheet, which line — so you can check it before it reaches a staff member.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You decide, not Claude. Nothing is sent, published or approved until a named person says yes.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Hands-On Labs — Getting Claude Ready for HR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1F6FEB"/>
                </a:solidFill>
                <a:latin typeface="Arial"/>
              </a:rPr>
              <a:t>Labs 0–1</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161B26"/>
                </a:solidFill>
                <a:latin typeface="Arial"/>
              </a:rPr>
              <a:t>•  Set Up Claude for Microsoft 365 — A completed setup checklist showing which of the four routes are ready, and what to do about any that are not.</a:t>
            </a:r>
          </a:p>
          <a:p>
            <a:pPr>
              <a:spcAft>
                <a:spcPts val="900"/>
              </a:spcAft>
            </a:pPr>
            <a:r>
              <a:rPr sz="1400" b="0">
                <a:solidFill>
                  <a:srgbClr val="161B26"/>
                </a:solidFill>
                <a:latin typeface="Arial"/>
              </a:rPr>
              <a:t>•  Shortlist Candidates with AI Experience — A saved shortlist in your own workbook, a second copy saved from the Desktop app, and one sentence on which way suits work that must stay in one file.</a:t>
            </a:r>
          </a:p>
        </p:txBody>
      </p:sp>
      <p:sp>
        <p:nvSpPr>
          <p:cNvPr id="11" name="Rectangle 10"/>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10B981"/>
                </a:solidFill>
                <a:latin typeface="Arial"/>
              </a:rPr>
              <a:t>Labs 2–3</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161B26"/>
                </a:solidFill>
                <a:latin typeface="Arial"/>
              </a:rPr>
              <a:t>•  Analyse Staff Data and Decide What Claude May Read — A summary table and chart built by Claude in your own workbook, plus a completed access table.</a:t>
            </a:r>
          </a:p>
          <a:p>
            <a:pPr>
              <a:spcAft>
                <a:spcPts val="900"/>
              </a:spcAft>
            </a:pPr>
            <a:r>
              <a:rPr sz="1400" b="0">
                <a:solidFill>
                  <a:srgbClr val="161B26"/>
                </a:solidFill>
                <a:latin typeface="Arial"/>
              </a:rPr>
              <a:t>•  Ask Claude Clearly — A new section written into the brief by Claude, a second copy produced by the Desktop app, and a completed request checklist.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Set Up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Install the Claude add-in in Word, Excel and PowerPoint, sign in to Claude Desktop, connect the Microsoft 365 connector, and add Claude for Chrome. Record what works on your machine before the labs begin.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setup checklist showing which of the four routes are ready, and what to do about any that are not.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Microsoft 365 add-in, Claude Desktop, Microsoft 365 connector, Claude for Chrome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0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Where Skills Live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54002" y="1792224"/>
            <a:ext cx="5883691" cy="4206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skills-add-menu.png"/>
          <p:cNvPicPr>
            <a:picLocks noChangeAspect="1"/>
          </p:cNvPicPr>
          <p:nvPr/>
        </p:nvPicPr>
        <p:blipFill>
          <a:blip r:embed="rId2"/>
          <a:stretch>
            <a:fillRect/>
          </a:stretch>
        </p:blipFill>
        <p:spPr>
          <a:xfrm>
            <a:off x="3208866" y="1847088"/>
            <a:ext cx="5773963" cy="4096512"/>
          </a:xfrm>
          <a:prstGeom prst="rect">
            <a:avLst/>
          </a:prstGeom>
        </p:spPr>
      </p:pic>
      <p:sp>
        <p:nvSpPr>
          <p:cNvPr id="9" name="TextBox 8"/>
          <p:cNvSpPr txBox="1"/>
          <p:nvPr/>
        </p:nvSpPr>
        <p:spPr>
          <a:xfrm>
            <a:off x="777240" y="5879592"/>
            <a:ext cx="10607040" cy="493776"/>
          </a:xfrm>
          <a:prstGeom prst="rect">
            <a:avLst/>
          </a:prstGeom>
          <a:noFill/>
        </p:spPr>
        <p:txBody>
          <a:bodyPr wrap="square" anchor="ctr">
            <a:spAutoFit/>
          </a:bodyPr>
          <a:lstStyle/>
          <a:p>
            <a:pPr algn="ctr">
              <a:spcAft>
                <a:spcPts val="400"/>
              </a:spcAft>
            </a:pPr>
            <a:r>
              <a:rPr sz="1050" b="0">
                <a:solidFill>
                  <a:srgbClr val="5B6372"/>
                </a:solidFill>
                <a:latin typeface="Arial"/>
              </a:rPr>
              <a:t>Settings &gt; Skills on claude.ai. Add offers three ways to make one: Create with Claude, Write skill instructions, or Upload a skill.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0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Office add-in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Claude Desktop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Microsoft 365 connector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Claude for Chrome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what works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0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Four ways in</a:t>
            </a:r>
          </a:p>
          <a:p>
            <a:pPr algn="l">
              <a:spcAft>
                <a:spcPts val="300"/>
              </a:spcAft>
            </a:pPr>
            <a:r>
              <a:rPr sz="1200" b="0">
                <a:solidFill>
                  <a:srgbClr val="5B6372"/>
                </a:solidFill>
                <a:latin typeface="Arial"/>
              </a:rPr>
              <a:t>The Office panel, the Desktop app, the Microsoft 365 connector and the Chrome extension each see different things.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Install once</a:t>
            </a:r>
          </a:p>
          <a:p>
            <a:pPr algn="l">
              <a:spcAft>
                <a:spcPts val="300"/>
              </a:spcAft>
            </a:pPr>
            <a:r>
              <a:rPr sz="1200" b="0">
                <a:solidFill>
                  <a:srgbClr val="5B6372"/>
                </a:solidFill>
                <a:latin typeface="Arial"/>
              </a:rPr>
              <a:t>The add-in appears in Word, Excel, PowerPoint and Outlook once it is added.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connector needs approval</a:t>
            </a:r>
          </a:p>
          <a:p>
            <a:pPr algn="l">
              <a:spcAft>
                <a:spcPts val="300"/>
              </a:spcAft>
            </a:pPr>
            <a:r>
              <a:rPr sz="1200" b="0">
                <a:solidFill>
                  <a:srgbClr val="5B6372"/>
                </a:solidFill>
                <a:latin typeface="Arial"/>
              </a:rPr>
              <a:t>It reads your Microsoft 365 content, so an administrator must enable it first.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Not available is a valid answer</a:t>
            </a:r>
          </a:p>
          <a:p>
            <a:pPr algn="l">
              <a:spcAft>
                <a:spcPts val="300"/>
              </a:spcAft>
            </a:pPr>
            <a:r>
              <a:rPr sz="1200" b="0">
                <a:solidFill>
                  <a:srgbClr val="5B6372"/>
                </a:solidFill>
                <a:latin typeface="Arial"/>
              </a:rPr>
              <a:t>Record what your account actually allows; the labs tell you the local alternative.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0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Set Up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Every row of the Setup tab has a result. The Claude panel opens in Word, Excel and PowerPoint. Claude Desktop is signed in. The Microsoft 365 connector is either connected or recorded as Needs IT approval. Claude for Chrome is installed and set to Manually approve, or recorded as unavailable.</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Shortlist Candidates with AI Experience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Twenty-four people applied for HR roles. Claude fills in the shortlist directly in your Excel sheet, you check its decisions, then you run the same request in the Claude Desktop app and see that it hands you a downloaded copy instead of editing your file.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saved shortlist in your own workbook, a second copy saved from the Desktop app, and one sentence on which way suits work that must stay in one file.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Word, Claude Skills, natural-language skill creation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for it your way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 until right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it in one sentence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it is listed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Stop repeating yourself</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TRAINER AND LEARNER ROLES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 — What You Teach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Spell it out once</a:t>
            </a:r>
          </a:p>
          <a:p>
            <a:pPr algn="l">
              <a:spcAft>
                <a:spcPts val="300"/>
              </a:spcAft>
            </a:pPr>
            <a:r>
              <a:rPr sz="1200" b="0">
                <a:solidFill>
                  <a:srgbClr val="5B6372"/>
                </a:solidFill>
                <a:latin typeface="Arial"/>
              </a:rPr>
              <a:t>The first time, say exactly how you want the work done.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correction is a rule</a:t>
            </a:r>
          </a:p>
          <a:p>
            <a:pPr algn="l">
              <a:spcAft>
                <a:spcPts val="300"/>
              </a:spcAft>
            </a:pPr>
            <a:r>
              <a:rPr sz="1200" b="0">
                <a:solidFill>
                  <a:srgbClr val="5B6372"/>
                </a:solidFill>
                <a:latin typeface="Arial"/>
              </a:rPr>
              <a:t>What you fix now, you never have to say again.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Saving is a sentence</a:t>
            </a:r>
          </a:p>
          <a:p>
            <a:pPr algn="l">
              <a:spcAft>
                <a:spcPts val="300"/>
              </a:spcAft>
            </a:pPr>
            <a:r>
              <a:rPr sz="1200" b="0">
                <a:solidFill>
                  <a:srgbClr val="5B6372"/>
                </a:solidFill>
                <a:latin typeface="Arial"/>
              </a:rPr>
              <a:t>'Save that as a skill called hr-draft.' No menu, no form.</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 needs care</a:t>
            </a:r>
          </a:p>
          <a:p>
            <a:pPr algn="l">
              <a:spcAft>
                <a:spcPts val="300"/>
              </a:spcAft>
            </a:pPr>
            <a:r>
              <a:rPr sz="1200" b="0">
                <a:solidFill>
                  <a:srgbClr val="5B6372"/>
                </a:solidFill>
                <a:latin typeface="Arial"/>
              </a:rPr>
              <a:t>Never let Claude state a legal conclusion on your behalf.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Shortlist Candidates with AI Experience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All 24 rows have Yes or No with a quoted reason and the file is saved, rows C-011 and C-013 are marked No, a second file named Lumina-Living-Lab-01-Candidates-Desktop.xlsx exists in the folder, and you have written which of the two ways keeps the shortlist in one agreed file.</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Analyse Staff Data and Decide What Claude May Read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Claude summarises the staff list by team, builds a chart, and you check its formulas. Then you decide what access Claude actually needed, having just seen what read-only access can do.</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summary table and chart built by Claude in your own workbook, plus a completed access table.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Word, Claude Skills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2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New section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One short line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Same standard applied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it held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Repeat at will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2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 line is enough</a:t>
            </a:r>
          </a:p>
          <a:p>
            <a:pPr algn="l">
              <a:spcAft>
                <a:spcPts val="300"/>
              </a:spcAft>
            </a:pPr>
            <a:r>
              <a:rPr sz="1200" b="0">
                <a:solidFill>
                  <a:srgbClr val="5B6372"/>
                </a:solidFill>
                <a:latin typeface="Arial"/>
              </a:rPr>
              <a:t>The rules live in the skill, not in what you type.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standard holds</a:t>
            </a:r>
          </a:p>
          <a:p>
            <a:pPr algn="l">
              <a:spcAft>
                <a:spcPts val="300"/>
              </a:spcAft>
            </a:pPr>
            <a:r>
              <a:rPr sz="1200" b="0">
                <a:solidFill>
                  <a:srgbClr val="5B6372"/>
                </a:solidFill>
                <a:latin typeface="Arial"/>
              </a:rPr>
              <a:t>Quality stops depending on remembering.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 still own it</a:t>
            </a:r>
          </a:p>
          <a:p>
            <a:pPr algn="l">
              <a:spcAft>
                <a:spcPts val="300"/>
              </a:spcAft>
            </a:pPr>
            <a:r>
              <a:rPr sz="1200" b="0">
                <a:solidFill>
                  <a:srgbClr val="5B6372"/>
                </a:solidFill>
                <a:latin typeface="Arial"/>
              </a:rPr>
              <a:t>A skill drafts; you check and you approve.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Compare the results</a:t>
            </a:r>
          </a:p>
          <a:p>
            <a:pPr algn="l">
              <a:spcAft>
                <a:spcPts val="300"/>
              </a:spcAft>
            </a:pPr>
            <a:r>
              <a:rPr sz="1200" b="0">
                <a:solidFill>
                  <a:srgbClr val="5B6372"/>
                </a:solidFill>
                <a:latin typeface="Arial"/>
              </a:rPr>
              <a:t>Three sections, one standard, no repetition.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Analyse Staff Data and Decide What Claude May Read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summary table uses formulas that point at the staff rows, the chart shows leaver rate by team, the file is saved, and all four places have a read-or-change decision with an owner.</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Ask Claude Clearly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Run a vague request and a clear one against the same HR brief, and see the difference for yourself.</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new section written into the brief by Claude, a second copy produced by the Desktop app, and a completed request checklist.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Excel, Claude Skills, natural-language skill creation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3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for it your way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Correct until right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it in one sentence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it is listed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Ready to reuse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3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Spell it out once</a:t>
            </a:r>
          </a:p>
          <a:p>
            <a:pPr algn="l">
              <a:spcAft>
                <a:spcPts val="300"/>
              </a:spcAft>
            </a:pPr>
            <a:r>
              <a:rPr sz="1200" b="0">
                <a:solidFill>
                  <a:srgbClr val="5B6372"/>
                </a:solidFill>
                <a:latin typeface="Arial"/>
              </a:rPr>
              <a:t>The first time, say exactly how the numbers should be worked out.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Formulas, never typed-in numbers</a:t>
            </a:r>
          </a:p>
          <a:p>
            <a:pPr algn="l">
              <a:spcAft>
                <a:spcPts val="300"/>
              </a:spcAft>
            </a:pPr>
            <a:r>
              <a:rPr sz="1200" b="0">
                <a:solidFill>
                  <a:srgbClr val="5B6372"/>
                </a:solidFill>
                <a:latin typeface="Arial"/>
              </a:rPr>
              <a:t>The rule that keeps the analysis checkable.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Saving is a sentence</a:t>
            </a:r>
          </a:p>
          <a:p>
            <a:pPr algn="l">
              <a:spcAft>
                <a:spcPts val="300"/>
              </a:spcAft>
            </a:pPr>
            <a:r>
              <a:rPr sz="1200" b="0">
                <a:solidFill>
                  <a:srgbClr val="5B6372"/>
                </a:solidFill>
                <a:latin typeface="Arial"/>
              </a:rPr>
              <a:t>'Save that as a skill called staff-numbers.'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Works beyond this file</a:t>
            </a:r>
          </a:p>
          <a:p>
            <a:pPr algn="l">
              <a:spcAft>
                <a:spcPts val="300"/>
              </a:spcAft>
            </a:pPr>
            <a:r>
              <a:rPr sz="1200" b="0">
                <a:solidFill>
                  <a:srgbClr val="5B6372"/>
                </a:solidFill>
                <a:latin typeface="Arial"/>
              </a:rPr>
              <a:t>Say so when you save, and the skill can read other workbooks too.</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Ask Claude Clearly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new section sits after '3. Required management outputs' with every fact naming its heading, the file is saved, a second file named Lumina-Living-Lab-03-HR-Brief-Desktop.docx exists, and the checklist says which document you would send on and why.</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Recap — Getting Claude Ready for HR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Install and check every way you will use Claude on this course, and record what your own account allows.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completed setup checklist showing which of the four routes are ready, and what to do about any that are not.</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Use Claude to shortlist job applicants, and see the difference between the Excel panel and the Claude Desktop app.</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saved shortlist in your own workbook, a second copy saved from the Desktop app, and one sentence on which way suits work that must stay in one file.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Use Claude to summarise and chart real staff data, then decide what access it needed to do that.</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summary table and chart built by Claude in your own workbook, plus a completed access table.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Hiring Plans, Policies and Staff Documents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Hiring plan · leave and flexible-work policy · handbook wording · who signs off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28%</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Hiring Plans, Policies and Staff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hiring plan makes choices: which roles now, which can wait, and what the budget will not cover.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Every role needs a hiring manager, a start date, a salary range and the reason the role exists.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Policy wording carries real consequences. Anything about pay, leave, notice or conduct needs proper review before release.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Keep three things apart: what the policy says, how it works day to day, and what needs legal advice.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Work inside the company template so the document looks like every other HR document staff receive.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Say plainly what you do not yet know, rather than filling the gap with a confident guess.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Hiring Plans, Policies and Staff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161B26"/>
                </a:solidFill>
                <a:latin typeface="Arial"/>
              </a:rPr>
              <a:t>•  Write a Hiring Plan in Word — A hiring plan section written into the brief, and a separate Lumina-Living-FY2027-Hiring-Plan.docx ready for the Head of HR.</a:t>
            </a:r>
          </a:p>
        </p:txBody>
      </p:sp>
      <p:sp>
        <p:nvSpPr>
          <p:cNvPr id="11" name="Rectangle 10"/>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161B26"/>
                </a:solidFill>
                <a:latin typeface="Arial"/>
              </a:rPr>
              <a:t>•  Build an HR Policy Skill from Your Real Policies — An hr-policy-draft skill built from your real policy library and template, and two new policies on the company letterhead.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Write a Hiring Plan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Section 2 of the brief lists five roles the teams want and the budget that limits them. Claude works out what fits, writes the plan into your document, then exports it as a standalone document for approval.</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hiring plan section written into the brief, and a separate Lumina-Living-FY2027-Hiring-Plan.docx ready for the Head of HR.</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Word, company templates, evidence checks, human approval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4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Read the role table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Work out what fits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it into the brief</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every figure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Export for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4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budget is the constraint</a:t>
            </a:r>
          </a:p>
          <a:p>
            <a:pPr algn="l">
              <a:spcAft>
                <a:spcPts val="300"/>
              </a:spcAft>
            </a:pPr>
            <a:r>
              <a:rPr sz="1200" b="0">
                <a:solidFill>
                  <a:srgbClr val="5B6372"/>
                </a:solidFill>
                <a:latin typeface="Arial"/>
              </a:rPr>
              <a:t>Not every requested role can be filled; the plan must say which and why.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figure has a source</a:t>
            </a:r>
          </a:p>
          <a:p>
            <a:pPr algn="l">
              <a:spcAft>
                <a:spcPts val="300"/>
              </a:spcAft>
            </a:pPr>
            <a:r>
              <a:rPr sz="1200" b="0">
                <a:solidFill>
                  <a:srgbClr val="5B6372"/>
                </a:solidFill>
                <a:latin typeface="Arial"/>
              </a:rPr>
              <a:t>Salary bands come from the table, never from memory.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Propose before you write</a:t>
            </a:r>
          </a:p>
          <a:p>
            <a:pPr algn="l">
              <a:spcAft>
                <a:spcPts val="300"/>
              </a:spcAft>
            </a:pPr>
            <a:r>
              <a:rPr sz="1200" b="0">
                <a:solidFill>
                  <a:srgbClr val="5B6372"/>
                </a:solidFill>
                <a:latin typeface="Arial"/>
              </a:rPr>
              <a:t>Check the arithmetic in the panel before it touches the document.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Two documents, two jobs</a:t>
            </a:r>
          </a:p>
          <a:p>
            <a:pPr algn="l">
              <a:spcAft>
                <a:spcPts val="300"/>
              </a:spcAft>
            </a:pPr>
            <a:r>
              <a:rPr sz="1200" b="0">
                <a:solidFill>
                  <a:srgbClr val="5B6372"/>
                </a:solidFill>
                <a:latin typeface="Arial"/>
              </a:rPr>
              <a:t>The brief keeps the evidence; the exported plan goes for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Write a Hiring Plan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brief has an 'FY2027 hiring plan' section after section 3 with every salary matching the table in section 2, the total is shown against the $38,000 budget and the 10-role cap, and a separate file named Lumina-Living-FY2027-Hiring-Plan.docx exists in the folder containing only the plan.</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Build an HR Policy Skill from Your Real Policies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Your house style already exists in the policies you have published and the template you write them into. Hand Claude the examples, the rules and the template, turn that into a skill, then draft two new policies from a real consultation note.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hr-policy-draft skill built from your real policy library and template, and two new policies on the company letterhead.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Skills, Upload a skill, Claude for Word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Creating the HR Policy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54002" y="1792224"/>
            <a:ext cx="5883691" cy="4206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skills-add-menu.png"/>
          <p:cNvPicPr>
            <a:picLocks noChangeAspect="1"/>
          </p:cNvPicPr>
          <p:nvPr/>
        </p:nvPicPr>
        <p:blipFill>
          <a:blip r:embed="rId2"/>
          <a:stretch>
            <a:fillRect/>
          </a:stretch>
        </p:blipFill>
        <p:spPr>
          <a:xfrm>
            <a:off x="3208866" y="1847088"/>
            <a:ext cx="5773963" cy="4096512"/>
          </a:xfrm>
          <a:prstGeom prst="rect">
            <a:avLst/>
          </a:prstGeom>
        </p:spPr>
      </p:pic>
      <p:sp>
        <p:nvSpPr>
          <p:cNvPr id="9" name="TextBox 8"/>
          <p:cNvSpPr txBox="1"/>
          <p:nvPr/>
        </p:nvSpPr>
        <p:spPr>
          <a:xfrm>
            <a:off x="777240" y="6108192"/>
            <a:ext cx="10607040" cy="320040"/>
          </a:xfrm>
          <a:prstGeom prst="rect">
            <a:avLst/>
          </a:prstGeom>
          <a:noFill/>
        </p:spPr>
        <p:txBody>
          <a:bodyPr wrap="square" anchor="ctr">
            <a:spAutoFit/>
          </a:bodyPr>
          <a:lstStyle/>
          <a:p>
            <a:pPr algn="ctr">
              <a:spcAft>
                <a:spcPts val="400"/>
              </a:spcAft>
            </a:pPr>
            <a:r>
              <a:rPr sz="1200" b="0">
                <a:solidFill>
                  <a:srgbClr val="5B6372"/>
                </a:solidFill>
                <a:latin typeface="Arial"/>
              </a:rPr>
              <a:t>Settings &gt; Skills &gt; Add. Lab 5 uses Create with Claude, handing it the policy library and the written standard.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5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boundary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metrics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narrative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Separate policy from procedure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Obtain specialist approval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5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Boundary before narrative</a:t>
            </a:r>
          </a:p>
          <a:p>
            <a:pPr algn="l">
              <a:spcAft>
                <a:spcPts val="300"/>
              </a:spcAft>
            </a:pPr>
            <a:r>
              <a:rPr sz="1200" b="0">
                <a:solidFill>
                  <a:srgbClr val="5B6372"/>
                </a:solidFill>
                <a:latin typeface="Arial"/>
              </a:rPr>
              <a:t>State entities, sites, period, method and exclusions before describing performance.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Numbers need lineage</a:t>
            </a:r>
          </a:p>
          <a:p>
            <a:pPr algn="l">
              <a:spcAft>
                <a:spcPts val="300"/>
              </a:spcAft>
            </a:pPr>
            <a:r>
              <a:rPr sz="1200" b="0">
                <a:solidFill>
                  <a:srgbClr val="5B6372"/>
                </a:solidFill>
                <a:latin typeface="Arial"/>
              </a:rPr>
              <a:t>Every metric names the source system, owner, unit, method and limitation.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Policy is not legal advice</a:t>
            </a:r>
          </a:p>
          <a:p>
            <a:pPr algn="l">
              <a:spcAft>
                <a:spcPts val="300"/>
              </a:spcAft>
            </a:pPr>
            <a:r>
              <a:rPr sz="1200" b="0">
                <a:solidFill>
                  <a:srgbClr val="5B6372"/>
                </a:solidFill>
                <a:latin typeface="Arial"/>
              </a:rPr>
              <a:t>AI drafts require authorised HR and legal review before organisational release.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Exceptions are designed</a:t>
            </a:r>
          </a:p>
          <a:p>
            <a:pPr algn="l">
              <a:spcAft>
                <a:spcPts val="300"/>
              </a:spcAft>
            </a:pPr>
            <a:r>
              <a:rPr sz="1200" b="0">
                <a:solidFill>
                  <a:srgbClr val="5B6372"/>
                </a:solidFill>
                <a:latin typeface="Arial"/>
              </a:rPr>
              <a:t>Eligibility, decision rights, escalation and record keeping prevent an attractive policy from becoming unusable.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Build an HR Policy Skill from Your Real Policies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A skill named hr-policy-draft is listed in Settings &gt; Skills, both new policies use the company letterhead and the four numbered sections, every fact traces to the consultation note, every open point from the note appears under 'Still to confirm', no legal conclusion is stated, the approval table is intact, and both files are saved in the lab folder.</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Recap — Hiring Plans, Policies and Staff Documents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Capability — Write an FY2027 hiring plan in Word using only what the HR brief actually says.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Evidence retained — A hiring plan section written into the brief, and a separate Lumina-Living-FY2027-Hiring-Plan.docx ready for the Head of HR.</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Capability — Create a skill from your company's existing policy documents, then use it to draft new policy wording that matches them.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Evidence retained — An hr-policy-draft skill built from your real policy library and template, and two new policies on the company letterhead.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People Numbers and Reporting to Leadership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Headcount and turnover in Excel · what the numbers say · the leadership update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25%</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People Numbers and Reporting to Leadership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Keep the staff data, the assumptions and the results on separate sheets so anyone can follow the working.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Use live formulas that point at the source data. A number typed in by hand cannot be checked or updated.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Compare actual headcount and cost against plan, month by month and team by team, before you explain the result.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Pick the chart that answers the question leadership asked. More charts is not more insight.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Every slide title should say what you concluded, not name a topic.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Put the source under any figure on a slide, so the room can challenge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People Numbers and Reporting to Leadership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47548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4754880" cy="3108960"/>
          </a:xfrm>
          <a:prstGeom prst="rect">
            <a:avLst/>
          </a:prstGeom>
          <a:noFill/>
        </p:spPr>
        <p:txBody>
          <a:bodyPr wrap="square">
            <a:spAutoFit/>
          </a:bodyPr>
          <a:lstStyle/>
          <a:p>
            <a:pPr>
              <a:spcAft>
                <a:spcPts val="900"/>
              </a:spcAft>
            </a:pPr>
            <a:r>
              <a:rPr sz="1400" b="0">
                <a:solidFill>
                  <a:srgbClr val="161B26"/>
                </a:solidFill>
                <a:latin typeface="Arial"/>
              </a:rPr>
              <a:t>•  Build a Headcount Analysis in Excel — An analysis sheet where every result is a formula that points back to the source data.</a:t>
            </a:r>
          </a:p>
        </p:txBody>
      </p:sp>
      <p:sp>
        <p:nvSpPr>
          <p:cNvPr id="11" name="Rectangle 10"/>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783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011680"/>
            <a:ext cx="4617720" cy="548640"/>
          </a:xfrm>
          <a:prstGeom prst="rect">
            <a:avLst/>
          </a:prstGeom>
          <a:noFill/>
        </p:spPr>
        <p:txBody>
          <a:bodyPr wrap="square" anchor="t">
            <a:spAutoFit/>
          </a:bodyPr>
          <a:lstStyle/>
          <a:p>
            <a:pPr algn="l">
              <a:spcAft>
                <a:spcPts val="400"/>
              </a:spcAft>
            </a:pPr>
            <a:r>
              <a:rPr sz="1900" b="1">
                <a:solidFill>
                  <a:srgbClr val="10B981"/>
                </a:solidFill>
                <a:latin typeface="Arial"/>
              </a:rPr>
              <a:t>Lab 7</a:t>
            </a:r>
          </a:p>
        </p:txBody>
      </p:sp>
      <p:sp>
        <p:nvSpPr>
          <p:cNvPr id="14" name="TextBox 13"/>
          <p:cNvSpPr txBox="1"/>
          <p:nvPr/>
        </p:nvSpPr>
        <p:spPr>
          <a:xfrm>
            <a:off x="6583680" y="2697480"/>
            <a:ext cx="4617720" cy="3108960"/>
          </a:xfrm>
          <a:prstGeom prst="rect">
            <a:avLst/>
          </a:prstGeom>
          <a:noFill/>
        </p:spPr>
        <p:txBody>
          <a:bodyPr wrap="square">
            <a:spAutoFit/>
          </a:bodyPr>
          <a:lstStyle/>
          <a:p>
            <a:pPr>
              <a:spcAft>
                <a:spcPts val="900"/>
              </a:spcAft>
            </a:pPr>
            <a:r>
              <a:rPr sz="1400" b="0">
                <a:solidFill>
                  <a:srgbClr val="161B26"/>
                </a:solidFill>
                <a:latin typeface="Arial"/>
              </a:rPr>
              <a:t>•  Build a Leadership Deck Two Ways — Two versions of the same six-slide update: one built in the panel with a linked Excel chart, one built end to end by Claude Desktop.</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Headcount Analysis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Compare actual headcount and staff cost against plan, month by month and team by team, using formulas that point at the source data.</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analysis sheet where every result is a formula that points back to the source data.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Excel, tables, formulas, pivots, scenarios, chart selection, dashboard, audit log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6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Understand the model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inputs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formulas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Explain drivers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Dashboard and senior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6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 architecture</a:t>
            </a:r>
          </a:p>
          <a:p>
            <a:pPr algn="l">
              <a:spcAft>
                <a:spcPts val="300"/>
              </a:spcAft>
            </a:pPr>
            <a:r>
              <a:rPr sz="1200" b="0">
                <a:solidFill>
                  <a:srgbClr val="5B6372"/>
                </a:solidFill>
                <a:latin typeface="Arial"/>
              </a:rPr>
              <a:t>Separate Assumptions, Transactions, Budget, Analysis, Dashboard and Audit Log.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pasted answers</a:t>
            </a:r>
          </a:p>
          <a:p>
            <a:pPr algn="l">
              <a:spcAft>
                <a:spcPts val="300"/>
              </a:spcAft>
            </a:pPr>
            <a:r>
              <a:rPr sz="1200" b="0">
                <a:solidFill>
                  <a:srgbClr val="5B6372"/>
                </a:solidFill>
                <a:latin typeface="Arial"/>
              </a:rPr>
              <a:t>Keep calculations live in formulas or pivots and cite the source range.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Charts answer decisions</a:t>
            </a:r>
          </a:p>
          <a:p>
            <a:pPr algn="l">
              <a:spcAft>
                <a:spcPts val="300"/>
              </a:spcAft>
            </a:pPr>
            <a:r>
              <a:rPr sz="1200" b="0">
                <a:solidFill>
                  <a:srgbClr val="5B6372"/>
                </a:solidFill>
                <a:latin typeface="Arial"/>
              </a:rPr>
              <a:t>Use trend, variance and driver visuals with honest scales and units.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Review like a finance leader</a:t>
            </a:r>
          </a:p>
          <a:p>
            <a:pPr algn="l">
              <a:spcAft>
                <a:spcPts val="300"/>
              </a:spcAft>
            </a:pPr>
            <a:r>
              <a:rPr sz="1200" b="0">
                <a:solidFill>
                  <a:srgbClr val="5B6372"/>
                </a:solidFill>
                <a:latin typeface="Arial"/>
              </a:rPr>
              <a:t>Challenge timing, hardcodes, range gaps, margin logic and scenario sensitivity.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Headcount Analysis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Two result cells checked in the formula bar show real formulas pointing at the source data, and changing an assumption updates the analysis.</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Leadership Deck Two Ways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Start from a blank deck. Build it with the Office panel, pasting the chart yourself so it stays linked to Excel. Then have Claude Desktop build the whole thing unaided, and compare what each produced.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Two versions of the same six-slide update: one built in the panel with a linked Excel chart, one built end to end by Claude Desktop.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PowerPoint, Claude for Excel, Claude Desktop, linked native charts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7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Get the headline in Excel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the six slides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Panel builds, you paste the chart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Desktop builds the whole deck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and refine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7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Panel: one file at a time</a:t>
            </a:r>
          </a:p>
          <a:p>
            <a:pPr algn="l">
              <a:spcAft>
                <a:spcPts val="300"/>
              </a:spcAft>
            </a:pPr>
            <a:r>
              <a:rPr sz="1200" b="0">
                <a:solidFill>
                  <a:srgbClr val="5B6372"/>
                </a:solidFill>
                <a:latin typeface="Arial"/>
              </a:rPr>
              <a:t>It edits the deck you have open, so you paste the chart yourself — and it stays linked.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Desktop: reads the folder</a:t>
            </a:r>
          </a:p>
          <a:p>
            <a:pPr algn="l">
              <a:spcAft>
                <a:spcPts val="300"/>
              </a:spcAft>
            </a:pPr>
            <a:r>
              <a:rPr sz="1200" b="0">
                <a:solidFill>
                  <a:srgbClr val="5B6372"/>
                </a:solidFill>
                <a:latin typeface="Arial"/>
              </a:rPr>
              <a:t>It sees Excel and Word together and produces a finished file, but not into your open deck.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Linked beats pasted picture</a:t>
            </a:r>
          </a:p>
          <a:p>
            <a:pPr algn="l">
              <a:spcAft>
                <a:spcPts val="300"/>
              </a:spcAft>
            </a:pPr>
            <a:r>
              <a:rPr sz="1200" b="0">
                <a:solidFill>
                  <a:srgbClr val="5B6372"/>
                </a:solidFill>
                <a:latin typeface="Arial"/>
              </a:rPr>
              <a:t>A linked chart updates when the numbers change; a picture does not.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prompting</a:t>
            </a:r>
          </a:p>
          <a:p>
            <a:pPr algn="l">
              <a:spcAft>
                <a:spcPts val="300"/>
              </a:spcAft>
            </a:pPr>
            <a:r>
              <a:rPr sz="1200" b="0">
                <a:solidFill>
                  <a:srgbClr val="5B6372"/>
                </a:solidFill>
                <a:latin typeface="Arial"/>
              </a:rPr>
              <a:t>Neither method is one-shot. Split a slide, sharpen a title, add a closing ask.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Leadership Deck Two Ways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Both decks exist: one built in the panel with the Excel chart pasted in and linked, one named Lumina-Living-Q1-Update-Desktop.pptx built by Claude Desktop. Every title states a conclusion, every figure has a source note, you have written which version keeps the chart linked to the workbook, and at least one refinement prompt was used after the first build.</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Recap — People Numbers and Reporting to Leadership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Capability — Build a headcount and cost analysis in Excel using live formulas, not typed-in numbers.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Evidence retained — An analysis sheet where every result is a formula that points back to the source data.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Capability — Build the same deck twice — once with the PowerPoint panel and a pasted Excel chart, once with Claude Desktop reading both files — and judge which suits the job.</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Evidence retained — Two versions of the same six-slide update: one built in the panel with a linked Excel chart, one built end to end by Claude Desktop.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Staff Questions, Repeatable Work and Advanced Claude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Sorting the HR inbox · one folder, one summary · the weekly update · Skills, connectors and plugins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COVERAGE 23%</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Key Concepts — Staff Questions, Repeatable Work and Advanced Claude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Sort staff messages by what each one needs: a reply from you, a decision from someone else, or nothing at all.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Claude drafts the reply; you check the facts, the tone and the recipient, and you are the one who sends 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Point Claude Desktop at one folder and it can pull a summary together from everything inside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When two files disagree, that disagreement is the finding. It is not Claude's job to settle it quietly.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Work you repeat every week is worth automating once, with a backup taken before anything is overwritten.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automated update still needs a person to read it before it goes to anyone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Hands-On Labs — Staff Questions, Repeatable Work and Advanced Claude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880360" cy="548640"/>
          </a:xfrm>
          <a:prstGeom prst="rect">
            <a:avLst/>
          </a:prstGeom>
          <a:noFill/>
        </p:spPr>
        <p:txBody>
          <a:bodyPr wrap="square" anchor="t">
            <a:spAutoFit/>
          </a:bodyPr>
          <a:lstStyle/>
          <a:p>
            <a:pPr algn="l">
              <a:spcAft>
                <a:spcPts val="400"/>
              </a:spcAft>
            </a:pPr>
            <a:r>
              <a:rPr sz="1900" b="1">
                <a:solidFill>
                  <a:srgbClr val="1F6FEB"/>
                </a:solidFill>
                <a:latin typeface="Arial"/>
              </a:rPr>
              <a:t>Labs 8–9, 15</a:t>
            </a:r>
          </a:p>
        </p:txBody>
      </p:sp>
      <p:sp>
        <p:nvSpPr>
          <p:cNvPr id="10" name="TextBox 9"/>
          <p:cNvSpPr txBox="1"/>
          <p:nvPr/>
        </p:nvSpPr>
        <p:spPr>
          <a:xfrm>
            <a:off x="100584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Use the Skill from Word Without Opening Excel — A completed quarterly update with figures drawn from the workbook, saved as a final copy.</a:t>
            </a:r>
          </a:p>
          <a:p>
            <a:pPr>
              <a:spcAft>
                <a:spcPts val="900"/>
              </a:spcAft>
            </a:pPr>
            <a:r>
              <a:rPr sz="1400" b="0">
                <a:solidFill>
                  <a:srgbClr val="161B26"/>
                </a:solidFill>
                <a:latin typeface="Arial"/>
              </a:rPr>
              <a:t>•  Sort the HR Inbox and Draft One Reply — Every message sorted, one reply drafted, the person who would approve it named, and the reply created as an Outlook draft ready for review.</a:t>
            </a:r>
          </a:p>
          <a:p>
            <a:pPr>
              <a:spcAft>
                <a:spcPts val="900"/>
              </a:spcAft>
            </a:pPr>
            <a:r>
              <a:rPr sz="1400" b="0">
                <a:solidFill>
                  <a:srgbClr val="161B26"/>
                </a:solidFill>
                <a:latin typeface="Arial"/>
              </a:rPr>
              <a:t>•  Read a Whole Folder and Write the Summary — A two-page people summary built only from the folder, naming the file behind every claim, with disagreements reported rather than settled.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880360" cy="548640"/>
          </a:xfrm>
          <a:prstGeom prst="rect">
            <a:avLst/>
          </a:prstGeom>
          <a:noFill/>
        </p:spPr>
        <p:txBody>
          <a:bodyPr wrap="square" anchor="t">
            <a:spAutoFit/>
          </a:bodyPr>
          <a:lstStyle/>
          <a:p>
            <a:pPr algn="l">
              <a:spcAft>
                <a:spcPts val="400"/>
              </a:spcAft>
            </a:pPr>
            <a:r>
              <a:rPr sz="1900" b="1">
                <a:solidFill>
                  <a:srgbClr val="10B981"/>
                </a:solidFill>
                <a:latin typeface="Arial"/>
              </a:rPr>
              <a:t>Labs 10–12</a:t>
            </a:r>
          </a:p>
        </p:txBody>
      </p:sp>
      <p:sp>
        <p:nvSpPr>
          <p:cNvPr id="14" name="TextBox 13"/>
          <p:cNvSpPr txBox="1"/>
          <p:nvPr/>
        </p:nvSpPr>
        <p:spPr>
          <a:xfrm>
            <a:off x="480060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Build a Daily HR Routine with Cowork — A written daily routine covering inbox, reporting and chasing; this week's work assigned an owner and a deadline; and today's daily HR report.</a:t>
            </a:r>
          </a:p>
          <a:p>
            <a:pPr>
              <a:spcAft>
                <a:spcPts val="900"/>
              </a:spcAft>
            </a:pPr>
            <a:r>
              <a:rPr sz="1400" b="0">
                <a:solidFill>
                  <a:srgbClr val="161B26"/>
                </a:solidFill>
                <a:latin typeface="Arial"/>
              </a:rPr>
              <a:t>•  Automate an HR Pipeline with a Project — A Lumina Living HR project with materials and standing instructions, and a new starter pipeline run twice from it.</a:t>
            </a:r>
          </a:p>
          <a:p>
            <a:pPr>
              <a:spcAft>
                <a:spcPts val="900"/>
              </a:spcAft>
            </a:pPr>
            <a:r>
              <a:rPr sz="1400" b="0">
                <a:solidFill>
                  <a:srgbClr val="161B26"/>
                </a:solidFill>
                <a:latin typeface="Arial"/>
              </a:rPr>
              <a:t>•  Draft an Outlook Reply with Claude in Chrome — A reviewed reply drafted in Outlook on the web, sent only after you approved it or deliberately left in Drafts.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880360" cy="548640"/>
          </a:xfrm>
          <a:prstGeom prst="rect">
            <a:avLst/>
          </a:prstGeom>
          <a:noFill/>
        </p:spPr>
        <p:txBody>
          <a:bodyPr wrap="square" anchor="t">
            <a:spAutoFit/>
          </a:bodyPr>
          <a:lstStyle/>
          <a:p>
            <a:pPr algn="l">
              <a:spcAft>
                <a:spcPts val="400"/>
              </a:spcAft>
            </a:pPr>
            <a:r>
              <a:rPr sz="1900" b="1">
                <a:solidFill>
                  <a:srgbClr val="7C3AED"/>
                </a:solidFill>
                <a:latin typeface="Arial"/>
              </a:rPr>
              <a:t>Labs 13–14</a:t>
            </a:r>
          </a:p>
        </p:txBody>
      </p:sp>
      <p:sp>
        <p:nvSpPr>
          <p:cNvPr id="18" name="TextBox 17"/>
          <p:cNvSpPr txBox="1"/>
          <p:nvPr/>
        </p:nvSpPr>
        <p:spPr>
          <a:xfrm>
            <a:off x="8595360" y="2697480"/>
            <a:ext cx="2880360" cy="3108960"/>
          </a:xfrm>
          <a:prstGeom prst="rect">
            <a:avLst/>
          </a:prstGeom>
          <a:noFill/>
        </p:spPr>
        <p:txBody>
          <a:bodyPr wrap="square">
            <a:spAutoFit/>
          </a:bodyPr>
          <a:lstStyle/>
          <a:p>
            <a:pPr>
              <a:spcAft>
                <a:spcPts val="900"/>
              </a:spcAft>
            </a:pPr>
            <a:r>
              <a:rPr sz="1400" b="0">
                <a:solidFill>
                  <a:srgbClr val="161B26"/>
                </a:solidFill>
                <a:latin typeface="Arial"/>
              </a:rPr>
              <a:t>•  Add Skills and Connectors to the Project — An HR project with materials, standing rules, a skill and a connector, running one request that produces a policy draft, a summary and an Outlook draft.</a:t>
            </a:r>
          </a:p>
          <a:p>
            <a:pPr>
              <a:spcAft>
                <a:spcPts val="900"/>
              </a:spcAft>
            </a:pPr>
            <a:r>
              <a:rPr sz="1400" b="0">
                <a:solidFill>
                  <a:srgbClr val="161B26"/>
                </a:solidFill>
                <a:latin typeface="Arial"/>
              </a:rPr>
              <a:t>•  Upload a Shared Skill for Slides — An uploaded deck-design-standard skill, and a rebuilt deck where every title states a conclusion.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Use the Skill from Word Without Opening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The quarterly update is due and the figures are in a workbook. One short line, and the skill reads the workbook, works the numbers out your way, and writes them into the update.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quarterly update with figures drawn from the workbook, saved as a final copy.</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Skills, Claude Desktop, Word, Excel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15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Figures in one file, words in another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Desktop can see both</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One short line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the figures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the final copy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15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Across two apps</a:t>
            </a:r>
          </a:p>
          <a:p>
            <a:pPr algn="l">
              <a:spcAft>
                <a:spcPts val="300"/>
              </a:spcAft>
            </a:pPr>
            <a:r>
              <a:rPr sz="1200" b="0">
                <a:solidFill>
                  <a:srgbClr val="5B6372"/>
                </a:solidFill>
                <a:latin typeface="Arial"/>
              </a:rPr>
              <a:t>The skill reads Excel and writes Word without you switching.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Panel versus Desktop</a:t>
            </a:r>
          </a:p>
          <a:p>
            <a:pPr algn="l">
              <a:spcAft>
                <a:spcPts val="300"/>
              </a:spcAft>
            </a:pPr>
            <a:r>
              <a:rPr sz="1200" b="0">
                <a:solidFill>
                  <a:srgbClr val="5B6372"/>
                </a:solidFill>
                <a:latin typeface="Arial"/>
              </a:rPr>
              <a:t>The Office panel sees one open file; Desktop sees the folder.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 line is enough</a:t>
            </a:r>
          </a:p>
          <a:p>
            <a:pPr algn="l">
              <a:spcAft>
                <a:spcPts val="300"/>
              </a:spcAft>
            </a:pPr>
            <a:r>
              <a:rPr sz="1200" b="0">
                <a:solidFill>
                  <a:srgbClr val="5B6372"/>
                </a:solidFill>
                <a:latin typeface="Arial"/>
              </a:rPr>
              <a:t>Every rule lives in the skill, not in what you type.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Desktop hands you a copy</a:t>
            </a:r>
          </a:p>
          <a:p>
            <a:pPr algn="l">
              <a:spcAft>
                <a:spcPts val="300"/>
              </a:spcAft>
            </a:pPr>
            <a:r>
              <a:rPr sz="1200" b="0">
                <a:solidFill>
                  <a:srgbClr val="5B6372"/>
                </a:solidFill>
                <a:latin typeface="Arial"/>
              </a:rPr>
              <a:t>It does not edit your open file — save the copy deliberately.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Use the Skill from Word Without Opening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update contains totals by team and the leaver rate to one decimal place, the worst team is named and explained, two figures were checked against the workbook by hand, and a file named Lumina-Living-Q1-Update-Final.docx exists in the folder.</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Sort the HR Inbox and Draft One Reply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Work through a set of fictional staff messages held in a local workbook. Claude sorts them by what each one needs and drafts one reply. Then the Microsoft 365 connector turns that reply into a real Outlook draft — which you review and send yourself.</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Every message sorted, one reply drafted, the person who would approve it named, and the reply created as an Outlook draft ready for review.</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Outlook beta, Outlook categories, thread citations, reply templates, calendar, approval queue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8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Summarise with citations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Select approved template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in native form</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recipients and send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8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Rules before generation</a:t>
            </a:r>
          </a:p>
          <a:p>
            <a:pPr algn="l">
              <a:spcAft>
                <a:spcPts val="300"/>
              </a:spcAft>
            </a:pPr>
            <a:r>
              <a:rPr sz="1200" b="0">
                <a:solidFill>
                  <a:srgbClr val="5B6372"/>
                </a:solidFill>
                <a:latin typeface="Arial"/>
              </a:rPr>
              <a:t>Define category, priority, SLA, reply eligibility and escalation before asking Claude to draft.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Thread evidence</a:t>
            </a:r>
          </a:p>
          <a:p>
            <a:pPr algn="l">
              <a:spcAft>
                <a:spcPts val="300"/>
              </a:spcAft>
            </a:pPr>
            <a:r>
              <a:rPr sz="1200" b="0">
                <a:solidFill>
                  <a:srgbClr val="5B6372"/>
                </a:solidFill>
                <a:latin typeface="Arial"/>
              </a:rPr>
              <a:t>Capture decisions, owners and deadlines with citations to the specific message.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Auto-draft, not auto-send</a:t>
            </a:r>
          </a:p>
          <a:p>
            <a:pPr algn="l">
              <a:spcAft>
                <a:spcPts val="300"/>
              </a:spcAft>
            </a:pPr>
            <a:r>
              <a:rPr sz="1200" b="0">
                <a:solidFill>
                  <a:srgbClr val="5B6372"/>
                </a:solidFill>
                <a:latin typeface="Arial"/>
              </a:rPr>
              <a:t>Claude for Outlook leaves drafts and invitations in Outlook for the authorised user.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Consequential details</a:t>
            </a:r>
          </a:p>
          <a:p>
            <a:pPr algn="l">
              <a:spcAft>
                <a:spcPts val="300"/>
              </a:spcAft>
            </a:pPr>
            <a:r>
              <a:rPr sz="1200" b="0">
                <a:solidFill>
                  <a:srgbClr val="5B6372"/>
                </a:solidFill>
                <a:latin typeface="Arial"/>
              </a:rPr>
              <a:t>Recipients, attachments, dates, amounts and promises receive explicit human checks.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Sort the HR Inbox and Draft One Reply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Every message has an answer in the Action column, one reply under 120 words is written in the Draft_Reply column, its approver is named, and the reply exists as an unsent draft in Outlook or the connector state is recorded. Nothing was sent.</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Read a Whole Folder and Write the Summary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A quarter's worth of HR reports sits in one folder as PDFs, with a CSV of the numbers. No single file answers the question. Claude reads them all and writes one summary, naming the file behind every claim.</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two-page people summary built only from the folder, naming the file behind every claim, with disagreements reported rather than settled.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Cowork, work folder, Projects, plugins, Microsoft 365 connector, multi-step execution, approvals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9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Scope the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Connect approved context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the task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Watch and steer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files in Microsoft 365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9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Bounded workspace</a:t>
            </a:r>
          </a:p>
          <a:p>
            <a:pPr algn="l">
              <a:spcAft>
                <a:spcPts val="300"/>
              </a:spcAft>
            </a:pPr>
            <a:r>
              <a:rPr sz="1200" b="0">
                <a:solidFill>
                  <a:srgbClr val="5B6372"/>
                </a:solidFill>
                <a:latin typeface="Arial"/>
              </a:rPr>
              <a:t>Give Cowork one project folder or Project, not uncontrolled access to unrelated files.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Connector supplies context</a:t>
            </a:r>
          </a:p>
          <a:p>
            <a:pPr algn="l">
              <a:spcAft>
                <a:spcPts val="300"/>
              </a:spcAft>
            </a:pPr>
            <a:r>
              <a:rPr sz="1200" b="0">
                <a:solidFill>
                  <a:srgbClr val="5B6372"/>
                </a:solidFill>
                <a:latin typeface="Arial"/>
              </a:rPr>
              <a:t>Search approved SharePoint, OneDrive, Outlook and Teams evidence through delegated permissions.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Cowork executes over steps</a:t>
            </a:r>
          </a:p>
          <a:p>
            <a:pPr algn="l">
              <a:spcAft>
                <a:spcPts val="300"/>
              </a:spcAft>
            </a:pPr>
            <a:r>
              <a:rPr sz="1200" b="0">
                <a:solidFill>
                  <a:srgbClr val="5B6372"/>
                </a:solidFill>
                <a:latin typeface="Arial"/>
              </a:rPr>
              <a:t>It can inspect inputs, create real files, update the plan and surface checkpoints.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Office add-ins finish the work</a:t>
            </a:r>
          </a:p>
          <a:p>
            <a:pPr algn="l">
              <a:spcAft>
                <a:spcPts val="300"/>
              </a:spcAft>
            </a:pPr>
            <a:r>
              <a:rPr sz="1200" b="0">
                <a:solidFill>
                  <a:srgbClr val="5B6372"/>
                </a:solidFill>
                <a:latin typeface="Arial"/>
              </a:rPr>
              <a:t>Open generated Word, Excel and PowerPoint files in the native apps for tracked review and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Read a Whole Folder and Write the Summary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summary covers headcount against plan, why people are leaving and the hiring pipeline; every claim names its file; the disagreement between the headcount report and the CSV is reported with both figures; two figures were checked by hand; and the closing note says what still needs the Head of HR to confirm.</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Daily HR Routine with Cowork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Ten things landed on the HR desk this week. Cowork finds what actually repeats, writes a daily routine, applies it back to the week, and produces the Monday brief. No terminal, no scripts.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written daily routine covering inbox, reporting and chasing; this week's work assigned an owner and a deadline; and today's daily HR report.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Cowork, Claude Desktop, Excel, Word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Scheduled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21683" y="1792224"/>
            <a:ext cx="7348329" cy="4206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scheduled-tasks.png"/>
          <p:cNvPicPr>
            <a:picLocks noChangeAspect="1"/>
          </p:cNvPicPr>
          <p:nvPr/>
        </p:nvPicPr>
        <p:blipFill>
          <a:blip r:embed="rId2"/>
          <a:stretch>
            <a:fillRect/>
          </a:stretch>
        </p:blipFill>
        <p:spPr>
          <a:xfrm>
            <a:off x="2476547" y="1847088"/>
            <a:ext cx="7238601" cy="4096512"/>
          </a:xfrm>
          <a:prstGeom prst="rect">
            <a:avLst/>
          </a:prstGeom>
        </p:spPr>
      </p:pic>
      <p:sp>
        <p:nvSpPr>
          <p:cNvPr id="9" name="TextBox 8"/>
          <p:cNvSpPr txBox="1"/>
          <p:nvPr/>
        </p:nvSpPr>
        <p:spPr>
          <a:xfrm>
            <a:off x="777240" y="5879592"/>
            <a:ext cx="10607040" cy="493776"/>
          </a:xfrm>
          <a:prstGeom prst="rect">
            <a:avLst/>
          </a:prstGeom>
          <a:noFill/>
        </p:spPr>
        <p:txBody>
          <a:bodyPr wrap="square" anchor="ctr">
            <a:spAutoFit/>
          </a:bodyPr>
          <a:lstStyle/>
          <a:p>
            <a:pPr algn="ctr">
              <a:spcAft>
                <a:spcPts val="400"/>
              </a:spcAft>
            </a:pPr>
            <a:r>
              <a:rPr sz="1050" b="0">
                <a:solidFill>
                  <a:srgbClr val="5B6372"/>
                </a:solidFill>
                <a:latin typeface="Arial"/>
              </a:rPr>
              <a:t>Claude Desktop &gt; Scheduled. Daily brief and Weekly review are ready-made task types; New task builds your own. Delete a task when the class ends.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11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 week of scattered work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Find what repeats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routine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it to the week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it: today's report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11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Cowork works across files</a:t>
            </a:r>
          </a:p>
          <a:p>
            <a:pPr algn="l">
              <a:spcAft>
                <a:spcPts val="300"/>
              </a:spcAft>
            </a:pPr>
            <a:r>
              <a:rPr sz="1200" b="0">
                <a:solidFill>
                  <a:srgbClr val="5B6372"/>
                </a:solidFill>
                <a:latin typeface="Arial"/>
              </a:rPr>
              <a:t>Give it a folder and it moves between the workbook and the documents on its own.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Routine beats memory</a:t>
            </a:r>
          </a:p>
          <a:p>
            <a:pPr algn="l">
              <a:spcAft>
                <a:spcPts val="300"/>
              </a:spcAft>
            </a:pPr>
            <a:r>
              <a:rPr sz="1200" b="0">
                <a:solidFill>
                  <a:srgbClr val="5B6372"/>
                </a:solidFill>
                <a:latin typeface="Arial"/>
              </a:rPr>
              <a:t>Work that repeats every week should not depend on someone remembering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Gaps are findings</a:t>
            </a:r>
          </a:p>
          <a:p>
            <a:pPr algn="l">
              <a:spcAft>
                <a:spcPts val="300"/>
              </a:spcAft>
            </a:pPr>
            <a:r>
              <a:rPr sz="1200" b="0">
                <a:solidFill>
                  <a:srgbClr val="5B6372"/>
                </a:solidFill>
                <a:latin typeface="Arial"/>
              </a:rPr>
              <a:t>If the routine cannot place a task, that is a hole in the routine, not a mistake to paper over.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person still reads it</a:t>
            </a:r>
          </a:p>
          <a:p>
            <a:pPr algn="l">
              <a:spcAft>
                <a:spcPts val="300"/>
              </a:spcAft>
            </a:pPr>
            <a:r>
              <a:rPr sz="1200" b="0">
                <a:solidFill>
                  <a:srgbClr val="5B6372"/>
                </a:solidFill>
                <a:latin typeface="Arial"/>
              </a:rPr>
              <a:t>The brief goes nowhere until the Head of HR has seen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Build a Daily HR Routine with Cowork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Daily_Routine sheet covers checking the inbox, the daily report and chasing overdue items, each with when, what, where and who. Every row of This_Week has an action, an owner and a deadline, or is marked as not covered. Lumina-Living-Daily-HR-Report.docx exists, fits one page, and names the row behind every item.</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Automate an HR Pipeline with a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A project keeps the policy library, the staff data and the house rules in one workspace. Set it up once, then run the new starter pipeline twice without attaching a file or restating a rule.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Lumina Living HR project with materials and standing instructions, and a new starter pipeline run twice from it.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Projects, Claude Desktop, project instructions, uploaded materials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SCREENSHOT</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Projects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446032" y="1792224"/>
            <a:ext cx="7299631" cy="4206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ude-projects.png"/>
          <p:cNvPicPr>
            <a:picLocks noChangeAspect="1"/>
          </p:cNvPicPr>
          <p:nvPr/>
        </p:nvPicPr>
        <p:blipFill>
          <a:blip r:embed="rId2"/>
          <a:stretch>
            <a:fillRect/>
          </a:stretch>
        </p:blipFill>
        <p:spPr>
          <a:xfrm>
            <a:off x="2500896" y="1847088"/>
            <a:ext cx="7189903" cy="4096512"/>
          </a:xfrm>
          <a:prstGeom prst="rect">
            <a:avLst/>
          </a:prstGeom>
        </p:spPr>
      </p:pic>
      <p:sp>
        <p:nvSpPr>
          <p:cNvPr id="9" name="TextBox 8"/>
          <p:cNvSpPr txBox="1"/>
          <p:nvPr/>
        </p:nvSpPr>
        <p:spPr>
          <a:xfrm>
            <a:off x="777240" y="5879592"/>
            <a:ext cx="10607040" cy="493776"/>
          </a:xfrm>
          <a:prstGeom prst="rect">
            <a:avLst/>
          </a:prstGeom>
          <a:noFill/>
        </p:spPr>
        <p:txBody>
          <a:bodyPr wrap="square" anchor="ctr">
            <a:spAutoFit/>
          </a:bodyPr>
          <a:lstStyle/>
          <a:p>
            <a:pPr algn="ctr">
              <a:spcAft>
                <a:spcPts val="400"/>
              </a:spcAft>
            </a:pPr>
            <a:r>
              <a:rPr sz="1050" b="0">
                <a:solidFill>
                  <a:srgbClr val="5B6372"/>
                </a:solidFill>
                <a:latin typeface="Arial"/>
              </a:rPr>
              <a:t>Claude Desktop &gt; Projects &gt; New project. Upload the HR materials once and set standing instructions, so every conversation in the project starts with the same context.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12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project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Upload the materials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the standing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pipeline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it again in one line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12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project holds context</a:t>
            </a:r>
          </a:p>
          <a:p>
            <a:pPr algn="l">
              <a:spcAft>
                <a:spcPts val="300"/>
              </a:spcAft>
            </a:pPr>
            <a:r>
              <a:rPr sz="1200" b="0">
                <a:solidFill>
                  <a:srgbClr val="5B6372"/>
                </a:solidFill>
                <a:latin typeface="Arial"/>
              </a:rPr>
              <a:t>Materials and instructions live in the workspace, not in each prompt.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Skills carry the how</a:t>
            </a:r>
          </a:p>
          <a:p>
            <a:pPr algn="l">
              <a:spcAft>
                <a:spcPts val="300"/>
              </a:spcAft>
            </a:pPr>
            <a:r>
              <a:rPr sz="1200" b="0">
                <a:solidFill>
                  <a:srgbClr val="5B6372"/>
                </a:solidFill>
                <a:latin typeface="Arial"/>
              </a:rPr>
              <a:t>A skill is a method; a project is the material that method works 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Set the rules once</a:t>
            </a:r>
          </a:p>
          <a:p>
            <a:pPr algn="l">
              <a:spcAft>
                <a:spcPts val="300"/>
              </a:spcAft>
            </a:pPr>
            <a:r>
              <a:rPr sz="1200" b="0">
                <a:solidFill>
                  <a:srgbClr val="5B6372"/>
                </a:solidFill>
                <a:latin typeface="Arial"/>
              </a:rPr>
              <a:t>The standing instructions apply to every conversation in the project.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Repeatable, not automatic</a:t>
            </a:r>
          </a:p>
          <a:p>
            <a:pPr algn="l">
              <a:spcAft>
                <a:spcPts val="300"/>
              </a:spcAft>
            </a:pPr>
            <a:r>
              <a:rPr sz="1200" b="0">
                <a:solidFill>
                  <a:srgbClr val="5B6372"/>
                </a:solidFill>
                <a:latin typeface="Arial"/>
              </a:rPr>
              <a:t>The pipeline repeats itself; a person still reads what comes out.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Automate an HR Pipeline with a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A project named Lumina Living HR exists with the policy PDFs, the staff workbook and the quarter files uploaded, and custom instructions set. The new starter pipeline produced a checklist with owners, a welcome note and a report line for two different starters, every fact naming its source file, with gaps marked 'need to check'.</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Draft an Outlook Reply with Claude in Chrome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Claude in Chrome works on the page in front of you. Open a staff message in Outlook web, have Claude draft the reply into the real compose box, check it, and decide whether it goes.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reviewed reply drafted in Outlook on the web, sent only after you approved it or deliberately left in Drafts.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for Chrome, Outlook on the web, per-action approval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10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Outlook in Chrome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message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Claude drafts into the reply box</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it in Outlook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press Send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10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Chrome sees the page</a:t>
            </a:r>
          </a:p>
          <a:p>
            <a:pPr algn="l">
              <a:spcAft>
                <a:spcPts val="300"/>
              </a:spcAft>
            </a:pPr>
            <a:r>
              <a:rPr sz="1200" b="0">
                <a:solidFill>
                  <a:srgbClr val="5B6372"/>
                </a:solidFill>
                <a:latin typeface="Arial"/>
              </a:rPr>
              <a:t>Claude in Chrome works on whatever is open in the browser, so the message must be on screen.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Approve each action</a:t>
            </a:r>
          </a:p>
          <a:p>
            <a:pPr algn="l">
              <a:spcAft>
                <a:spcPts val="300"/>
              </a:spcAft>
            </a:pPr>
            <a:r>
              <a:rPr sz="1200" b="0">
                <a:solidFill>
                  <a:srgbClr val="5B6372"/>
                </a:solidFill>
                <a:latin typeface="Arial"/>
              </a:rPr>
              <a:t>Manually approve means Claude asks before it touches the page. Never turn that off.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draft is real</a:t>
            </a:r>
          </a:p>
          <a:p>
            <a:pPr algn="l">
              <a:spcAft>
                <a:spcPts val="300"/>
              </a:spcAft>
            </a:pPr>
            <a:r>
              <a:rPr sz="1200" b="0">
                <a:solidFill>
                  <a:srgbClr val="5B6372"/>
                </a:solidFill>
                <a:latin typeface="Arial"/>
              </a:rPr>
              <a:t>It lands in the Outlook compose box, not in a chat window.</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Sending stays yours</a:t>
            </a:r>
          </a:p>
          <a:p>
            <a:pPr algn="l">
              <a:spcAft>
                <a:spcPts val="300"/>
              </a:spcAft>
            </a:pPr>
            <a:r>
              <a:rPr sz="1200" b="0">
                <a:solidFill>
                  <a:srgbClr val="5B6372"/>
                </a:solidFill>
                <a:latin typeface="Arial"/>
              </a:rPr>
              <a:t>Claude drafts. A person reads it and presses Send.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100" b="1">
                <a:solidFill>
                  <a:srgbClr val="161B26"/>
                </a:solidFill>
                <a:latin typeface="Arial"/>
              </a:rPr>
              <a:t>Draft an Outlook Reply with Claude in Chrome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A reply was drafted into the Outlook compose box, the recipient and every fact were checked, anything unsupported is marked 'need to check', and the message was either sent after approval or deliberately left in Drafts. Permission mode stayed on Manually approve throughout.</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Add Skills and Connectors to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The project holds the materials and the rules. Add the hr-policy-draft skill so it knows your method, and the Microsoft 365 connector so it can reach real files and mail. Then run the full HR workflow end to end.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HR project with materials, standing rules, a skill and a connector, running one request that produces a policy draft, a summary and an Outlook draft.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Projects, Claude Skills, Microsoft 365 connector, Cowork</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13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Materials and rules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the skill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the connector</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whole workflow</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what stays automatic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13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Three things, one workspace</a:t>
            </a:r>
          </a:p>
          <a:p>
            <a:pPr algn="l">
              <a:spcAft>
                <a:spcPts val="300"/>
              </a:spcAft>
            </a:pPr>
            <a:r>
              <a:rPr sz="1200" b="0">
                <a:solidFill>
                  <a:srgbClr val="5B6372"/>
                </a:solidFill>
                <a:latin typeface="Arial"/>
              </a:rPr>
              <a:t>Materials say what to work on, the skill says how, the connector says where else to look.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 request, many steps</a:t>
            </a:r>
          </a:p>
          <a:p>
            <a:pPr algn="l">
              <a:spcAft>
                <a:spcPts val="300"/>
              </a:spcAft>
            </a:pPr>
            <a:r>
              <a:rPr sz="1200" b="0">
                <a:solidFill>
                  <a:srgbClr val="5B6372"/>
                </a:solidFill>
                <a:latin typeface="Arial"/>
              </a:rPr>
              <a:t>The project can draft, summarise and prepare mail without you moving between apps.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More reach, more care</a:t>
            </a:r>
          </a:p>
          <a:p>
            <a:pPr algn="l">
              <a:spcAft>
                <a:spcPts val="300"/>
              </a:spcAft>
            </a:pPr>
            <a:r>
              <a:rPr sz="1200" b="0">
                <a:solidFill>
                  <a:srgbClr val="5B6372"/>
                </a:solidFill>
                <a:latin typeface="Arial"/>
              </a:rPr>
              <a:t>A connector reads real company content, so the read-only boundary matters more, not less.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Automatic is a choice</a:t>
            </a:r>
          </a:p>
          <a:p>
            <a:pPr algn="l">
              <a:spcAft>
                <a:spcPts val="300"/>
              </a:spcAft>
            </a:pPr>
            <a:r>
              <a:rPr sz="1200" b="0">
                <a:solidFill>
                  <a:srgbClr val="5B6372"/>
                </a:solidFill>
                <a:latin typeface="Arial"/>
              </a:rPr>
              <a:t>Decide deliberately which steps may run unattended and which always need a person.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Add Skills and Connectors to the Project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project has the hr-policy-draft skill enabled and the connector state recorded. One request produced a policy draft following the skill's rules, a headcount summary naming its source files, and an unsent Outlook draft. Nothing was sent, and you have written which steps may run unattended and which always need a person.</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Upload a Shared Skill for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2100" b="0">
                <a:solidFill>
                  <a:srgbClr val="161B26"/>
                </a:solidFill>
                <a:latin typeface="Arial"/>
              </a:rPr>
              <a:t>Your company has a house standard for decks, written once and shared as a file. Upload it as a skill and apply it to a weak draft deck.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uploaded deck-design-standard skill, and a rebuilt deck where every title states a conclusion.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Skills, Claude for PowerPoint, Upload a skill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CONCEPT-TO-OUTCOME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14 — Process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 standard written once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Upload 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Apply it to a weak deck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with your own version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right method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DECISIONS &amp; CONTROLS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Lab 14 — Professional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Upload a skill</a:t>
            </a:r>
          </a:p>
          <a:p>
            <a:pPr algn="l">
              <a:spcAft>
                <a:spcPts val="300"/>
              </a:spcAft>
            </a:pPr>
            <a:r>
              <a:rPr sz="1200" b="0">
                <a:solidFill>
                  <a:srgbClr val="5B6372"/>
                </a:solidFill>
                <a:latin typeface="Arial"/>
              </a:rPr>
              <a:t>Use this when the standard already exists and the team should share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One house standard</a:t>
            </a:r>
          </a:p>
          <a:p>
            <a:pPr algn="l">
              <a:spcAft>
                <a:spcPts val="300"/>
              </a:spcAft>
            </a:pPr>
            <a:r>
              <a:rPr sz="1200" b="0">
                <a:solidFill>
                  <a:srgbClr val="5B6372"/>
                </a:solidFill>
                <a:latin typeface="Arial"/>
              </a:rPr>
              <a:t>Everyone's deck looks like the company wrote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Read before you upload</a:t>
            </a:r>
          </a:p>
          <a:p>
            <a:pPr algn="l">
              <a:spcAft>
                <a:spcPts val="300"/>
              </a:spcAft>
            </a:pPr>
            <a:r>
              <a:rPr sz="1200" b="0">
                <a:solidFill>
                  <a:srgbClr val="5B6372"/>
                </a:solidFill>
                <a:latin typeface="Arial"/>
              </a:rPr>
              <a:t>A shared skill applies someone else's rules to your work.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Three ways to create</a:t>
            </a:r>
          </a:p>
          <a:p>
            <a:pPr algn="l">
              <a:spcAft>
                <a:spcPts val="300"/>
              </a:spcAft>
            </a:pPr>
            <a:r>
              <a:rPr sz="1200" b="0">
                <a:solidFill>
                  <a:srgbClr val="5B6372"/>
                </a:solidFill>
                <a:latin typeface="Arial"/>
              </a:rPr>
              <a:t>Write it, have Claude create it, or upload one someone else wrote.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Upload a Shared Skill for Slides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98480" cy="19202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84831"/>
            <a:ext cx="10012680" cy="384048"/>
          </a:xfrm>
          <a:prstGeom prst="rect">
            <a:avLst/>
          </a:prstGeom>
          <a:noFill/>
        </p:spPr>
        <p:txBody>
          <a:bodyPr wrap="square" anchor="t">
            <a:spAutoFit/>
          </a:bodyPr>
          <a:lstStyle/>
          <a:p>
            <a:pPr algn="l">
              <a:spcAft>
                <a:spcPts val="400"/>
              </a:spcAft>
            </a:pPr>
            <a:r>
              <a:rPr sz="1500" b="1">
                <a:solidFill>
                  <a:srgbClr val="127A3E"/>
                </a:solidFill>
                <a:latin typeface="Arial"/>
              </a:rPr>
              <a:t>✅  ACCEPTANCE CHECK</a:t>
            </a:r>
          </a:p>
        </p:txBody>
      </p:sp>
      <p:sp>
        <p:nvSpPr>
          <p:cNvPr id="9" name="TextBox 8"/>
          <p:cNvSpPr txBox="1"/>
          <p:nvPr/>
        </p:nvSpPr>
        <p:spPr>
          <a:xfrm>
            <a:off x="1051560" y="2615184"/>
            <a:ext cx="10012680" cy="932688"/>
          </a:xfrm>
          <a:prstGeom prst="rect">
            <a:avLst/>
          </a:prstGeom>
          <a:noFill/>
        </p:spPr>
        <p:txBody>
          <a:bodyPr wrap="square" anchor="ctr">
            <a:spAutoFit/>
          </a:bodyPr>
          <a:lstStyle/>
          <a:p>
            <a:pPr algn="l">
              <a:spcAft>
                <a:spcPts val="400"/>
              </a:spcAft>
            </a:pPr>
            <a:r>
              <a:rPr sz="1600" b="0">
                <a:solidFill>
                  <a:srgbClr val="161B26"/>
                </a:solidFill>
                <a:latin typeface="Arial"/>
              </a:rPr>
              <a:t>The deck-design-standard skill was uploaded from the supplied file, running it changed every slide title to a conclusion and added source notes, the slide master is unchanged, and slide 1's speaker notes say which of the ways of creating a skill you would use and why.</a:t>
            </a:r>
          </a:p>
        </p:txBody>
      </p:sp>
      <p:sp>
        <p:nvSpPr>
          <p:cNvPr id="10" name="Rectangle 9"/>
          <p:cNvSpPr/>
          <p:nvPr/>
        </p:nvSpPr>
        <p:spPr>
          <a:xfrm>
            <a:off x="777240"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041648"/>
            <a:ext cx="343204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270248"/>
            <a:ext cx="3066288" cy="310896"/>
          </a:xfrm>
          <a:prstGeom prst="rect">
            <a:avLst/>
          </a:prstGeom>
          <a:noFill/>
        </p:spPr>
        <p:txBody>
          <a:bodyPr wrap="square" anchor="t">
            <a:spAutoFit/>
          </a:bodyPr>
          <a:lstStyle/>
          <a:p>
            <a:pPr algn="ctr">
              <a:spcAft>
                <a:spcPts val="400"/>
              </a:spcAft>
            </a:pPr>
            <a:r>
              <a:rPr sz="1200" b="1">
                <a:solidFill>
                  <a:srgbClr val="1F6FEB"/>
                </a:solidFill>
                <a:latin typeface="Arial"/>
              </a:rPr>
              <a:t>INSPECT</a:t>
            </a:r>
          </a:p>
        </p:txBody>
      </p:sp>
      <p:sp>
        <p:nvSpPr>
          <p:cNvPr id="13" name="TextBox 12"/>
          <p:cNvSpPr txBox="1"/>
          <p:nvPr/>
        </p:nvSpPr>
        <p:spPr>
          <a:xfrm>
            <a:off x="978408"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Open the native artifact and challenge its sources, formulas, structure and versions.</a:t>
            </a:r>
          </a:p>
        </p:txBody>
      </p:sp>
      <p:sp>
        <p:nvSpPr>
          <p:cNvPr id="14" name="Rectangle 13"/>
          <p:cNvSpPr/>
          <p:nvPr/>
        </p:nvSpPr>
        <p:spPr>
          <a:xfrm>
            <a:off x="4410456"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0456" y="4041648"/>
            <a:ext cx="343204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3336" y="4270248"/>
            <a:ext cx="3066288" cy="310896"/>
          </a:xfrm>
          <a:prstGeom prst="rect">
            <a:avLst/>
          </a:prstGeom>
          <a:noFill/>
        </p:spPr>
        <p:txBody>
          <a:bodyPr wrap="square" anchor="t">
            <a:spAutoFit/>
          </a:bodyPr>
          <a:lstStyle/>
          <a:p>
            <a:pPr algn="ctr">
              <a:spcAft>
                <a:spcPts val="400"/>
              </a:spcAft>
            </a:pPr>
            <a:r>
              <a:rPr sz="1200" b="1">
                <a:solidFill>
                  <a:srgbClr val="10B981"/>
                </a:solidFill>
                <a:latin typeface="Arial"/>
              </a:rPr>
              <a:t>RECONCILE</a:t>
            </a:r>
          </a:p>
        </p:txBody>
      </p:sp>
      <p:sp>
        <p:nvSpPr>
          <p:cNvPr id="17" name="TextBox 16"/>
          <p:cNvSpPr txBox="1"/>
          <p:nvPr/>
        </p:nvSpPr>
        <p:spPr>
          <a:xfrm>
            <a:off x="4611624"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Confirm every material figure or claim against the approved evidence location.</a:t>
            </a:r>
          </a:p>
        </p:txBody>
      </p:sp>
      <p:sp>
        <p:nvSpPr>
          <p:cNvPr id="18" name="Rectangle 17"/>
          <p:cNvSpPr/>
          <p:nvPr/>
        </p:nvSpPr>
        <p:spPr>
          <a:xfrm>
            <a:off x="8043672" y="4041648"/>
            <a:ext cx="3432048" cy="171907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3672" y="4041648"/>
            <a:ext cx="343204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6552" y="4270248"/>
            <a:ext cx="3066288" cy="310896"/>
          </a:xfrm>
          <a:prstGeom prst="rect">
            <a:avLst/>
          </a:prstGeom>
          <a:noFill/>
        </p:spPr>
        <p:txBody>
          <a:bodyPr wrap="square" anchor="t">
            <a:spAutoFit/>
          </a:bodyPr>
          <a:lstStyle/>
          <a:p>
            <a:pPr algn="ctr">
              <a:spcAft>
                <a:spcPts val="400"/>
              </a:spcAft>
            </a:pPr>
            <a:r>
              <a:rPr sz="1200" b="1">
                <a:solidFill>
                  <a:srgbClr val="7C3AED"/>
                </a:solidFill>
                <a:latin typeface="Arial"/>
              </a:rPr>
              <a:t>ENDORSE</a:t>
            </a:r>
          </a:p>
        </p:txBody>
      </p:sp>
      <p:sp>
        <p:nvSpPr>
          <p:cNvPr id="21" name="TextBox 20"/>
          <p:cNvSpPr txBox="1"/>
          <p:nvPr/>
        </p:nvSpPr>
        <p:spPr>
          <a:xfrm>
            <a:off x="8244840" y="4700016"/>
            <a:ext cx="3029712" cy="804672"/>
          </a:xfrm>
          <a:prstGeom prst="rect">
            <a:avLst/>
          </a:prstGeom>
          <a:noFill/>
        </p:spPr>
        <p:txBody>
          <a:bodyPr wrap="square" anchor="ctr">
            <a:spAutoFit/>
          </a:bodyPr>
          <a:lstStyle/>
          <a:p>
            <a:pPr algn="ctr">
              <a:spcAft>
                <a:spcPts val="400"/>
              </a:spcAft>
            </a:pPr>
            <a:r>
              <a:rPr sz="1150" b="0">
                <a:solidFill>
                  <a:srgbClr val="161B26"/>
                </a:solidFill>
                <a:latin typeface="Arial"/>
              </a:rPr>
              <a:t>Record the named reviewer before accepting, saving, releasing or sending the work.</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1700" b="1">
                <a:solidFill>
                  <a:srgbClr val="161B26"/>
                </a:solidFill>
                <a:latin typeface="Arial"/>
              </a:rPr>
              <a:t>Recap — Staff Questions, Repeatable Work and Advanced Claude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Invoke a saved skill from Word so it reads the Excel workbook and writes the figures into the document.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completed quarterly update with figures drawn from the workbook, saved as a final copy.</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Sort a set of staff messages by what each one needs, and draft one reply for approval.</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Every message sorted, one reply drafted, the person who would approve it named, and the reply created as an Outlook draft ready for review.</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Capability — Have Claude read across a folder of HR files and write one summary, reporting what the files disagree on rather than resolving it.</a:t>
            </a:r>
          </a:p>
        </p:txBody>
      </p:sp>
      <p:sp>
        <p:nvSpPr>
          <p:cNvPr id="32" name="Rectangle 31"/>
          <p:cNvSpPr/>
          <p:nvPr/>
        </p:nvSpPr>
        <p:spPr>
          <a:xfrm>
            <a:off x="6176772"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6772"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59652"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6</a:t>
            </a:r>
          </a:p>
        </p:txBody>
      </p:sp>
      <p:sp>
        <p:nvSpPr>
          <p:cNvPr id="36" name="TextBox 35"/>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Evidence retained — A two-page people summary built only from the folder, naming the file behind every claim, with disagreements reported rather than settled.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Pick the right place</a:t>
            </a:r>
          </a:p>
          <a:p>
            <a:pPr algn="l">
              <a:spcAft>
                <a:spcPts val="300"/>
              </a:spcAft>
            </a:pPr>
            <a:r>
              <a:rPr sz="1300" b="0">
                <a:solidFill>
                  <a:srgbClr val="5B6372"/>
                </a:solidFill>
                <a:latin typeface="Arial"/>
              </a:rPr>
              <a:t>Choose the right place to use Claude for an HR task.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Decide what Claude reads</a:t>
            </a:r>
          </a:p>
          <a:p>
            <a:pPr algn="l">
              <a:spcAft>
                <a:spcPts val="300"/>
              </a:spcAft>
            </a:pPr>
            <a:r>
              <a:rPr sz="1300" b="0">
                <a:solidFill>
                  <a:srgbClr val="5B6372"/>
                </a:solidFill>
                <a:latin typeface="Arial"/>
              </a:rPr>
              <a:t>Decide what staff information Claude may read, and what it must never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clearly</a:t>
            </a:r>
          </a:p>
          <a:p>
            <a:pPr algn="l">
              <a:spcAft>
                <a:spcPts val="300"/>
              </a:spcAft>
            </a:pPr>
            <a:r>
              <a:rPr sz="1300" b="0">
                <a:solidFill>
                  <a:srgbClr val="5B6372"/>
                </a:solidFill>
                <a:latin typeface="Arial"/>
              </a:rPr>
              <a:t>Write a request that says what you want, what to use, what to leave alone and when to stop.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Plan the hiring</a:t>
            </a:r>
          </a:p>
          <a:p>
            <a:pPr algn="l">
              <a:spcAft>
                <a:spcPts val="300"/>
              </a:spcAft>
            </a:pPr>
            <a:r>
              <a:rPr sz="1300" b="0">
                <a:solidFill>
                  <a:srgbClr val="5B6372"/>
                </a:solidFill>
                <a:latin typeface="Arial"/>
              </a:rPr>
              <a:t>Write a hiring plan in Word using only what the brief actually says.</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Check the policy wording</a:t>
            </a:r>
          </a:p>
          <a:p>
            <a:pPr algn="l">
              <a:spcAft>
                <a:spcPts val="300"/>
              </a:spcAft>
            </a:pPr>
            <a:r>
              <a:rPr sz="1300" b="0">
                <a:solidFill>
                  <a:srgbClr val="5B6372"/>
                </a:solidFill>
                <a:latin typeface="Arial"/>
              </a:rPr>
              <a:t>Draft leave and flexible-work policy wording that flags every point needing legal review.</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People numbers</a:t>
            </a:r>
          </a:p>
          <a:p>
            <a:pPr algn="l">
              <a:spcAft>
                <a:spcPts val="300"/>
              </a:spcAft>
            </a:pPr>
            <a:r>
              <a:rPr sz="1300" b="0">
                <a:solidFill>
                  <a:srgbClr val="5B6372"/>
                </a:solidFill>
                <a:latin typeface="Arial"/>
              </a:rPr>
              <a:t>Build a headcount and turnover analysis in Excel using live formulas.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Tell leadership</a:t>
            </a:r>
          </a:p>
          <a:p>
            <a:pPr algn="l">
              <a:spcAft>
                <a:spcPts val="300"/>
              </a:spcAft>
            </a:pPr>
            <a:r>
              <a:rPr sz="1300" b="0">
                <a:solidFill>
                  <a:srgbClr val="5B6372"/>
                </a:solidFill>
                <a:latin typeface="Arial"/>
              </a:rPr>
              <a:t>Build a leadership update deck where every slide title states a conclusion.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Handle the inbox</a:t>
            </a:r>
          </a:p>
          <a:p>
            <a:pPr algn="l">
              <a:spcAft>
                <a:spcPts val="300"/>
              </a:spcAft>
            </a:pPr>
            <a:r>
              <a:rPr sz="1300" b="0">
                <a:solidFill>
                  <a:srgbClr val="5B6372"/>
                </a:solidFill>
                <a:latin typeface="Arial"/>
              </a:rPr>
              <a:t>Sort the HR inbox and draft one reply ready for approval.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One folder, one summary</a:t>
            </a:r>
          </a:p>
          <a:p>
            <a:pPr algn="l">
              <a:spcAft>
                <a:spcPts val="300"/>
              </a:spcAft>
            </a:pPr>
            <a:r>
              <a:rPr sz="1300" b="0">
                <a:solidFill>
                  <a:srgbClr val="5B6372"/>
                </a:solidFill>
                <a:latin typeface="Arial"/>
              </a:rPr>
              <a:t>Have Claude read one folder and write a people summary that says where each fact came from.</a:t>
            </a:r>
          </a:p>
        </p:txBody>
      </p:sp>
      <p:sp>
        <p:nvSpPr>
          <p:cNvPr id="27" name="Rectangle 26"/>
          <p:cNvSpPr/>
          <p:nvPr/>
        </p:nvSpPr>
        <p:spPr>
          <a:xfrm>
            <a:off x="3504438"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04438"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0470"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60470"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31" name="TextBox 30"/>
          <p:cNvSpPr txBox="1"/>
          <p:nvPr/>
        </p:nvSpPr>
        <p:spPr>
          <a:xfrm>
            <a:off x="4491990"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Automate the update</a:t>
            </a:r>
          </a:p>
          <a:p>
            <a:pPr algn="l">
              <a:spcAft>
                <a:spcPts val="300"/>
              </a:spcAft>
            </a:pPr>
            <a:r>
              <a:rPr sz="1300" b="0">
                <a:solidFill>
                  <a:srgbClr val="5B6372"/>
                </a:solidFill>
                <a:latin typeface="Arial"/>
              </a:rPr>
              <a:t>Automate a weekly people update on your own computer.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Save it as a Skill</a:t>
            </a:r>
          </a:p>
          <a:p>
            <a:pPr algn="l">
              <a:spcAft>
                <a:spcPts val="300"/>
              </a:spcAft>
            </a:pPr>
            <a:r>
              <a:rPr sz="1300" b="0">
                <a:solidFill>
                  <a:srgbClr val="5B6372"/>
                </a:solidFill>
                <a:latin typeface="Arial"/>
              </a:rPr>
              <a:t>Save a working method as a Skill so the whole team applies the same standard.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Connect SharePoint</a:t>
            </a:r>
          </a:p>
          <a:p>
            <a:pPr algn="l">
              <a:spcAft>
                <a:spcPts val="300"/>
              </a:spcAft>
            </a:pPr>
            <a:r>
              <a:rPr sz="1300" b="0">
                <a:solidFill>
                  <a:srgbClr val="5B6372"/>
                </a:solidFill>
                <a:latin typeface="Arial"/>
              </a:rPr>
              <a:t>Use the Microsoft 365 connector to find HR files stored in SharePoint.</a:t>
            </a:r>
          </a:p>
        </p:txBody>
      </p:sp>
      <p:sp>
        <p:nvSpPr>
          <p:cNvPr id="17" name="Rectangle 16"/>
          <p:cNvSpPr/>
          <p:nvPr/>
        </p:nvSpPr>
        <p:spPr>
          <a:xfrm>
            <a:off x="3504438"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04438" y="3319272"/>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760470"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0470"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13</a:t>
            </a:r>
          </a:p>
        </p:txBody>
      </p:sp>
      <p:sp>
        <p:nvSpPr>
          <p:cNvPr id="21" name="TextBox 20"/>
          <p:cNvSpPr txBox="1"/>
          <p:nvPr/>
        </p:nvSpPr>
        <p:spPr>
          <a:xfrm>
            <a:off x="4491990"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Add a plugin</a:t>
            </a:r>
          </a:p>
          <a:p>
            <a:pPr algn="l">
              <a:spcAft>
                <a:spcPts val="300"/>
              </a:spcAft>
            </a:pPr>
            <a:r>
              <a:rPr sz="1300" b="0">
                <a:solidFill>
                  <a:srgbClr val="5B6372"/>
                </a:solidFill>
                <a:latin typeface="Arial"/>
              </a:rPr>
              <a:t>Add a plugin, and judge when a task needs one and when it does not.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CURRENT PRODUCT GUIDANCE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Selected References &amp; Further Learning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Claude for Microsoft 365 overview</a:t>
            </a:r>
          </a:p>
          <a:p>
            <a:pPr algn="l">
              <a:spcAft>
                <a:spcPts val="300"/>
              </a:spcAft>
            </a:pPr>
            <a:r>
              <a:rPr sz="1100" b="0">
                <a:solidFill>
                  <a:srgbClr val="5B6372"/>
                </a:solidFill>
                <a:latin typeface="Arial"/>
              </a:rPr>
              <a:t>claude.com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Claude for Microsoft 365 add-ins overview</a:t>
            </a:r>
          </a:p>
          <a:p>
            <a:pPr algn="l">
              <a:spcAft>
                <a:spcPts val="300"/>
              </a:spcAft>
            </a:pPr>
            <a:r>
              <a:rPr sz="1100" b="0">
                <a:solidFill>
                  <a:srgbClr val="5B6372"/>
                </a:solidFill>
                <a:latin typeface="Arial"/>
              </a:rPr>
              <a:t>claude.com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 Claude for Word</a:t>
            </a:r>
          </a:p>
          <a:p>
            <a:pPr algn="l">
              <a:spcAft>
                <a:spcPts val="300"/>
              </a:spcAft>
            </a:pPr>
            <a:r>
              <a:rPr sz="1100" b="0">
                <a:solidFill>
                  <a:srgbClr val="5B6372"/>
                </a:solidFill>
                <a:latin typeface="Arial"/>
              </a:rPr>
              <a:t>claude.com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 Claude for Outlook</a:t>
            </a:r>
          </a:p>
          <a:p>
            <a:pPr algn="l">
              <a:spcAft>
                <a:spcPts val="300"/>
              </a:spcAft>
            </a:pPr>
            <a:r>
              <a:rPr sz="1100" b="0">
                <a:solidFill>
                  <a:srgbClr val="5B6372"/>
                </a:solidFill>
                <a:latin typeface="Arial"/>
              </a:rPr>
              <a:t>claude.com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Get started with Claude in Chrome</a:t>
            </a:r>
          </a:p>
          <a:p>
            <a:pPr algn="l">
              <a:spcAft>
                <a:spcPts val="300"/>
              </a:spcAft>
            </a:pPr>
            <a:r>
              <a:rPr sz="1100" b="0">
                <a:solidFill>
                  <a:srgbClr val="5B6372"/>
                </a:solidFill>
                <a:latin typeface="Arial"/>
              </a:rPr>
              <a:t>support.claude.com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Claude in Chrome permissions guide</a:t>
            </a:r>
          </a:p>
          <a:p>
            <a:pPr algn="l">
              <a:spcAft>
                <a:spcPts val="300"/>
              </a:spcAft>
            </a:pPr>
            <a:r>
              <a:rPr sz="1100" b="0">
                <a:solidFill>
                  <a:srgbClr val="5B6372"/>
                </a:solidFill>
                <a:latin typeface="Arial"/>
              </a:rPr>
              <a:t>support.claude.com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COURSE CLOSE</a:t>
            </a:r>
          </a:p>
        </p:txBody>
      </p:sp>
      <p:sp>
        <p:nvSpPr>
          <p:cNvPr id="5" name="TextBox 4"/>
          <p:cNvSpPr txBox="1"/>
          <p:nvPr/>
        </p:nvSpPr>
        <p:spPr>
          <a:xfrm>
            <a:off x="777240" y="822960"/>
            <a:ext cx="10927080" cy="749808"/>
          </a:xfrm>
          <a:prstGeom prst="rect">
            <a:avLst/>
          </a:prstGeom>
          <a:noFill/>
        </p:spPr>
        <p:txBody>
          <a:bodyPr wrap="none" anchor="ctr">
            <a:spAutoFit/>
          </a:bodyPr>
          <a:lstStyle/>
          <a:p>
            <a:pPr algn="l">
              <a:spcAft>
                <a:spcPts val="400"/>
              </a:spcAft>
            </a:pPr>
            <a:r>
              <a:rPr sz="2900" b="1">
                <a:solidFill>
                  <a:srgbClr val="161B26"/>
                </a:solidFill>
                <a:latin typeface="Arial"/>
              </a:rPr>
              <a:t>Thank You — Keep the Workflow Governed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74519"/>
            <a:ext cx="10561320" cy="594360"/>
          </a:xfrm>
          <a:prstGeom prst="rect">
            <a:avLst/>
          </a:prstGeom>
          <a:noFill/>
        </p:spPr>
        <p:txBody>
          <a:bodyPr wrap="square" anchor="t">
            <a:spAutoFit/>
          </a:bodyPr>
          <a:lstStyle/>
          <a:p>
            <a:pPr algn="ctr">
              <a:spcAft>
                <a:spcPts val="400"/>
              </a:spcAft>
            </a:pPr>
            <a:r>
              <a:rPr sz="2400" b="1">
                <a:solidFill>
                  <a:srgbClr val="161B26"/>
                </a:solidFill>
                <a:latin typeface="Arial"/>
              </a:rPr>
              <a:t>Carry one connected evidence chain from source to decision.</a:t>
            </a:r>
          </a:p>
        </p:txBody>
      </p:sp>
      <p:sp>
        <p:nvSpPr>
          <p:cNvPr id="8" name="Rectangle 7"/>
          <p:cNvSpPr/>
          <p:nvPr/>
        </p:nvSpPr>
        <p:spPr>
          <a:xfrm>
            <a:off x="822960" y="2880360"/>
            <a:ext cx="3322320" cy="23317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880360"/>
            <a:ext cx="33223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154936" y="3200400"/>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5493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Arial"/>
              </a:rPr>
              <a:t>1</a:t>
            </a:r>
          </a:p>
        </p:txBody>
      </p:sp>
      <p:sp>
        <p:nvSpPr>
          <p:cNvPr id="12" name="TextBox 11"/>
          <p:cNvSpPr txBox="1"/>
          <p:nvPr/>
        </p:nvSpPr>
        <p:spPr>
          <a:xfrm>
            <a:off x="1005840" y="4050792"/>
            <a:ext cx="2956560" cy="320040"/>
          </a:xfrm>
          <a:prstGeom prst="rect">
            <a:avLst/>
          </a:prstGeom>
          <a:noFill/>
        </p:spPr>
        <p:txBody>
          <a:bodyPr wrap="square" anchor="t">
            <a:spAutoFit/>
          </a:bodyPr>
          <a:lstStyle/>
          <a:p>
            <a:pPr algn="ctr">
              <a:spcAft>
                <a:spcPts val="400"/>
              </a:spcAft>
            </a:pPr>
            <a:r>
              <a:rPr sz="1300" b="1">
                <a:solidFill>
                  <a:srgbClr val="1F6FEB"/>
                </a:solidFill>
                <a:latin typeface="Arial"/>
              </a:rPr>
              <a:t>BUILD</a:t>
            </a:r>
          </a:p>
        </p:txBody>
      </p:sp>
      <p:sp>
        <p:nvSpPr>
          <p:cNvPr id="13" name="TextBox 12"/>
          <p:cNvSpPr txBox="1"/>
          <p:nvPr/>
        </p:nvSpPr>
        <p:spPr>
          <a:xfrm>
            <a:off x="1051560" y="4434840"/>
            <a:ext cx="2865120" cy="594360"/>
          </a:xfrm>
          <a:prstGeom prst="rect">
            <a:avLst/>
          </a:prstGeom>
          <a:noFill/>
        </p:spPr>
        <p:txBody>
          <a:bodyPr wrap="square" anchor="t">
            <a:spAutoFit/>
          </a:bodyPr>
          <a:lstStyle/>
          <a:p>
            <a:pPr algn="ctr">
              <a:spcAft>
                <a:spcPts val="400"/>
              </a:spcAft>
            </a:pPr>
            <a:r>
              <a:rPr sz="1200" b="0">
                <a:solidFill>
                  <a:srgbClr val="161B26"/>
                </a:solidFill>
                <a:latin typeface="Arial"/>
              </a:rPr>
              <a:t>Create useful native Word, Excel and PowerPoint work products.</a:t>
            </a:r>
          </a:p>
        </p:txBody>
      </p:sp>
      <p:sp>
        <p:nvSpPr>
          <p:cNvPr id="14" name="Rectangle 13"/>
          <p:cNvSpPr/>
          <p:nvPr/>
        </p:nvSpPr>
        <p:spPr>
          <a:xfrm>
            <a:off x="4419600" y="2880360"/>
            <a:ext cx="3322320" cy="23317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9600" y="2880360"/>
            <a:ext cx="33223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51576" y="3200400"/>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5157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Arial"/>
              </a:rPr>
              <a:t>2</a:t>
            </a:r>
          </a:p>
        </p:txBody>
      </p:sp>
      <p:sp>
        <p:nvSpPr>
          <p:cNvPr id="18" name="TextBox 17"/>
          <p:cNvSpPr txBox="1"/>
          <p:nvPr/>
        </p:nvSpPr>
        <p:spPr>
          <a:xfrm>
            <a:off x="4602480" y="4050792"/>
            <a:ext cx="2956560" cy="320040"/>
          </a:xfrm>
          <a:prstGeom prst="rect">
            <a:avLst/>
          </a:prstGeom>
          <a:noFill/>
        </p:spPr>
        <p:txBody>
          <a:bodyPr wrap="square" anchor="t">
            <a:spAutoFit/>
          </a:bodyPr>
          <a:lstStyle/>
          <a:p>
            <a:pPr algn="ctr">
              <a:spcAft>
                <a:spcPts val="400"/>
              </a:spcAft>
            </a:pPr>
            <a:r>
              <a:rPr sz="1300" b="1">
                <a:solidFill>
                  <a:srgbClr val="10B981"/>
                </a:solidFill>
                <a:latin typeface="Arial"/>
              </a:rPr>
              <a:t>VERIFY</a:t>
            </a:r>
          </a:p>
        </p:txBody>
      </p:sp>
      <p:sp>
        <p:nvSpPr>
          <p:cNvPr id="19" name="TextBox 18"/>
          <p:cNvSpPr txBox="1"/>
          <p:nvPr/>
        </p:nvSpPr>
        <p:spPr>
          <a:xfrm>
            <a:off x="4648200" y="4434840"/>
            <a:ext cx="2865120" cy="594360"/>
          </a:xfrm>
          <a:prstGeom prst="rect">
            <a:avLst/>
          </a:prstGeom>
          <a:noFill/>
        </p:spPr>
        <p:txBody>
          <a:bodyPr wrap="square" anchor="t">
            <a:spAutoFit/>
          </a:bodyPr>
          <a:lstStyle/>
          <a:p>
            <a:pPr algn="ctr">
              <a:spcAft>
                <a:spcPts val="400"/>
              </a:spcAft>
            </a:pPr>
            <a:r>
              <a:rPr sz="1200" b="0">
                <a:solidFill>
                  <a:srgbClr val="161B26"/>
                </a:solidFill>
                <a:latin typeface="Arial"/>
              </a:rPr>
              <a:t>Trace claims, formulas, charts, recipients and assumptions to evidence.</a:t>
            </a:r>
          </a:p>
        </p:txBody>
      </p:sp>
      <p:sp>
        <p:nvSpPr>
          <p:cNvPr id="20" name="Rectangle 19"/>
          <p:cNvSpPr/>
          <p:nvPr/>
        </p:nvSpPr>
        <p:spPr>
          <a:xfrm>
            <a:off x="8016240" y="2880360"/>
            <a:ext cx="3322320" cy="233172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6240" y="2880360"/>
            <a:ext cx="33223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48216" y="3200400"/>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8216" y="3200400"/>
            <a:ext cx="658368" cy="658368"/>
          </a:xfrm>
          <a:prstGeom prst="rect">
            <a:avLst/>
          </a:prstGeom>
          <a:noFill/>
        </p:spPr>
        <p:txBody>
          <a:bodyPr wrap="square" anchor="ctr">
            <a:spAutoFit/>
          </a:bodyPr>
          <a:lstStyle/>
          <a:p>
            <a:pPr algn="ctr">
              <a:spcAft>
                <a:spcPts val="400"/>
              </a:spcAft>
            </a:pPr>
            <a:r>
              <a:rPr sz="2100" b="1">
                <a:solidFill>
                  <a:srgbClr val="FFFFFF"/>
                </a:solidFill>
                <a:latin typeface="Arial"/>
              </a:rPr>
              <a:t>3</a:t>
            </a:r>
          </a:p>
        </p:txBody>
      </p:sp>
      <p:sp>
        <p:nvSpPr>
          <p:cNvPr id="24" name="TextBox 23"/>
          <p:cNvSpPr txBox="1"/>
          <p:nvPr/>
        </p:nvSpPr>
        <p:spPr>
          <a:xfrm>
            <a:off x="8199120" y="4050792"/>
            <a:ext cx="2956560" cy="320040"/>
          </a:xfrm>
          <a:prstGeom prst="rect">
            <a:avLst/>
          </a:prstGeom>
          <a:noFill/>
        </p:spPr>
        <p:txBody>
          <a:bodyPr wrap="square" anchor="t">
            <a:spAutoFit/>
          </a:bodyPr>
          <a:lstStyle/>
          <a:p>
            <a:pPr algn="ctr">
              <a:spcAft>
                <a:spcPts val="400"/>
              </a:spcAft>
            </a:pPr>
            <a:r>
              <a:rPr sz="1300" b="1">
                <a:solidFill>
                  <a:srgbClr val="7C3AED"/>
                </a:solidFill>
                <a:latin typeface="Arial"/>
              </a:rPr>
              <a:t>APPROVE</a:t>
            </a:r>
          </a:p>
        </p:txBody>
      </p:sp>
      <p:sp>
        <p:nvSpPr>
          <p:cNvPr id="25" name="TextBox 24"/>
          <p:cNvSpPr txBox="1"/>
          <p:nvPr/>
        </p:nvSpPr>
        <p:spPr>
          <a:xfrm>
            <a:off x="8244840" y="4434840"/>
            <a:ext cx="2865120" cy="594360"/>
          </a:xfrm>
          <a:prstGeom prst="rect">
            <a:avLst/>
          </a:prstGeom>
          <a:noFill/>
        </p:spPr>
        <p:txBody>
          <a:bodyPr wrap="square" anchor="t">
            <a:spAutoFit/>
          </a:bodyPr>
          <a:lstStyle/>
          <a:p>
            <a:pPr algn="ctr">
              <a:spcAft>
                <a:spcPts val="400"/>
              </a:spcAft>
            </a:pPr>
            <a:r>
              <a:rPr sz="1200" b="0">
                <a:solidFill>
                  <a:srgbClr val="161B26"/>
                </a:solidFill>
                <a:latin typeface="Arial"/>
              </a:rPr>
              <a:t>Keep final save, release and send decisions with the authorised human.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