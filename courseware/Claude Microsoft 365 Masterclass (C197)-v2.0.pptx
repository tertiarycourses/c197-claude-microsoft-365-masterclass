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Claude Microsoft 365 Masterclass (C197)</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C197</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v2.0  ·  12 August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JL</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Jim Gan Chiu Liang (JL)</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Industry certified in the subject area of this course.</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Professional short courses for Tertiary Infotech Academy.</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experience with this subject (if any).</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What you want to be able to do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RESOURCES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Your Connected Course Workspace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Visual course deck</a:t>
            </a:r>
          </a:p>
          <a:p>
            <a:pPr algn="l">
              <a:spcAft>
                <a:spcPts val="300"/>
              </a:spcAft>
            </a:pPr>
            <a:r>
              <a:rPr sz="1200" b="0">
                <a:solidFill>
                  <a:srgbClr val="5B6372"/>
                </a:solidFill>
                <a:latin typeface="Arial"/>
              </a:rPr>
              <a:t>Concepts, process maps, prompt anatomy and realistic Office exhibits.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Detailed Learner Guide</a:t>
            </a:r>
          </a:p>
          <a:p>
            <a:pPr algn="l">
              <a:spcAft>
                <a:spcPts val="300"/>
              </a:spcAft>
            </a:pPr>
            <a:r>
              <a:rPr sz="1200" b="0">
                <a:solidFill>
                  <a:srgbClr val="5B6372"/>
                </a:solidFill>
                <a:latin typeface="Arial"/>
              </a:rPr>
              <a:t>Click-level procedures, full prompts, commands, checks and troubleshooting.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Eleven lab folders</a:t>
            </a:r>
          </a:p>
          <a:p>
            <a:pPr algn="l">
              <a:spcAft>
                <a:spcPts val="300"/>
              </a:spcAft>
            </a:pPr>
            <a:r>
              <a:rPr sz="1200" b="0">
                <a:solidFill>
                  <a:srgbClr val="5B6372"/>
                </a:solidFill>
                <a:latin typeface="Arial"/>
              </a:rPr>
              <a:t>A connected Lumina Living workflow with a README in every activity folder.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Native Office artifacts</a:t>
            </a:r>
          </a:p>
          <a:p>
            <a:pPr algn="l">
              <a:spcAft>
                <a:spcPts val="300"/>
              </a:spcAft>
            </a:pPr>
            <a:r>
              <a:rPr sz="1200" b="0">
                <a:solidFill>
                  <a:srgbClr val="5B6372"/>
                </a:solidFill>
                <a:latin typeface="Arial"/>
              </a:rPr>
              <a:t>Editable Word, Excel and PowerPoint samples plus reusable review templates.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
        <p:nvSpPr>
          <p:cNvPr id="30" name="TextBox 29"/>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rPr>
              <a:t>Portal:  https://lms-tms.tertiaryinfotech.com</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Lesson Plan — One Connected Company Day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Morning</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Afternoon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Morning · 9:30am–1:10pm</a:t>
            </a:r>
          </a:p>
          <a:p>
            <a:pPr>
              <a:spcAft>
                <a:spcPts val="1000"/>
              </a:spcAft>
            </a:pPr>
            <a:r>
              <a:rPr sz="1400" b="0">
                <a:solidFill>
                  <a:srgbClr val="5B6372"/>
                </a:solidFill>
                <a:latin typeface="Arial"/>
              </a:rPr>
              <a:t>–  Topic 1: Governed Foundations for Claude and Microsoft 365 (Labs 1–3)</a:t>
            </a:r>
          </a:p>
          <a:p>
            <a:pPr>
              <a:spcAft>
                <a:spcPts val="1000"/>
              </a:spcAft>
            </a:pPr>
            <a:r>
              <a:rPr sz="1400" b="0">
                <a:solidFill>
                  <a:srgbClr val="5B6372"/>
                </a:solidFill>
                <a:latin typeface="Arial"/>
              </a:rPr>
              <a:t>–  Topic 2: Company Planning, Reporting and Policy Work (Labs 4–6)</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Afternoon · 2:10pm–6:30pm</a:t>
            </a:r>
          </a:p>
          <a:p>
            <a:pPr>
              <a:spcAft>
                <a:spcPts val="1000"/>
              </a:spcAft>
            </a:pPr>
            <a:r>
              <a:rPr sz="1400" b="0">
                <a:solidFill>
                  <a:srgbClr val="5B6372"/>
                </a:solidFill>
                <a:latin typeface="Arial"/>
              </a:rPr>
              <a:t>–  Topic 3: Financial Analysis and Executive Storytelling (Labs 7–8)</a:t>
            </a:r>
          </a:p>
          <a:p>
            <a:pPr>
              <a:spcAft>
                <a:spcPts val="1000"/>
              </a:spcAft>
            </a:pPr>
            <a:r>
              <a:rPr sz="1400" b="0">
                <a:solidFill>
                  <a:srgbClr val="5B6372"/>
                </a:solidFill>
                <a:latin typeface="Arial"/>
              </a:rPr>
              <a:t>–  Topic 4: Agentic Coordination with Outlook, Cowork and Claude Code (Labs 9–11)</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8 scheduled hours excluding lunch · 7.5 instructional hours · two tea breaks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Choose the right Claude surface</a:t>
            </a:r>
          </a:p>
          <a:p>
            <a:pPr algn="l">
              <a:spcAft>
                <a:spcPts val="300"/>
              </a:spcAft>
            </a:pPr>
            <a:r>
              <a:rPr sz="1300" b="0">
                <a:solidFill>
                  <a:srgbClr val="5B6372"/>
                </a:solidFill>
                <a:latin typeface="Arial"/>
              </a:rPr>
              <a:t>Select the right Claude and Microsoft 365 operating surface for a governed company task.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Connect governed context</a:t>
            </a:r>
          </a:p>
          <a:p>
            <a:pPr algn="l">
              <a:spcAft>
                <a:spcPts val="300"/>
              </a:spcAft>
            </a:pPr>
            <a:r>
              <a:rPr sz="1300" b="0">
                <a:solidFill>
                  <a:srgbClr val="5B6372"/>
                </a:solidFill>
                <a:latin typeface="Arial"/>
              </a:rPr>
              <a:t>Connect approved Microsoft 365 context and map permissions, sources and evidence boundaries.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Prompt with an audit trail</a:t>
            </a:r>
          </a:p>
          <a:p>
            <a:pPr algn="l">
              <a:spcAft>
                <a:spcPts val="300"/>
              </a:spcAft>
            </a:pPr>
            <a:r>
              <a:rPr sz="1300" b="0">
                <a:solidFill>
                  <a:srgbClr val="5B6372"/>
                </a:solidFill>
                <a:latin typeface="Arial"/>
              </a:rPr>
              <a:t>Direct Claude with an auditable prompt contract and a human approval gate.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Plan marketing</a:t>
            </a:r>
          </a:p>
          <a:p>
            <a:pPr algn="l">
              <a:spcAft>
                <a:spcPts val="300"/>
              </a:spcAft>
            </a:pPr>
            <a:r>
              <a:rPr sz="1300" b="0">
                <a:solidFill>
                  <a:srgbClr val="5B6372"/>
                </a:solidFill>
                <a:latin typeface="Arial"/>
              </a:rPr>
              <a:t>Produce a decision-ready marketing plan in Word from approved company evidence.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Shape strategy</a:t>
            </a:r>
          </a:p>
          <a:p>
            <a:pPr algn="l">
              <a:spcAft>
                <a:spcPts val="300"/>
              </a:spcAft>
            </a:pPr>
            <a:r>
              <a:rPr sz="1300" b="0">
                <a:solidFill>
                  <a:srgbClr val="5B6372"/>
                </a:solidFill>
                <a:latin typeface="Arial"/>
              </a:rPr>
              <a:t>Develop an aligned strategic plan with choices, initiatives, owners, measures and risks.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Draft sustainability and HR content</a:t>
            </a:r>
          </a:p>
          <a:p>
            <a:pPr algn="l">
              <a:spcAft>
                <a:spcPts val="300"/>
              </a:spcAft>
            </a:pPr>
            <a:r>
              <a:rPr sz="1300" b="0">
                <a:solidFill>
                  <a:srgbClr val="5B6372"/>
                </a:solidFill>
                <a:latin typeface="Arial"/>
              </a:rPr>
              <a:t>Draft a sustainability report section and HR policy using source, legal and management review controls.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Learning Outcomes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Analyse finance in Excel</a:t>
            </a:r>
          </a:p>
          <a:p>
            <a:pPr algn="l">
              <a:spcAft>
                <a:spcPts val="300"/>
              </a:spcAft>
            </a:pPr>
            <a:r>
              <a:rPr sz="1300" b="0">
                <a:solidFill>
                  <a:srgbClr val="5B6372"/>
                </a:solidFill>
                <a:latin typeface="Arial"/>
              </a:rPr>
              <a:t>Build a formula-driven financial analysis and executive dashboard in Excel.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Tell the story in PowerPoint</a:t>
            </a:r>
          </a:p>
          <a:p>
            <a:pPr algn="l">
              <a:spcAft>
                <a:spcPts val="300"/>
              </a:spcAft>
            </a:pPr>
            <a:r>
              <a:rPr sz="1300" b="0">
                <a:solidFill>
                  <a:srgbClr val="5B6372"/>
                </a:solidFill>
                <a:latin typeface="Arial"/>
              </a:rPr>
              <a:t>Create a highly visual strategic and marketing PowerPoint with native Excel charts and evidence traceability.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Coordinate Outlook safely</a:t>
            </a:r>
          </a:p>
          <a:p>
            <a:pPr algn="l">
              <a:spcAft>
                <a:spcPts val="300"/>
              </a:spcAft>
            </a:pPr>
            <a:r>
              <a:rPr sz="1300" b="0">
                <a:solidFill>
                  <a:srgbClr val="5B6372"/>
                </a:solidFill>
                <a:latin typeface="Arial"/>
              </a:rPr>
              <a:t>Triage Outlook messages and prepare approval-based replies without bypassing the human send gate.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Orchestrate with Claude Cowork</a:t>
            </a:r>
          </a:p>
          <a:p>
            <a:pPr algn="l">
              <a:spcAft>
                <a:spcPts val="300"/>
              </a:spcAft>
            </a:pPr>
            <a:r>
              <a:rPr sz="1300" b="0">
                <a:solidFill>
                  <a:srgbClr val="5B6372"/>
                </a:solidFill>
                <a:latin typeface="Arial"/>
              </a:rPr>
              <a:t>Use Claude Cowork with Microsoft 365 context to coordinate a multi-file planning workflow.</a:t>
            </a:r>
          </a:p>
        </p:txBody>
      </p:sp>
      <p:sp>
        <p:nvSpPr>
          <p:cNvPr id="27" name="Rectangle 26"/>
          <p:cNvSpPr/>
          <p:nvPr/>
        </p:nvSpPr>
        <p:spPr>
          <a:xfrm>
            <a:off x="3504438"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504438"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760470"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60470"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11</a:t>
            </a:r>
          </a:p>
        </p:txBody>
      </p:sp>
      <p:sp>
        <p:nvSpPr>
          <p:cNvPr id="31" name="TextBox 30"/>
          <p:cNvSpPr txBox="1"/>
          <p:nvPr/>
        </p:nvSpPr>
        <p:spPr>
          <a:xfrm>
            <a:off x="4491990"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Automate with Claude Code</a:t>
            </a:r>
          </a:p>
          <a:p>
            <a:pPr algn="l">
              <a:spcAft>
                <a:spcPts val="300"/>
              </a:spcAft>
            </a:pPr>
            <a:r>
              <a:rPr sz="1300" b="0">
                <a:solidFill>
                  <a:srgbClr val="5B6372"/>
                </a:solidFill>
                <a:latin typeface="Arial"/>
              </a:rPr>
              <a:t>Use Claude Code and approved connectors to update Excel, search Outlook and produce a daily management brief.</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The Lumina Living Management Challenge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One Company, One Connected Evidence Chain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Plan the year — translate the company's growth ambition into marketing priorities, strategic initiatives and governed policies.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Model the economics — test revenue, margin, budget and scenario assumptions in an auditable Excel workbook.</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Communicate the decision — build a company-standard executive deck using verified Word and Excel content.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Coordinate the work — triage Outlook, use Cowork for multi-file execution and use Claude Code for a repeatable daily brief.</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The FRAME Control Loop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Frame</a:t>
            </a:r>
          </a:p>
          <a:p>
            <a:pPr algn="l">
              <a:spcAft>
                <a:spcPts val="300"/>
              </a:spcAft>
            </a:pPr>
            <a:r>
              <a:rPr sz="1200" b="0">
                <a:solidFill>
                  <a:srgbClr val="5B6372"/>
                </a:solidFill>
                <a:latin typeface="Arial"/>
              </a:rPr>
              <a:t>Name the decision, audience, permitted sources and definition of done.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Retrieve</a:t>
            </a:r>
          </a:p>
          <a:p>
            <a:pPr algn="l">
              <a:spcAft>
                <a:spcPts val="300"/>
              </a:spcAft>
            </a:pPr>
            <a:r>
              <a:rPr sz="1200" b="0">
                <a:solidFill>
                  <a:srgbClr val="5B6372"/>
                </a:solidFill>
                <a:latin typeface="Arial"/>
              </a:rPr>
              <a:t>Bring only authorised files, messages and ranges into context.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Act</a:t>
            </a:r>
          </a:p>
          <a:p>
            <a:pPr algn="l">
              <a:spcAft>
                <a:spcPts val="300"/>
              </a:spcAft>
            </a:pPr>
            <a:r>
              <a:rPr sz="1200" b="0">
                <a:solidFill>
                  <a:srgbClr val="5B6372"/>
                </a:solidFill>
                <a:latin typeface="Arial"/>
              </a:rPr>
              <a:t>Ask Claude to draft or edit the smallest useful unit in the native work product.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Measure</a:t>
            </a:r>
          </a:p>
          <a:p>
            <a:pPr algn="l">
              <a:spcAft>
                <a:spcPts val="300"/>
              </a:spcAft>
            </a:pPr>
            <a:r>
              <a:rPr sz="1200" b="0">
                <a:solidFill>
                  <a:srgbClr val="5B6372"/>
                </a:solidFill>
                <a:latin typeface="Arial"/>
              </a:rPr>
              <a:t>Verify figures, claims, formulas, formatting and policy constraints.</a:t>
            </a:r>
          </a:p>
        </p:txBody>
      </p:sp>
      <p:sp>
        <p:nvSpPr>
          <p:cNvPr id="27" name="Rectangle 26"/>
          <p:cNvSpPr/>
          <p:nvPr/>
        </p:nvSpPr>
        <p:spPr>
          <a:xfrm>
            <a:off x="3504438"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504438"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760470"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60470"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4491990"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Endorse</a:t>
            </a:r>
          </a:p>
          <a:p>
            <a:pPr algn="l">
              <a:spcAft>
                <a:spcPts val="300"/>
              </a:spcAft>
            </a:pPr>
            <a:r>
              <a:rPr sz="1200" b="0">
                <a:solidFill>
                  <a:srgbClr val="5B6372"/>
                </a:solidFill>
                <a:latin typeface="Arial"/>
              </a:rPr>
              <a:t>Record assumptions and obtain the named human approval before save, send or release.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PROFESSIONAL STANDARD</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From Polished Output to Trusted 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847088"/>
            <a:ext cx="10561320" cy="713232"/>
          </a:xfrm>
          <a:prstGeom prst="rect">
            <a:avLst/>
          </a:prstGeom>
          <a:noFill/>
        </p:spPr>
        <p:txBody>
          <a:bodyPr wrap="square" anchor="ctr">
            <a:spAutoFit/>
          </a:bodyPr>
          <a:lstStyle/>
          <a:p>
            <a:pPr algn="l">
              <a:spcAft>
                <a:spcPts val="400"/>
              </a:spcAft>
            </a:pPr>
            <a:r>
              <a:rPr sz="2400" b="1">
                <a:solidFill>
                  <a:srgbClr val="161B26"/>
                </a:solidFill>
                <a:latin typeface="Arial"/>
              </a:rPr>
              <a:t>A polished output is not a trusted output until its evidence, logic and owner are visible.</a:t>
            </a:r>
          </a:p>
        </p:txBody>
      </p:sp>
      <p:sp>
        <p:nvSpPr>
          <p:cNvPr id="8" name="Rectangle 7"/>
          <p:cNvSpPr/>
          <p:nvPr/>
        </p:nvSpPr>
        <p:spPr>
          <a:xfrm>
            <a:off x="804672" y="2788920"/>
            <a:ext cx="2489454" cy="2487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04672" y="2788920"/>
            <a:ext cx="248945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38503" y="3099816"/>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8503" y="3099816"/>
            <a:ext cx="621792" cy="621792"/>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2" name="TextBox 11"/>
          <p:cNvSpPr txBox="1"/>
          <p:nvPr/>
        </p:nvSpPr>
        <p:spPr>
          <a:xfrm>
            <a:off x="969264" y="3886200"/>
            <a:ext cx="2160270" cy="329184"/>
          </a:xfrm>
          <a:prstGeom prst="rect">
            <a:avLst/>
          </a:prstGeom>
          <a:noFill/>
        </p:spPr>
        <p:txBody>
          <a:bodyPr wrap="square" anchor="t">
            <a:spAutoFit/>
          </a:bodyPr>
          <a:lstStyle/>
          <a:p>
            <a:pPr algn="ctr">
              <a:spcAft>
                <a:spcPts val="400"/>
              </a:spcAft>
            </a:pPr>
            <a:r>
              <a:rPr sz="1300" b="1">
                <a:solidFill>
                  <a:srgbClr val="1F6FEB"/>
                </a:solidFill>
                <a:latin typeface="Arial"/>
              </a:rPr>
              <a:t>EVIDENCE</a:t>
            </a:r>
          </a:p>
        </p:txBody>
      </p:sp>
      <p:sp>
        <p:nvSpPr>
          <p:cNvPr id="13" name="TextBox 12"/>
          <p:cNvSpPr txBox="1"/>
          <p:nvPr/>
        </p:nvSpPr>
        <p:spPr>
          <a:xfrm>
            <a:off x="969264" y="4270248"/>
            <a:ext cx="2160270" cy="841248"/>
          </a:xfrm>
          <a:prstGeom prst="rect">
            <a:avLst/>
          </a:prstGeom>
          <a:noFill/>
        </p:spPr>
        <p:txBody>
          <a:bodyPr wrap="square" anchor="ctr">
            <a:spAutoFit/>
          </a:bodyPr>
          <a:lstStyle/>
          <a:p>
            <a:pPr algn="ctr">
              <a:spcAft>
                <a:spcPts val="400"/>
              </a:spcAft>
            </a:pPr>
            <a:r>
              <a:rPr sz="1150" b="0">
                <a:solidFill>
                  <a:srgbClr val="161B26"/>
                </a:solidFill>
                <a:latin typeface="Arial"/>
              </a:rPr>
              <a:t>Claims trace to a file, heading, cell, range or approved message.</a:t>
            </a:r>
          </a:p>
        </p:txBody>
      </p:sp>
      <p:sp>
        <p:nvSpPr>
          <p:cNvPr id="14" name="Rectangle 13"/>
          <p:cNvSpPr/>
          <p:nvPr/>
        </p:nvSpPr>
        <p:spPr>
          <a:xfrm>
            <a:off x="3495294" y="2788920"/>
            <a:ext cx="2489454" cy="2487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95294" y="2788920"/>
            <a:ext cx="248945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29125" y="3099816"/>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29125" y="3099816"/>
            <a:ext cx="621792" cy="621792"/>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18" name="TextBox 17"/>
          <p:cNvSpPr txBox="1"/>
          <p:nvPr/>
        </p:nvSpPr>
        <p:spPr>
          <a:xfrm>
            <a:off x="3659886" y="3886200"/>
            <a:ext cx="2160270" cy="329184"/>
          </a:xfrm>
          <a:prstGeom prst="rect">
            <a:avLst/>
          </a:prstGeom>
          <a:noFill/>
        </p:spPr>
        <p:txBody>
          <a:bodyPr wrap="square" anchor="t">
            <a:spAutoFit/>
          </a:bodyPr>
          <a:lstStyle/>
          <a:p>
            <a:pPr algn="ctr">
              <a:spcAft>
                <a:spcPts val="400"/>
              </a:spcAft>
            </a:pPr>
            <a:r>
              <a:rPr sz="1300" b="1">
                <a:solidFill>
                  <a:srgbClr val="10B981"/>
                </a:solidFill>
                <a:latin typeface="Arial"/>
              </a:rPr>
              <a:t>LOGIC</a:t>
            </a:r>
          </a:p>
        </p:txBody>
      </p:sp>
      <p:sp>
        <p:nvSpPr>
          <p:cNvPr id="19" name="TextBox 18"/>
          <p:cNvSpPr txBox="1"/>
          <p:nvPr/>
        </p:nvSpPr>
        <p:spPr>
          <a:xfrm>
            <a:off x="3659886" y="4270248"/>
            <a:ext cx="2160270" cy="841248"/>
          </a:xfrm>
          <a:prstGeom prst="rect">
            <a:avLst/>
          </a:prstGeom>
          <a:noFill/>
        </p:spPr>
        <p:txBody>
          <a:bodyPr wrap="square" anchor="ctr">
            <a:spAutoFit/>
          </a:bodyPr>
          <a:lstStyle/>
          <a:p>
            <a:pPr algn="ctr">
              <a:spcAft>
                <a:spcPts val="400"/>
              </a:spcAft>
            </a:pPr>
            <a:r>
              <a:rPr sz="1150" b="0">
                <a:solidFill>
                  <a:srgbClr val="161B26"/>
                </a:solidFill>
                <a:latin typeface="Arial"/>
              </a:rPr>
              <a:t>Formulas, assumptions and recommendations remain visible and challengeable.</a:t>
            </a:r>
          </a:p>
        </p:txBody>
      </p:sp>
      <p:sp>
        <p:nvSpPr>
          <p:cNvPr id="20" name="Rectangle 19"/>
          <p:cNvSpPr/>
          <p:nvPr/>
        </p:nvSpPr>
        <p:spPr>
          <a:xfrm>
            <a:off x="6185916" y="2788920"/>
            <a:ext cx="2489454" cy="2487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5916" y="2788920"/>
            <a:ext cx="248945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19747" y="3099816"/>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19747" y="3099816"/>
            <a:ext cx="621792" cy="621792"/>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4" name="TextBox 23"/>
          <p:cNvSpPr txBox="1"/>
          <p:nvPr/>
        </p:nvSpPr>
        <p:spPr>
          <a:xfrm>
            <a:off x="6350508" y="3886200"/>
            <a:ext cx="2160270" cy="329184"/>
          </a:xfrm>
          <a:prstGeom prst="rect">
            <a:avLst/>
          </a:prstGeom>
          <a:noFill/>
        </p:spPr>
        <p:txBody>
          <a:bodyPr wrap="square" anchor="t">
            <a:spAutoFit/>
          </a:bodyPr>
          <a:lstStyle/>
          <a:p>
            <a:pPr algn="ctr">
              <a:spcAft>
                <a:spcPts val="400"/>
              </a:spcAft>
            </a:pPr>
            <a:r>
              <a:rPr sz="1300" b="1">
                <a:solidFill>
                  <a:srgbClr val="7C3AED"/>
                </a:solidFill>
                <a:latin typeface="Arial"/>
              </a:rPr>
              <a:t>OWNERSHIP</a:t>
            </a:r>
          </a:p>
        </p:txBody>
      </p:sp>
      <p:sp>
        <p:nvSpPr>
          <p:cNvPr id="25" name="TextBox 24"/>
          <p:cNvSpPr txBox="1"/>
          <p:nvPr/>
        </p:nvSpPr>
        <p:spPr>
          <a:xfrm>
            <a:off x="6350508" y="4270248"/>
            <a:ext cx="2160270" cy="841248"/>
          </a:xfrm>
          <a:prstGeom prst="rect">
            <a:avLst/>
          </a:prstGeom>
          <a:noFill/>
        </p:spPr>
        <p:txBody>
          <a:bodyPr wrap="square" anchor="ctr">
            <a:spAutoFit/>
          </a:bodyPr>
          <a:lstStyle/>
          <a:p>
            <a:pPr algn="ctr">
              <a:spcAft>
                <a:spcPts val="400"/>
              </a:spcAft>
            </a:pPr>
            <a:r>
              <a:rPr sz="1150" b="0">
                <a:solidFill>
                  <a:srgbClr val="161B26"/>
                </a:solidFill>
                <a:latin typeface="Arial"/>
              </a:rPr>
              <a:t>A named reviewer accepts the business decision and unresolved risk.</a:t>
            </a:r>
          </a:p>
        </p:txBody>
      </p:sp>
      <p:sp>
        <p:nvSpPr>
          <p:cNvPr id="26" name="Rectangle 25"/>
          <p:cNvSpPr/>
          <p:nvPr/>
        </p:nvSpPr>
        <p:spPr>
          <a:xfrm>
            <a:off x="8876538" y="2788920"/>
            <a:ext cx="2489454" cy="2487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76538" y="2788920"/>
            <a:ext cx="2489454"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810369" y="3099816"/>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10369" y="3099816"/>
            <a:ext cx="621792" cy="621792"/>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30" name="TextBox 29"/>
          <p:cNvSpPr txBox="1"/>
          <p:nvPr/>
        </p:nvSpPr>
        <p:spPr>
          <a:xfrm>
            <a:off x="9041130" y="3886200"/>
            <a:ext cx="2160270" cy="329184"/>
          </a:xfrm>
          <a:prstGeom prst="rect">
            <a:avLst/>
          </a:prstGeom>
          <a:noFill/>
        </p:spPr>
        <p:txBody>
          <a:bodyPr wrap="square" anchor="t">
            <a:spAutoFit/>
          </a:bodyPr>
          <a:lstStyle/>
          <a:p>
            <a:pPr algn="ctr">
              <a:spcAft>
                <a:spcPts val="400"/>
              </a:spcAft>
            </a:pPr>
            <a:r>
              <a:rPr sz="1300" b="1">
                <a:solidFill>
                  <a:srgbClr val="F59E0B"/>
                </a:solidFill>
                <a:latin typeface="Arial"/>
              </a:rPr>
              <a:t>HAND-OFF</a:t>
            </a:r>
          </a:p>
        </p:txBody>
      </p:sp>
      <p:sp>
        <p:nvSpPr>
          <p:cNvPr id="31" name="TextBox 30"/>
          <p:cNvSpPr txBox="1"/>
          <p:nvPr/>
        </p:nvSpPr>
        <p:spPr>
          <a:xfrm>
            <a:off x="9041130" y="4270248"/>
            <a:ext cx="2160270" cy="841248"/>
          </a:xfrm>
          <a:prstGeom prst="rect">
            <a:avLst/>
          </a:prstGeom>
          <a:noFill/>
        </p:spPr>
        <p:txBody>
          <a:bodyPr wrap="square" anchor="ctr">
            <a:spAutoFit/>
          </a:bodyPr>
          <a:lstStyle/>
          <a:p>
            <a:pPr algn="ctr">
              <a:spcAft>
                <a:spcPts val="400"/>
              </a:spcAft>
            </a:pPr>
            <a:r>
              <a:rPr sz="1150" b="0">
                <a:solidFill>
                  <a:srgbClr val="161B26"/>
                </a:solidFill>
                <a:latin typeface="Arial"/>
              </a:rPr>
              <a:t>The presentation teaches the business architecture. The Learner Guide and lab folders contain the exact prompts, commands, source files and review checks.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The Company Pack You Will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880360" cy="548640"/>
          </a:xfrm>
          <a:prstGeom prst="rect">
            <a:avLst/>
          </a:prstGeom>
          <a:noFill/>
        </p:spPr>
        <p:txBody>
          <a:bodyPr wrap="square" anchor="t">
            <a:spAutoFit/>
          </a:bodyPr>
          <a:lstStyle/>
          <a:p>
            <a:pPr algn="l">
              <a:spcAft>
                <a:spcPts val="400"/>
              </a:spcAft>
            </a:pPr>
            <a:r>
              <a:rPr sz="1900" b="1">
                <a:solidFill>
                  <a:srgbClr val="1F6FEB"/>
                </a:solidFill>
                <a:latin typeface="Arial"/>
              </a:rPr>
              <a:t>Plans and policies</a:t>
            </a:r>
          </a:p>
        </p:txBody>
      </p:sp>
      <p:sp>
        <p:nvSpPr>
          <p:cNvPr id="10" name="TextBox 9"/>
          <p:cNvSpPr txBox="1"/>
          <p:nvPr/>
        </p:nvSpPr>
        <p:spPr>
          <a:xfrm>
            <a:off x="1005840" y="2697480"/>
            <a:ext cx="2880360" cy="3108960"/>
          </a:xfrm>
          <a:prstGeom prst="rect">
            <a:avLst/>
          </a:prstGeom>
          <a:noFill/>
        </p:spPr>
        <p:txBody>
          <a:bodyPr wrap="square">
            <a:spAutoFit/>
          </a:bodyPr>
          <a:lstStyle/>
          <a:p>
            <a:pPr>
              <a:spcAft>
                <a:spcPts val="900"/>
              </a:spcAft>
            </a:pPr>
            <a:r>
              <a:rPr sz="1400" b="0">
                <a:solidFill>
                  <a:srgbClr val="161B26"/>
                </a:solidFill>
                <a:latin typeface="Arial"/>
              </a:rPr>
              <a:t>•  Marketing plan</a:t>
            </a:r>
          </a:p>
          <a:p>
            <a:pPr>
              <a:spcAft>
                <a:spcPts val="900"/>
              </a:spcAft>
            </a:pPr>
            <a:r>
              <a:rPr sz="1400" b="0">
                <a:solidFill>
                  <a:srgbClr val="161B26"/>
                </a:solidFill>
                <a:latin typeface="Arial"/>
              </a:rPr>
              <a:t>•  Strategic plan</a:t>
            </a:r>
          </a:p>
          <a:p>
            <a:pPr>
              <a:spcAft>
                <a:spcPts val="900"/>
              </a:spcAft>
            </a:pPr>
            <a:r>
              <a:rPr sz="1400" b="0">
                <a:solidFill>
                  <a:srgbClr val="161B26"/>
                </a:solidFill>
                <a:latin typeface="Arial"/>
              </a:rPr>
              <a:t>•  Sustainability and HR drafts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880360" cy="548640"/>
          </a:xfrm>
          <a:prstGeom prst="rect">
            <a:avLst/>
          </a:prstGeom>
          <a:noFill/>
        </p:spPr>
        <p:txBody>
          <a:bodyPr wrap="square" anchor="t">
            <a:spAutoFit/>
          </a:bodyPr>
          <a:lstStyle/>
          <a:p>
            <a:pPr algn="l">
              <a:spcAft>
                <a:spcPts val="400"/>
              </a:spcAft>
            </a:pPr>
            <a:r>
              <a:rPr sz="1900" b="1">
                <a:solidFill>
                  <a:srgbClr val="10B981"/>
                </a:solidFill>
                <a:latin typeface="Arial"/>
              </a:rPr>
              <a:t>Analysis and story</a:t>
            </a:r>
          </a:p>
        </p:txBody>
      </p:sp>
      <p:sp>
        <p:nvSpPr>
          <p:cNvPr id="14" name="TextBox 13"/>
          <p:cNvSpPr txBox="1"/>
          <p:nvPr/>
        </p:nvSpPr>
        <p:spPr>
          <a:xfrm>
            <a:off x="4800600" y="2697480"/>
            <a:ext cx="2880360" cy="3108960"/>
          </a:xfrm>
          <a:prstGeom prst="rect">
            <a:avLst/>
          </a:prstGeom>
          <a:noFill/>
        </p:spPr>
        <p:txBody>
          <a:bodyPr wrap="square">
            <a:spAutoFit/>
          </a:bodyPr>
          <a:lstStyle/>
          <a:p>
            <a:pPr>
              <a:spcAft>
                <a:spcPts val="900"/>
              </a:spcAft>
            </a:pPr>
            <a:r>
              <a:rPr sz="1400" b="0">
                <a:solidFill>
                  <a:srgbClr val="161B26"/>
                </a:solidFill>
                <a:latin typeface="Arial"/>
              </a:rPr>
              <a:t>•  Financial model</a:t>
            </a:r>
          </a:p>
          <a:p>
            <a:pPr>
              <a:spcAft>
                <a:spcPts val="900"/>
              </a:spcAft>
            </a:pPr>
            <a:r>
              <a:rPr sz="1400" b="0">
                <a:solidFill>
                  <a:srgbClr val="161B26"/>
                </a:solidFill>
                <a:latin typeface="Arial"/>
              </a:rPr>
              <a:t>•  Executive dashboard</a:t>
            </a:r>
          </a:p>
          <a:p>
            <a:pPr>
              <a:spcAft>
                <a:spcPts val="900"/>
              </a:spcAft>
            </a:pPr>
            <a:r>
              <a:rPr sz="1400" b="0">
                <a:solidFill>
                  <a:srgbClr val="161B26"/>
                </a:solidFill>
                <a:latin typeface="Arial"/>
              </a:rPr>
              <a:t>•  Strategic and marketing deck</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880360" cy="548640"/>
          </a:xfrm>
          <a:prstGeom prst="rect">
            <a:avLst/>
          </a:prstGeom>
          <a:noFill/>
        </p:spPr>
        <p:txBody>
          <a:bodyPr wrap="square" anchor="t">
            <a:spAutoFit/>
          </a:bodyPr>
          <a:lstStyle/>
          <a:p>
            <a:pPr algn="l">
              <a:spcAft>
                <a:spcPts val="400"/>
              </a:spcAft>
            </a:pPr>
            <a:r>
              <a:rPr sz="1900" b="1">
                <a:solidFill>
                  <a:srgbClr val="7C3AED"/>
                </a:solidFill>
                <a:latin typeface="Arial"/>
              </a:rPr>
              <a:t>Agentic coordination</a:t>
            </a:r>
          </a:p>
        </p:txBody>
      </p:sp>
      <p:sp>
        <p:nvSpPr>
          <p:cNvPr id="18" name="TextBox 17"/>
          <p:cNvSpPr txBox="1"/>
          <p:nvPr/>
        </p:nvSpPr>
        <p:spPr>
          <a:xfrm>
            <a:off x="8595360" y="2697480"/>
            <a:ext cx="2880360" cy="3108960"/>
          </a:xfrm>
          <a:prstGeom prst="rect">
            <a:avLst/>
          </a:prstGeom>
          <a:noFill/>
        </p:spPr>
        <p:txBody>
          <a:bodyPr wrap="square">
            <a:spAutoFit/>
          </a:bodyPr>
          <a:lstStyle/>
          <a:p>
            <a:pPr>
              <a:spcAft>
                <a:spcPts val="900"/>
              </a:spcAft>
            </a:pPr>
            <a:r>
              <a:rPr sz="1400" b="0">
                <a:solidFill>
                  <a:srgbClr val="161B26"/>
                </a:solidFill>
                <a:latin typeface="Arial"/>
              </a:rPr>
              <a:t>•  Outlook draft workflow</a:t>
            </a:r>
          </a:p>
          <a:p>
            <a:pPr>
              <a:spcAft>
                <a:spcPts val="900"/>
              </a:spcAft>
            </a:pPr>
            <a:r>
              <a:rPr sz="1400" b="0">
                <a:solidFill>
                  <a:srgbClr val="161B26"/>
                </a:solidFill>
                <a:latin typeface="Arial"/>
              </a:rPr>
              <a:t>•  Cowork project</a:t>
            </a:r>
          </a:p>
          <a:p>
            <a:pPr>
              <a:spcAft>
                <a:spcPts val="900"/>
              </a:spcAft>
            </a:pPr>
            <a:r>
              <a:rPr sz="1400" b="0">
                <a:solidFill>
                  <a:srgbClr val="161B26"/>
                </a:solidFill>
                <a:latin typeface="Arial"/>
              </a:rPr>
              <a:t>•  Claude Code daily brief</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How Every Activity Connects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Open the lab folder and inspect its realistic Word, Excel and PowerPoint company artifacts.</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Use the named evidence and prompt contract to create or improve a work product.</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Challenge the result against formulas, sources, policy boundaries and company templates.</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Record the approval, retain the verified artifact and pass only approved context to the next activity.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7C3AED"/>
                </a:solidFill>
                <a:latin typeface="Arial"/>
              </a:rPr>
              <a:t>PROMPTING FOR OFFICE WORK</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Prompts That Produce Reviewable Work</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Word · Excel · PowerPoint · evidence · constraints · approval</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BUSINESS RESULT TO APPROVAL GATE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The Five-Part Prompt Contract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Name the business result</a:t>
            </a:r>
          </a:p>
          <a:p>
            <a:pPr algn="l">
              <a:spcAft>
                <a:spcPts val="300"/>
              </a:spcAft>
            </a:pPr>
            <a:r>
              <a:rPr sz="1200" b="0">
                <a:solidFill>
                  <a:srgbClr val="5B6372"/>
                </a:solidFill>
                <a:latin typeface="Arial"/>
              </a:rPr>
              <a:t>State the decision, audience and artifact—not merely the app you are using.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Ground the work</a:t>
            </a:r>
          </a:p>
          <a:p>
            <a:pPr algn="l">
              <a:spcAft>
                <a:spcPts val="300"/>
              </a:spcAft>
            </a:pPr>
            <a:r>
              <a:rPr sz="1200" b="0">
                <a:solidFill>
                  <a:srgbClr val="5B6372"/>
                </a:solidFill>
                <a:latin typeface="Arial"/>
              </a:rPr>
              <a:t>Name the open file, table, sheet, section or approved message set Claude may use.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Constrain the edit</a:t>
            </a:r>
          </a:p>
          <a:p>
            <a:pPr algn="l">
              <a:spcAft>
                <a:spcPts val="300"/>
              </a:spcAft>
            </a:pPr>
            <a:r>
              <a:rPr sz="1200" b="0">
                <a:solidFill>
                  <a:srgbClr val="5B6372"/>
                </a:solidFill>
                <a:latin typeface="Arial"/>
              </a:rPr>
              <a:t>Define scope, length, style, formula method, layout and anything Claude must not change.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Demand evidence</a:t>
            </a:r>
          </a:p>
          <a:p>
            <a:pPr algn="l">
              <a:spcAft>
                <a:spcPts val="300"/>
              </a:spcAft>
            </a:pPr>
            <a:r>
              <a:rPr sz="1200" b="0">
                <a:solidFill>
                  <a:srgbClr val="5B6372"/>
                </a:solidFill>
                <a:latin typeface="Arial"/>
              </a:rPr>
              <a:t>Require cell, range, heading or email citations and ask Claude to flag missing information.</a:t>
            </a:r>
          </a:p>
        </p:txBody>
      </p:sp>
      <p:sp>
        <p:nvSpPr>
          <p:cNvPr id="27" name="Rectangle 26"/>
          <p:cNvSpPr/>
          <p:nvPr/>
        </p:nvSpPr>
        <p:spPr>
          <a:xfrm>
            <a:off x="3504438"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504438"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760470"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60470"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4491990"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Set the approval gate</a:t>
            </a:r>
          </a:p>
          <a:p>
            <a:pPr algn="l">
              <a:spcAft>
                <a:spcPts val="300"/>
              </a:spcAft>
            </a:pPr>
            <a:r>
              <a:rPr sz="1200" b="0">
                <a:solidFill>
                  <a:srgbClr val="5B6372"/>
                </a:solidFill>
                <a:latin typeface="Arial"/>
              </a:rPr>
              <a:t>Ask for proposed changes first; verify them before accepting, saving, sending or publishing.</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GOOD PROMPT EXAMPLE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1700" b="1">
                <a:solidFill>
                  <a:srgbClr val="161B26"/>
                </a:solidFill>
                <a:latin typeface="Arial"/>
              </a:rPr>
              <a:t>Word Prompt — Draft a decision-ready strategy section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47088"/>
            <a:ext cx="10652760" cy="76809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4708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02082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020824"/>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1" name="TextBox 10"/>
          <p:cNvSpPr txBox="1"/>
          <p:nvPr/>
        </p:nvSpPr>
        <p:spPr>
          <a:xfrm>
            <a:off x="1600200" y="1938528"/>
            <a:ext cx="2103120" cy="585216"/>
          </a:xfrm>
          <a:prstGeom prst="rect">
            <a:avLst/>
          </a:prstGeom>
          <a:noFill/>
        </p:spPr>
        <p:txBody>
          <a:bodyPr wrap="square" anchor="ctr">
            <a:spAutoFit/>
          </a:bodyPr>
          <a:lstStyle/>
          <a:p>
            <a:pPr algn="l">
              <a:spcAft>
                <a:spcPts val="400"/>
              </a:spcAft>
            </a:pPr>
            <a:r>
              <a:rPr sz="1200" b="1">
                <a:solidFill>
                  <a:srgbClr val="1F6FEB"/>
                </a:solidFill>
                <a:latin typeface="Arial"/>
              </a:rPr>
              <a:t>Name the business result</a:t>
            </a:r>
          </a:p>
        </p:txBody>
      </p:sp>
      <p:sp>
        <p:nvSpPr>
          <p:cNvPr id="12" name="TextBox 11"/>
          <p:cNvSpPr txBox="1"/>
          <p:nvPr/>
        </p:nvSpPr>
        <p:spPr>
          <a:xfrm>
            <a:off x="3657600" y="1920240"/>
            <a:ext cx="7452360" cy="621792"/>
          </a:xfrm>
          <a:prstGeom prst="rect">
            <a:avLst/>
          </a:prstGeom>
          <a:noFill/>
        </p:spPr>
        <p:txBody>
          <a:bodyPr wrap="square" anchor="ctr">
            <a:spAutoFit/>
          </a:bodyPr>
          <a:lstStyle/>
          <a:p>
            <a:pPr algn="l">
              <a:spcAft>
                <a:spcPts val="400"/>
              </a:spcAft>
            </a:pPr>
            <a:r>
              <a:rPr sz="1250" b="0">
                <a:solidFill>
                  <a:srgbClr val="161B26"/>
                </a:solidFill>
                <a:latin typeface="Arial"/>
              </a:rPr>
              <a:t>Using the open FY2027 strategy brief, draft only the 'Strategic choices' section for the Executive Committee.</a:t>
            </a:r>
          </a:p>
        </p:txBody>
      </p:sp>
      <p:sp>
        <p:nvSpPr>
          <p:cNvPr id="13" name="Rectangle 12"/>
          <p:cNvSpPr/>
          <p:nvPr/>
        </p:nvSpPr>
        <p:spPr>
          <a:xfrm>
            <a:off x="777240" y="2706624"/>
            <a:ext cx="10652760" cy="76809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2706624"/>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28803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2880360"/>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7" name="TextBox 16"/>
          <p:cNvSpPr txBox="1"/>
          <p:nvPr/>
        </p:nvSpPr>
        <p:spPr>
          <a:xfrm>
            <a:off x="1600200" y="2798064"/>
            <a:ext cx="2103120" cy="585216"/>
          </a:xfrm>
          <a:prstGeom prst="rect">
            <a:avLst/>
          </a:prstGeom>
          <a:noFill/>
        </p:spPr>
        <p:txBody>
          <a:bodyPr wrap="square" anchor="ctr">
            <a:spAutoFit/>
          </a:bodyPr>
          <a:lstStyle/>
          <a:p>
            <a:pPr algn="l">
              <a:spcAft>
                <a:spcPts val="400"/>
              </a:spcAft>
            </a:pPr>
            <a:r>
              <a:rPr sz="1200" b="1">
                <a:solidFill>
                  <a:srgbClr val="10B981"/>
                </a:solidFill>
                <a:latin typeface="Arial"/>
              </a:rPr>
              <a:t>Ground the work</a:t>
            </a:r>
          </a:p>
        </p:txBody>
      </p:sp>
      <p:sp>
        <p:nvSpPr>
          <p:cNvPr id="18" name="TextBox 17"/>
          <p:cNvSpPr txBox="1"/>
          <p:nvPr/>
        </p:nvSpPr>
        <p:spPr>
          <a:xfrm>
            <a:off x="3657600" y="2779776"/>
            <a:ext cx="7452360" cy="621792"/>
          </a:xfrm>
          <a:prstGeom prst="rect">
            <a:avLst/>
          </a:prstGeom>
          <a:noFill/>
        </p:spPr>
        <p:txBody>
          <a:bodyPr wrap="square" anchor="ctr">
            <a:spAutoFit/>
          </a:bodyPr>
          <a:lstStyle/>
          <a:p>
            <a:pPr algn="l">
              <a:spcAft>
                <a:spcPts val="400"/>
              </a:spcAft>
            </a:pPr>
            <a:r>
              <a:rPr sz="1250" b="0">
                <a:solidFill>
                  <a:srgbClr val="161B26"/>
                </a:solidFill>
                <a:latin typeface="Arial"/>
              </a:rPr>
              <a:t>Preserve the existing Heading 1/2 styles.</a:t>
            </a:r>
          </a:p>
        </p:txBody>
      </p:sp>
      <p:sp>
        <p:nvSpPr>
          <p:cNvPr id="19" name="Rectangle 18"/>
          <p:cNvSpPr/>
          <p:nvPr/>
        </p:nvSpPr>
        <p:spPr>
          <a:xfrm>
            <a:off x="777240" y="3566160"/>
            <a:ext cx="10652760" cy="76809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566160"/>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05840" y="3739896"/>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3739896"/>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3" name="TextBox 22"/>
          <p:cNvSpPr txBox="1"/>
          <p:nvPr/>
        </p:nvSpPr>
        <p:spPr>
          <a:xfrm>
            <a:off x="1600200" y="3657600"/>
            <a:ext cx="2103120" cy="585216"/>
          </a:xfrm>
          <a:prstGeom prst="rect">
            <a:avLst/>
          </a:prstGeom>
          <a:noFill/>
        </p:spPr>
        <p:txBody>
          <a:bodyPr wrap="square" anchor="ctr">
            <a:spAutoFit/>
          </a:bodyPr>
          <a:lstStyle/>
          <a:p>
            <a:pPr algn="l">
              <a:spcAft>
                <a:spcPts val="400"/>
              </a:spcAft>
            </a:pPr>
            <a:r>
              <a:rPr sz="1200" b="1">
                <a:solidFill>
                  <a:srgbClr val="7C3AED"/>
                </a:solidFill>
                <a:latin typeface="Arial"/>
              </a:rPr>
              <a:t>Constrain the edit</a:t>
            </a:r>
          </a:p>
        </p:txBody>
      </p:sp>
      <p:sp>
        <p:nvSpPr>
          <p:cNvPr id="24" name="TextBox 23"/>
          <p:cNvSpPr txBox="1"/>
          <p:nvPr/>
        </p:nvSpPr>
        <p:spPr>
          <a:xfrm>
            <a:off x="3657600" y="3639312"/>
            <a:ext cx="7452360" cy="621792"/>
          </a:xfrm>
          <a:prstGeom prst="rect">
            <a:avLst/>
          </a:prstGeom>
          <a:noFill/>
        </p:spPr>
        <p:txBody>
          <a:bodyPr wrap="square" anchor="ctr">
            <a:spAutoFit/>
          </a:bodyPr>
          <a:lstStyle/>
          <a:p>
            <a:pPr algn="l">
              <a:spcAft>
                <a:spcPts val="400"/>
              </a:spcAft>
            </a:pPr>
            <a:r>
              <a:rPr sz="1250" b="0">
                <a:solidFill>
                  <a:srgbClr val="161B26"/>
                </a:solidFill>
                <a:latin typeface="Arial"/>
              </a:rPr>
              <a:t>For each choice include rationale, owner, measure and Q1 milestone.</a:t>
            </a:r>
          </a:p>
        </p:txBody>
      </p:sp>
      <p:sp>
        <p:nvSpPr>
          <p:cNvPr id="25" name="Rectangle 24"/>
          <p:cNvSpPr/>
          <p:nvPr/>
        </p:nvSpPr>
        <p:spPr>
          <a:xfrm>
            <a:off x="777240" y="4425696"/>
            <a:ext cx="10652760" cy="76809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425696"/>
            <a:ext cx="82296" cy="7680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05840" y="4599432"/>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4599432"/>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29" name="TextBox 28"/>
          <p:cNvSpPr txBox="1"/>
          <p:nvPr/>
        </p:nvSpPr>
        <p:spPr>
          <a:xfrm>
            <a:off x="1600200" y="4517136"/>
            <a:ext cx="2103120" cy="585216"/>
          </a:xfrm>
          <a:prstGeom prst="rect">
            <a:avLst/>
          </a:prstGeom>
          <a:noFill/>
        </p:spPr>
        <p:txBody>
          <a:bodyPr wrap="square" anchor="ctr">
            <a:spAutoFit/>
          </a:bodyPr>
          <a:lstStyle/>
          <a:p>
            <a:pPr algn="l">
              <a:spcAft>
                <a:spcPts val="400"/>
              </a:spcAft>
            </a:pPr>
            <a:r>
              <a:rPr sz="1200" b="1">
                <a:solidFill>
                  <a:srgbClr val="F59E0B"/>
                </a:solidFill>
                <a:latin typeface="Arial"/>
              </a:rPr>
              <a:t>Demand evidence</a:t>
            </a:r>
          </a:p>
        </p:txBody>
      </p:sp>
      <p:sp>
        <p:nvSpPr>
          <p:cNvPr id="30" name="TextBox 29"/>
          <p:cNvSpPr txBox="1"/>
          <p:nvPr/>
        </p:nvSpPr>
        <p:spPr>
          <a:xfrm>
            <a:off x="3657600" y="4498848"/>
            <a:ext cx="7452360" cy="621792"/>
          </a:xfrm>
          <a:prstGeom prst="rect">
            <a:avLst/>
          </a:prstGeom>
          <a:noFill/>
        </p:spPr>
        <p:txBody>
          <a:bodyPr wrap="square" anchor="ctr">
            <a:spAutoFit/>
          </a:bodyPr>
          <a:lstStyle/>
          <a:p>
            <a:pPr algn="l">
              <a:spcAft>
                <a:spcPts val="400"/>
              </a:spcAft>
            </a:pPr>
            <a:r>
              <a:rPr sz="1250" b="0">
                <a:solidFill>
                  <a:srgbClr val="161B26"/>
                </a:solidFill>
                <a:latin typeface="Arial"/>
              </a:rPr>
              <a:t>Use only facts stated in the brief; cite the source heading and flag missing evidence.</a:t>
            </a:r>
          </a:p>
        </p:txBody>
      </p:sp>
      <p:sp>
        <p:nvSpPr>
          <p:cNvPr id="31" name="Rectangle 30"/>
          <p:cNvSpPr/>
          <p:nvPr/>
        </p:nvSpPr>
        <p:spPr>
          <a:xfrm>
            <a:off x="777240" y="5285232"/>
            <a:ext cx="10652760" cy="76809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85232"/>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5840" y="5458968"/>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5840" y="5458968"/>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35" name="TextBox 34"/>
          <p:cNvSpPr txBox="1"/>
          <p:nvPr/>
        </p:nvSpPr>
        <p:spPr>
          <a:xfrm>
            <a:off x="1600200" y="5376672"/>
            <a:ext cx="2103120" cy="585216"/>
          </a:xfrm>
          <a:prstGeom prst="rect">
            <a:avLst/>
          </a:prstGeom>
          <a:noFill/>
        </p:spPr>
        <p:txBody>
          <a:bodyPr wrap="square" anchor="ctr">
            <a:spAutoFit/>
          </a:bodyPr>
          <a:lstStyle/>
          <a:p>
            <a:pPr algn="l">
              <a:spcAft>
                <a:spcPts val="400"/>
              </a:spcAft>
            </a:pPr>
            <a:r>
              <a:rPr sz="1200" b="1">
                <a:solidFill>
                  <a:srgbClr val="1F6FEB"/>
                </a:solidFill>
                <a:latin typeface="Arial"/>
              </a:rPr>
              <a:t>Set the approval gate</a:t>
            </a:r>
          </a:p>
        </p:txBody>
      </p:sp>
      <p:sp>
        <p:nvSpPr>
          <p:cNvPr id="36" name="TextBox 35"/>
          <p:cNvSpPr txBox="1"/>
          <p:nvPr/>
        </p:nvSpPr>
        <p:spPr>
          <a:xfrm>
            <a:off x="3657600" y="5358384"/>
            <a:ext cx="7452360" cy="621792"/>
          </a:xfrm>
          <a:prstGeom prst="rect">
            <a:avLst/>
          </a:prstGeom>
          <a:noFill/>
        </p:spPr>
        <p:txBody>
          <a:bodyPr wrap="square" anchor="ctr">
            <a:spAutoFit/>
          </a:bodyPr>
          <a:lstStyle/>
          <a:p>
            <a:pPr algn="l">
              <a:spcAft>
                <a:spcPts val="400"/>
              </a:spcAft>
            </a:pPr>
            <a:r>
              <a:rPr sz="1250" b="0">
                <a:solidFill>
                  <a:srgbClr val="161B26"/>
                </a:solidFill>
                <a:latin typeface="Arial"/>
              </a:rPr>
              <a:t>Show proposed text before editing the document.</a:t>
            </a:r>
          </a:p>
        </p:txBody>
      </p:sp>
      <p:sp>
        <p:nvSpPr>
          <p:cNvPr id="37" name="TextBox 36"/>
          <p:cNvSpPr txBox="1"/>
          <p:nvPr/>
        </p:nvSpPr>
        <p:spPr>
          <a:xfrm>
            <a:off x="777240" y="6144768"/>
            <a:ext cx="10652760" cy="237744"/>
          </a:xfrm>
          <a:prstGeom prst="rect">
            <a:avLst/>
          </a:prstGeom>
          <a:noFill/>
        </p:spPr>
        <p:txBody>
          <a:bodyPr wrap="square" anchor="t">
            <a:spAutoFit/>
          </a:bodyPr>
          <a:lstStyle/>
          <a:p>
            <a:pPr algn="ctr">
              <a:spcAft>
                <a:spcPts val="400"/>
              </a:spcAft>
            </a:pPr>
            <a:r>
              <a:rPr sz="1000" b="0">
                <a:solidFill>
                  <a:srgbClr val="5B6372"/>
                </a:solidFill>
                <a:latin typeface="Arial"/>
              </a:rPr>
              <a:t>Copy the complete Word prompt from the Learner Guide or matching lab folder; verify every source and proposed edit.</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GOOD PROMPT EXAMPLE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Excel Prompt — Build an auditable financial view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47088"/>
            <a:ext cx="10652760" cy="76809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4708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02082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020824"/>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1" name="TextBox 10"/>
          <p:cNvSpPr txBox="1"/>
          <p:nvPr/>
        </p:nvSpPr>
        <p:spPr>
          <a:xfrm>
            <a:off x="1600200" y="1938528"/>
            <a:ext cx="2103120" cy="585216"/>
          </a:xfrm>
          <a:prstGeom prst="rect">
            <a:avLst/>
          </a:prstGeom>
          <a:noFill/>
        </p:spPr>
        <p:txBody>
          <a:bodyPr wrap="square" anchor="ctr">
            <a:spAutoFit/>
          </a:bodyPr>
          <a:lstStyle/>
          <a:p>
            <a:pPr algn="l">
              <a:spcAft>
                <a:spcPts val="400"/>
              </a:spcAft>
            </a:pPr>
            <a:r>
              <a:rPr sz="1200" b="1">
                <a:solidFill>
                  <a:srgbClr val="1F6FEB"/>
                </a:solidFill>
                <a:latin typeface="Arial"/>
              </a:rPr>
              <a:t>Name the business result</a:t>
            </a:r>
          </a:p>
        </p:txBody>
      </p:sp>
      <p:sp>
        <p:nvSpPr>
          <p:cNvPr id="12" name="TextBox 11"/>
          <p:cNvSpPr txBox="1"/>
          <p:nvPr/>
        </p:nvSpPr>
        <p:spPr>
          <a:xfrm>
            <a:off x="3657600" y="1920240"/>
            <a:ext cx="7452360" cy="621792"/>
          </a:xfrm>
          <a:prstGeom prst="rect">
            <a:avLst/>
          </a:prstGeom>
          <a:noFill/>
        </p:spPr>
        <p:txBody>
          <a:bodyPr wrap="square" anchor="ctr">
            <a:spAutoFit/>
          </a:bodyPr>
          <a:lstStyle/>
          <a:p>
            <a:pPr algn="l">
              <a:spcAft>
                <a:spcPts val="400"/>
              </a:spcAft>
            </a:pPr>
            <a:r>
              <a:rPr sz="1250" b="0">
                <a:solidFill>
                  <a:srgbClr val="161B26"/>
                </a:solidFill>
                <a:latin typeface="Arial"/>
              </a:rPr>
              <a:t>Using tblFinance in the open workbook, build a formula-driven Actual vs Budget analysis by month and channel.</a:t>
            </a:r>
          </a:p>
        </p:txBody>
      </p:sp>
      <p:sp>
        <p:nvSpPr>
          <p:cNvPr id="13" name="Rectangle 12"/>
          <p:cNvSpPr/>
          <p:nvPr/>
        </p:nvSpPr>
        <p:spPr>
          <a:xfrm>
            <a:off x="777240" y="2706624"/>
            <a:ext cx="10652760" cy="76809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2706624"/>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28803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2880360"/>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7" name="TextBox 16"/>
          <p:cNvSpPr txBox="1"/>
          <p:nvPr/>
        </p:nvSpPr>
        <p:spPr>
          <a:xfrm>
            <a:off x="1600200" y="2798064"/>
            <a:ext cx="2103120" cy="585216"/>
          </a:xfrm>
          <a:prstGeom prst="rect">
            <a:avLst/>
          </a:prstGeom>
          <a:noFill/>
        </p:spPr>
        <p:txBody>
          <a:bodyPr wrap="square" anchor="ctr">
            <a:spAutoFit/>
          </a:bodyPr>
          <a:lstStyle/>
          <a:p>
            <a:pPr algn="l">
              <a:spcAft>
                <a:spcPts val="400"/>
              </a:spcAft>
            </a:pPr>
            <a:r>
              <a:rPr sz="1200" b="1">
                <a:solidFill>
                  <a:srgbClr val="10B981"/>
                </a:solidFill>
                <a:latin typeface="Arial"/>
              </a:rPr>
              <a:t>Ground the work</a:t>
            </a:r>
          </a:p>
        </p:txBody>
      </p:sp>
      <p:sp>
        <p:nvSpPr>
          <p:cNvPr id="18" name="TextBox 17"/>
          <p:cNvSpPr txBox="1"/>
          <p:nvPr/>
        </p:nvSpPr>
        <p:spPr>
          <a:xfrm>
            <a:off x="3657600" y="2779776"/>
            <a:ext cx="7452360" cy="621792"/>
          </a:xfrm>
          <a:prstGeom prst="rect">
            <a:avLst/>
          </a:prstGeom>
          <a:noFill/>
        </p:spPr>
        <p:txBody>
          <a:bodyPr wrap="square" anchor="ctr">
            <a:spAutoFit/>
          </a:bodyPr>
          <a:lstStyle/>
          <a:p>
            <a:pPr algn="l">
              <a:spcAft>
                <a:spcPts val="400"/>
              </a:spcAft>
            </a:pPr>
            <a:r>
              <a:rPr sz="1250" b="0">
                <a:solidFill>
                  <a:srgbClr val="161B26"/>
                </a:solidFill>
                <a:latin typeface="Arial"/>
              </a:rPr>
              <a:t>Include Revenue, Gross Profit, Gross Margin and Operating Contribution.</a:t>
            </a:r>
          </a:p>
        </p:txBody>
      </p:sp>
      <p:sp>
        <p:nvSpPr>
          <p:cNvPr id="19" name="Rectangle 18"/>
          <p:cNvSpPr/>
          <p:nvPr/>
        </p:nvSpPr>
        <p:spPr>
          <a:xfrm>
            <a:off x="777240" y="3566160"/>
            <a:ext cx="10652760" cy="76809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566160"/>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05840" y="3739896"/>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3739896"/>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3" name="TextBox 22"/>
          <p:cNvSpPr txBox="1"/>
          <p:nvPr/>
        </p:nvSpPr>
        <p:spPr>
          <a:xfrm>
            <a:off x="1600200" y="3657600"/>
            <a:ext cx="2103120" cy="585216"/>
          </a:xfrm>
          <a:prstGeom prst="rect">
            <a:avLst/>
          </a:prstGeom>
          <a:noFill/>
        </p:spPr>
        <p:txBody>
          <a:bodyPr wrap="square" anchor="ctr">
            <a:spAutoFit/>
          </a:bodyPr>
          <a:lstStyle/>
          <a:p>
            <a:pPr algn="l">
              <a:spcAft>
                <a:spcPts val="400"/>
              </a:spcAft>
            </a:pPr>
            <a:r>
              <a:rPr sz="1200" b="1">
                <a:solidFill>
                  <a:srgbClr val="7C3AED"/>
                </a:solidFill>
                <a:latin typeface="Arial"/>
              </a:rPr>
              <a:t>Constrain the edit</a:t>
            </a:r>
          </a:p>
        </p:txBody>
      </p:sp>
      <p:sp>
        <p:nvSpPr>
          <p:cNvPr id="24" name="TextBox 23"/>
          <p:cNvSpPr txBox="1"/>
          <p:nvPr/>
        </p:nvSpPr>
        <p:spPr>
          <a:xfrm>
            <a:off x="3657600" y="3639312"/>
            <a:ext cx="7452360" cy="621792"/>
          </a:xfrm>
          <a:prstGeom prst="rect">
            <a:avLst/>
          </a:prstGeom>
          <a:noFill/>
        </p:spPr>
        <p:txBody>
          <a:bodyPr wrap="square" anchor="ctr">
            <a:spAutoFit/>
          </a:bodyPr>
          <a:lstStyle/>
          <a:p>
            <a:pPr algn="l">
              <a:spcAft>
                <a:spcPts val="400"/>
              </a:spcAft>
            </a:pPr>
            <a:r>
              <a:rPr sz="1250" b="0">
                <a:solidFill>
                  <a:srgbClr val="161B26"/>
                </a:solidFill>
                <a:latin typeface="Arial"/>
              </a:rPr>
              <a:t>Use native formulas or pivots, cite source ranges, keep assumptions on the Assumptions sheet, and do not paste hardcoded totals.</a:t>
            </a:r>
          </a:p>
        </p:txBody>
      </p:sp>
      <p:sp>
        <p:nvSpPr>
          <p:cNvPr id="25" name="Rectangle 24"/>
          <p:cNvSpPr/>
          <p:nvPr/>
        </p:nvSpPr>
        <p:spPr>
          <a:xfrm>
            <a:off x="777240" y="4425696"/>
            <a:ext cx="10652760" cy="76809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425696"/>
            <a:ext cx="82296" cy="7680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05840" y="4599432"/>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4599432"/>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29" name="TextBox 28"/>
          <p:cNvSpPr txBox="1"/>
          <p:nvPr/>
        </p:nvSpPr>
        <p:spPr>
          <a:xfrm>
            <a:off x="1600200" y="4517136"/>
            <a:ext cx="2103120" cy="585216"/>
          </a:xfrm>
          <a:prstGeom prst="rect">
            <a:avLst/>
          </a:prstGeom>
          <a:noFill/>
        </p:spPr>
        <p:txBody>
          <a:bodyPr wrap="square" anchor="ctr">
            <a:spAutoFit/>
          </a:bodyPr>
          <a:lstStyle/>
          <a:p>
            <a:pPr algn="l">
              <a:spcAft>
                <a:spcPts val="400"/>
              </a:spcAft>
            </a:pPr>
            <a:r>
              <a:rPr sz="1200" b="1">
                <a:solidFill>
                  <a:srgbClr val="F59E0B"/>
                </a:solidFill>
                <a:latin typeface="Arial"/>
              </a:rPr>
              <a:t>Demand evidence</a:t>
            </a:r>
          </a:p>
        </p:txBody>
      </p:sp>
      <p:sp>
        <p:nvSpPr>
          <p:cNvPr id="30" name="TextBox 29"/>
          <p:cNvSpPr txBox="1"/>
          <p:nvPr/>
        </p:nvSpPr>
        <p:spPr>
          <a:xfrm>
            <a:off x="3657600" y="4498848"/>
            <a:ext cx="7452360" cy="621792"/>
          </a:xfrm>
          <a:prstGeom prst="rect">
            <a:avLst/>
          </a:prstGeom>
          <a:noFill/>
        </p:spPr>
        <p:txBody>
          <a:bodyPr wrap="square" anchor="ctr">
            <a:spAutoFit/>
          </a:bodyPr>
          <a:lstStyle/>
          <a:p>
            <a:pPr algn="l">
              <a:spcAft>
                <a:spcPts val="400"/>
              </a:spcAft>
            </a:pPr>
            <a:r>
              <a:rPr sz="1250" b="0">
                <a:solidFill>
                  <a:srgbClr val="161B26"/>
                </a:solidFill>
                <a:latin typeface="Arial"/>
              </a:rPr>
              <a:t>Before editing, list the formulas and checks you will apply.</a:t>
            </a:r>
          </a:p>
        </p:txBody>
      </p:sp>
      <p:sp>
        <p:nvSpPr>
          <p:cNvPr id="31" name="Rectangle 30"/>
          <p:cNvSpPr/>
          <p:nvPr/>
        </p:nvSpPr>
        <p:spPr>
          <a:xfrm>
            <a:off x="777240" y="5285232"/>
            <a:ext cx="10652760" cy="76809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85232"/>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5840" y="5458968"/>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5840" y="5458968"/>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35" name="TextBox 34"/>
          <p:cNvSpPr txBox="1"/>
          <p:nvPr/>
        </p:nvSpPr>
        <p:spPr>
          <a:xfrm>
            <a:off x="1600200" y="5376672"/>
            <a:ext cx="2103120" cy="585216"/>
          </a:xfrm>
          <a:prstGeom prst="rect">
            <a:avLst/>
          </a:prstGeom>
          <a:noFill/>
        </p:spPr>
        <p:txBody>
          <a:bodyPr wrap="square" anchor="ctr">
            <a:spAutoFit/>
          </a:bodyPr>
          <a:lstStyle/>
          <a:p>
            <a:pPr algn="l">
              <a:spcAft>
                <a:spcPts val="400"/>
              </a:spcAft>
            </a:pPr>
            <a:r>
              <a:rPr sz="1200" b="1">
                <a:solidFill>
                  <a:srgbClr val="1F6FEB"/>
                </a:solidFill>
                <a:latin typeface="Arial"/>
              </a:rPr>
              <a:t>Set the approval gate</a:t>
            </a:r>
          </a:p>
        </p:txBody>
      </p:sp>
      <p:sp>
        <p:nvSpPr>
          <p:cNvPr id="36" name="TextBox 35"/>
          <p:cNvSpPr txBox="1"/>
          <p:nvPr/>
        </p:nvSpPr>
        <p:spPr>
          <a:xfrm>
            <a:off x="3657600" y="5358384"/>
            <a:ext cx="7452360" cy="621792"/>
          </a:xfrm>
          <a:prstGeom prst="rect">
            <a:avLst/>
          </a:prstGeom>
          <a:noFill/>
        </p:spPr>
        <p:txBody>
          <a:bodyPr wrap="square" anchor="ctr">
            <a:spAutoFit/>
          </a:bodyPr>
          <a:lstStyle/>
          <a:p>
            <a:pPr algn="l">
              <a:spcAft>
                <a:spcPts val="400"/>
              </a:spcAft>
            </a:pPr>
            <a:r>
              <a:rPr sz="1250" b="0">
                <a:solidFill>
                  <a:srgbClr val="161B26"/>
                </a:solidFill>
                <a:latin typeface="Arial"/>
              </a:rPr>
              <a:t>Return the proposed change for human verification before editing, saving or releasing the file.</a:t>
            </a:r>
          </a:p>
        </p:txBody>
      </p:sp>
      <p:sp>
        <p:nvSpPr>
          <p:cNvPr id="37" name="TextBox 36"/>
          <p:cNvSpPr txBox="1"/>
          <p:nvPr/>
        </p:nvSpPr>
        <p:spPr>
          <a:xfrm>
            <a:off x="777240" y="6144768"/>
            <a:ext cx="10652760" cy="237744"/>
          </a:xfrm>
          <a:prstGeom prst="rect">
            <a:avLst/>
          </a:prstGeom>
          <a:noFill/>
        </p:spPr>
        <p:txBody>
          <a:bodyPr wrap="square" anchor="t">
            <a:spAutoFit/>
          </a:bodyPr>
          <a:lstStyle/>
          <a:p>
            <a:pPr algn="ctr">
              <a:spcAft>
                <a:spcPts val="400"/>
              </a:spcAft>
            </a:pPr>
            <a:r>
              <a:rPr sz="1000" b="0">
                <a:solidFill>
                  <a:srgbClr val="5B6372"/>
                </a:solidFill>
                <a:latin typeface="Arial"/>
              </a:rPr>
              <a:t>Copy the complete Excel prompt from the Learner Guide or matching lab folder; verify every source and proposed edit.</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GOOD PROMPT EXAMPLE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1700" b="1">
                <a:solidFill>
                  <a:srgbClr val="161B26"/>
                </a:solidFill>
                <a:latin typeface="Arial"/>
              </a:rPr>
              <a:t>PowerPoint Prompt — Create an executive planning story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47088"/>
            <a:ext cx="10652760" cy="76809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47088"/>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02082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020824"/>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1" name="TextBox 10"/>
          <p:cNvSpPr txBox="1"/>
          <p:nvPr/>
        </p:nvSpPr>
        <p:spPr>
          <a:xfrm>
            <a:off x="1600200" y="1938528"/>
            <a:ext cx="2103120" cy="585216"/>
          </a:xfrm>
          <a:prstGeom prst="rect">
            <a:avLst/>
          </a:prstGeom>
          <a:noFill/>
        </p:spPr>
        <p:txBody>
          <a:bodyPr wrap="square" anchor="ctr">
            <a:spAutoFit/>
          </a:bodyPr>
          <a:lstStyle/>
          <a:p>
            <a:pPr algn="l">
              <a:spcAft>
                <a:spcPts val="400"/>
              </a:spcAft>
            </a:pPr>
            <a:r>
              <a:rPr sz="1200" b="1">
                <a:solidFill>
                  <a:srgbClr val="1F6FEB"/>
                </a:solidFill>
                <a:latin typeface="Arial"/>
              </a:rPr>
              <a:t>Name the business result</a:t>
            </a:r>
          </a:p>
        </p:txBody>
      </p:sp>
      <p:sp>
        <p:nvSpPr>
          <p:cNvPr id="12" name="TextBox 11"/>
          <p:cNvSpPr txBox="1"/>
          <p:nvPr/>
        </p:nvSpPr>
        <p:spPr>
          <a:xfrm>
            <a:off x="3657600" y="1920240"/>
            <a:ext cx="7452360" cy="621792"/>
          </a:xfrm>
          <a:prstGeom prst="rect">
            <a:avLst/>
          </a:prstGeom>
          <a:noFill/>
        </p:spPr>
        <p:txBody>
          <a:bodyPr wrap="square" anchor="ctr">
            <a:spAutoFit/>
          </a:bodyPr>
          <a:lstStyle/>
          <a:p>
            <a:pPr algn="l">
              <a:spcAft>
                <a:spcPts val="400"/>
              </a:spcAft>
            </a:pPr>
            <a:r>
              <a:rPr sz="1250" b="0">
                <a:solidFill>
                  <a:srgbClr val="161B26"/>
                </a:solidFill>
                <a:latin typeface="Arial"/>
              </a:rPr>
              <a:t>Using the open company template, the approved strategy document and verified Excel dashboard, build an eight-slide Executive Committee story.</a:t>
            </a:r>
          </a:p>
        </p:txBody>
      </p:sp>
      <p:sp>
        <p:nvSpPr>
          <p:cNvPr id="13" name="Rectangle 12"/>
          <p:cNvSpPr/>
          <p:nvPr/>
        </p:nvSpPr>
        <p:spPr>
          <a:xfrm>
            <a:off x="777240" y="2706624"/>
            <a:ext cx="10652760" cy="76809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2706624"/>
            <a:ext cx="82296" cy="7680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28803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2880360"/>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7" name="TextBox 16"/>
          <p:cNvSpPr txBox="1"/>
          <p:nvPr/>
        </p:nvSpPr>
        <p:spPr>
          <a:xfrm>
            <a:off x="1600200" y="2798064"/>
            <a:ext cx="2103120" cy="585216"/>
          </a:xfrm>
          <a:prstGeom prst="rect">
            <a:avLst/>
          </a:prstGeom>
          <a:noFill/>
        </p:spPr>
        <p:txBody>
          <a:bodyPr wrap="square" anchor="ctr">
            <a:spAutoFit/>
          </a:bodyPr>
          <a:lstStyle/>
          <a:p>
            <a:pPr algn="l">
              <a:spcAft>
                <a:spcPts val="400"/>
              </a:spcAft>
            </a:pPr>
            <a:r>
              <a:rPr sz="1200" b="1">
                <a:solidFill>
                  <a:srgbClr val="10B981"/>
                </a:solidFill>
                <a:latin typeface="Arial"/>
              </a:rPr>
              <a:t>Ground the work</a:t>
            </a:r>
          </a:p>
        </p:txBody>
      </p:sp>
      <p:sp>
        <p:nvSpPr>
          <p:cNvPr id="18" name="TextBox 17"/>
          <p:cNvSpPr txBox="1"/>
          <p:nvPr/>
        </p:nvSpPr>
        <p:spPr>
          <a:xfrm>
            <a:off x="3657600" y="2779776"/>
            <a:ext cx="7452360" cy="621792"/>
          </a:xfrm>
          <a:prstGeom prst="rect">
            <a:avLst/>
          </a:prstGeom>
          <a:noFill/>
        </p:spPr>
        <p:txBody>
          <a:bodyPr wrap="square" anchor="ctr">
            <a:spAutoFit/>
          </a:bodyPr>
          <a:lstStyle/>
          <a:p>
            <a:pPr algn="l">
              <a:spcAft>
                <a:spcPts val="400"/>
              </a:spcAft>
            </a:pPr>
            <a:r>
              <a:rPr sz="1250" b="0">
                <a:solidFill>
                  <a:srgbClr val="161B26"/>
                </a:solidFill>
                <a:latin typeface="Arial"/>
              </a:rPr>
              <a:t>Use conclusion-led titles, one message per slide, native editable charts linked to the approved summary ranges, and concise speaker notes.</a:t>
            </a:r>
          </a:p>
        </p:txBody>
      </p:sp>
      <p:sp>
        <p:nvSpPr>
          <p:cNvPr id="19" name="Rectangle 18"/>
          <p:cNvSpPr/>
          <p:nvPr/>
        </p:nvSpPr>
        <p:spPr>
          <a:xfrm>
            <a:off x="777240" y="3566160"/>
            <a:ext cx="10652760" cy="76809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566160"/>
            <a:ext cx="82296" cy="7680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05840" y="3739896"/>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3739896"/>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3" name="TextBox 22"/>
          <p:cNvSpPr txBox="1"/>
          <p:nvPr/>
        </p:nvSpPr>
        <p:spPr>
          <a:xfrm>
            <a:off x="1600200" y="3657600"/>
            <a:ext cx="2103120" cy="585216"/>
          </a:xfrm>
          <a:prstGeom prst="rect">
            <a:avLst/>
          </a:prstGeom>
          <a:noFill/>
        </p:spPr>
        <p:txBody>
          <a:bodyPr wrap="square" anchor="ctr">
            <a:spAutoFit/>
          </a:bodyPr>
          <a:lstStyle/>
          <a:p>
            <a:pPr algn="l">
              <a:spcAft>
                <a:spcPts val="400"/>
              </a:spcAft>
            </a:pPr>
            <a:r>
              <a:rPr sz="1200" b="1">
                <a:solidFill>
                  <a:srgbClr val="7C3AED"/>
                </a:solidFill>
                <a:latin typeface="Arial"/>
              </a:rPr>
              <a:t>Constrain the edit</a:t>
            </a:r>
          </a:p>
        </p:txBody>
      </p:sp>
      <p:sp>
        <p:nvSpPr>
          <p:cNvPr id="24" name="TextBox 23"/>
          <p:cNvSpPr txBox="1"/>
          <p:nvPr/>
        </p:nvSpPr>
        <p:spPr>
          <a:xfrm>
            <a:off x="3657600" y="3639312"/>
            <a:ext cx="7452360" cy="621792"/>
          </a:xfrm>
          <a:prstGeom prst="rect">
            <a:avLst/>
          </a:prstGeom>
          <a:noFill/>
        </p:spPr>
        <p:txBody>
          <a:bodyPr wrap="square" anchor="ctr">
            <a:spAutoFit/>
          </a:bodyPr>
          <a:lstStyle/>
          <a:p>
            <a:pPr algn="l">
              <a:spcAft>
                <a:spcPts val="400"/>
              </a:spcAft>
            </a:pPr>
            <a:r>
              <a:rPr sz="1250" b="0">
                <a:solidFill>
                  <a:srgbClr val="161B26"/>
                </a:solidFill>
                <a:latin typeface="Arial"/>
              </a:rPr>
              <a:t>Preserve the slide master and brand rules.</a:t>
            </a:r>
          </a:p>
        </p:txBody>
      </p:sp>
      <p:sp>
        <p:nvSpPr>
          <p:cNvPr id="25" name="Rectangle 24"/>
          <p:cNvSpPr/>
          <p:nvPr/>
        </p:nvSpPr>
        <p:spPr>
          <a:xfrm>
            <a:off x="777240" y="4425696"/>
            <a:ext cx="10652760" cy="76809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425696"/>
            <a:ext cx="82296" cy="7680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05840" y="4599432"/>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4599432"/>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29" name="TextBox 28"/>
          <p:cNvSpPr txBox="1"/>
          <p:nvPr/>
        </p:nvSpPr>
        <p:spPr>
          <a:xfrm>
            <a:off x="1600200" y="4517136"/>
            <a:ext cx="2103120" cy="585216"/>
          </a:xfrm>
          <a:prstGeom prst="rect">
            <a:avLst/>
          </a:prstGeom>
          <a:noFill/>
        </p:spPr>
        <p:txBody>
          <a:bodyPr wrap="square" anchor="ctr">
            <a:spAutoFit/>
          </a:bodyPr>
          <a:lstStyle/>
          <a:p>
            <a:pPr algn="l">
              <a:spcAft>
                <a:spcPts val="400"/>
              </a:spcAft>
            </a:pPr>
            <a:r>
              <a:rPr sz="1200" b="1">
                <a:solidFill>
                  <a:srgbClr val="F59E0B"/>
                </a:solidFill>
                <a:latin typeface="Arial"/>
              </a:rPr>
              <a:t>Demand evidence</a:t>
            </a:r>
          </a:p>
        </p:txBody>
      </p:sp>
      <p:sp>
        <p:nvSpPr>
          <p:cNvPr id="30" name="TextBox 29"/>
          <p:cNvSpPr txBox="1"/>
          <p:nvPr/>
        </p:nvSpPr>
        <p:spPr>
          <a:xfrm>
            <a:off x="3657600" y="4498848"/>
            <a:ext cx="7452360" cy="621792"/>
          </a:xfrm>
          <a:prstGeom prst="rect">
            <a:avLst/>
          </a:prstGeom>
          <a:noFill/>
        </p:spPr>
        <p:txBody>
          <a:bodyPr wrap="square" anchor="ctr">
            <a:spAutoFit/>
          </a:bodyPr>
          <a:lstStyle/>
          <a:p>
            <a:pPr algn="l">
              <a:spcAft>
                <a:spcPts val="400"/>
              </a:spcAft>
            </a:pPr>
            <a:r>
              <a:rPr sz="1250" b="0">
                <a:solidFill>
                  <a:srgbClr val="161B26"/>
                </a:solidFill>
                <a:latin typeface="Arial"/>
              </a:rPr>
              <a:t>Add a source note to each data slide and flag any figure that does not reconcile.</a:t>
            </a:r>
          </a:p>
        </p:txBody>
      </p:sp>
      <p:sp>
        <p:nvSpPr>
          <p:cNvPr id="31" name="Rectangle 30"/>
          <p:cNvSpPr/>
          <p:nvPr/>
        </p:nvSpPr>
        <p:spPr>
          <a:xfrm>
            <a:off x="777240" y="5285232"/>
            <a:ext cx="10652760" cy="76809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85232"/>
            <a:ext cx="82296" cy="7680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5840" y="5458968"/>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5840" y="5458968"/>
            <a:ext cx="420624" cy="420624"/>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35" name="TextBox 34"/>
          <p:cNvSpPr txBox="1"/>
          <p:nvPr/>
        </p:nvSpPr>
        <p:spPr>
          <a:xfrm>
            <a:off x="1600200" y="5376672"/>
            <a:ext cx="2103120" cy="585216"/>
          </a:xfrm>
          <a:prstGeom prst="rect">
            <a:avLst/>
          </a:prstGeom>
          <a:noFill/>
        </p:spPr>
        <p:txBody>
          <a:bodyPr wrap="square" anchor="ctr">
            <a:spAutoFit/>
          </a:bodyPr>
          <a:lstStyle/>
          <a:p>
            <a:pPr algn="l">
              <a:spcAft>
                <a:spcPts val="400"/>
              </a:spcAft>
            </a:pPr>
            <a:r>
              <a:rPr sz="1200" b="1">
                <a:solidFill>
                  <a:srgbClr val="1F6FEB"/>
                </a:solidFill>
                <a:latin typeface="Arial"/>
              </a:rPr>
              <a:t>Set the approval gate</a:t>
            </a:r>
          </a:p>
        </p:txBody>
      </p:sp>
      <p:sp>
        <p:nvSpPr>
          <p:cNvPr id="36" name="TextBox 35"/>
          <p:cNvSpPr txBox="1"/>
          <p:nvPr/>
        </p:nvSpPr>
        <p:spPr>
          <a:xfrm>
            <a:off x="3657600" y="5358384"/>
            <a:ext cx="7452360" cy="621792"/>
          </a:xfrm>
          <a:prstGeom prst="rect">
            <a:avLst/>
          </a:prstGeom>
          <a:noFill/>
        </p:spPr>
        <p:txBody>
          <a:bodyPr wrap="square" anchor="ctr">
            <a:spAutoFit/>
          </a:bodyPr>
          <a:lstStyle/>
          <a:p>
            <a:pPr algn="l">
              <a:spcAft>
                <a:spcPts val="400"/>
              </a:spcAft>
            </a:pPr>
            <a:r>
              <a:rPr sz="1250" b="0">
                <a:solidFill>
                  <a:srgbClr val="161B26"/>
                </a:solidFill>
                <a:latin typeface="Arial"/>
              </a:rPr>
              <a:t>Return the proposed change for human verification before editing, saving or releasing the file.</a:t>
            </a:r>
          </a:p>
        </p:txBody>
      </p:sp>
      <p:sp>
        <p:nvSpPr>
          <p:cNvPr id="37" name="TextBox 36"/>
          <p:cNvSpPr txBox="1"/>
          <p:nvPr/>
        </p:nvSpPr>
        <p:spPr>
          <a:xfrm>
            <a:off x="777240" y="6144768"/>
            <a:ext cx="10652760" cy="237744"/>
          </a:xfrm>
          <a:prstGeom prst="rect">
            <a:avLst/>
          </a:prstGeom>
          <a:noFill/>
        </p:spPr>
        <p:txBody>
          <a:bodyPr wrap="square" anchor="t">
            <a:spAutoFit/>
          </a:bodyPr>
          <a:lstStyle/>
          <a:p>
            <a:pPr algn="ctr">
              <a:spcAft>
                <a:spcPts val="400"/>
              </a:spcAft>
            </a:pPr>
            <a:r>
              <a:rPr sz="1000" b="0">
                <a:solidFill>
                  <a:srgbClr val="5B6372"/>
                </a:solidFill>
                <a:latin typeface="Arial"/>
              </a:rPr>
              <a:t>Copy the complete PowerPoint prompt from the Learner Guide or matching lab folder; verify every source and proposed edit.</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REALISTIC COMPANY WORK</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Claude-Generated Planning and Policy Samples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47088"/>
            <a:ext cx="3486912" cy="42245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847088"/>
            <a:ext cx="3486912"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58952" y="2135255"/>
            <a:ext cx="3285744" cy="282523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04-artifact.png"/>
          <p:cNvPicPr>
            <a:picLocks noChangeAspect="1"/>
          </p:cNvPicPr>
          <p:nvPr/>
        </p:nvPicPr>
        <p:blipFill>
          <a:blip r:embed="rId2"/>
          <a:stretch>
            <a:fillRect/>
          </a:stretch>
        </p:blipFill>
        <p:spPr>
          <a:xfrm>
            <a:off x="786384" y="2162687"/>
            <a:ext cx="3230880" cy="2770369"/>
          </a:xfrm>
          <a:prstGeom prst="rect">
            <a:avLst/>
          </a:prstGeom>
        </p:spPr>
      </p:pic>
      <p:sp>
        <p:nvSpPr>
          <p:cNvPr id="11" name="TextBox 10"/>
          <p:cNvSpPr txBox="1"/>
          <p:nvPr/>
        </p:nvSpPr>
        <p:spPr>
          <a:xfrm>
            <a:off x="822960" y="5166360"/>
            <a:ext cx="3157728" cy="310896"/>
          </a:xfrm>
          <a:prstGeom prst="rect">
            <a:avLst/>
          </a:prstGeom>
          <a:noFill/>
        </p:spPr>
        <p:txBody>
          <a:bodyPr wrap="square" anchor="t">
            <a:spAutoFit/>
          </a:bodyPr>
          <a:lstStyle/>
          <a:p>
            <a:pPr algn="ctr">
              <a:spcAft>
                <a:spcPts val="400"/>
              </a:spcAft>
            </a:pPr>
            <a:r>
              <a:rPr sz="1000" b="1">
                <a:solidFill>
                  <a:srgbClr val="1F6FEB"/>
                </a:solidFill>
                <a:latin typeface="Arial"/>
              </a:rPr>
              <a:t>LAB 04</a:t>
            </a:r>
          </a:p>
        </p:txBody>
      </p:sp>
      <p:sp>
        <p:nvSpPr>
          <p:cNvPr id="12" name="TextBox 11"/>
          <p:cNvSpPr txBox="1"/>
          <p:nvPr/>
        </p:nvSpPr>
        <p:spPr>
          <a:xfrm>
            <a:off x="822960" y="5486400"/>
            <a:ext cx="3157728" cy="475488"/>
          </a:xfrm>
          <a:prstGeom prst="rect">
            <a:avLst/>
          </a:prstGeom>
          <a:noFill/>
        </p:spPr>
        <p:txBody>
          <a:bodyPr wrap="square" anchor="ctr">
            <a:spAutoFit/>
          </a:bodyPr>
          <a:lstStyle/>
          <a:p>
            <a:pPr algn="ctr">
              <a:spcAft>
                <a:spcPts val="400"/>
              </a:spcAft>
            </a:pPr>
            <a:r>
              <a:rPr sz="1300" b="1">
                <a:solidFill>
                  <a:srgbClr val="161B26"/>
                </a:solidFill>
                <a:latin typeface="Arial"/>
              </a:rPr>
              <a:t>FY2027 Marketing Plan</a:t>
            </a:r>
          </a:p>
        </p:txBody>
      </p:sp>
      <p:sp>
        <p:nvSpPr>
          <p:cNvPr id="13" name="Rectangle 12"/>
          <p:cNvSpPr/>
          <p:nvPr/>
        </p:nvSpPr>
        <p:spPr>
          <a:xfrm>
            <a:off x="4346448" y="1847088"/>
            <a:ext cx="3486912" cy="42245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46448" y="1847088"/>
            <a:ext cx="348691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67213" y="2020824"/>
            <a:ext cx="3245382" cy="305409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ab-05-artifact.png"/>
          <p:cNvPicPr>
            <a:picLocks noChangeAspect="1"/>
          </p:cNvPicPr>
          <p:nvPr/>
        </p:nvPicPr>
        <p:blipFill>
          <a:blip r:embed="rId3"/>
          <a:stretch>
            <a:fillRect/>
          </a:stretch>
        </p:blipFill>
        <p:spPr>
          <a:xfrm>
            <a:off x="4494645" y="2048256"/>
            <a:ext cx="3190518" cy="2999232"/>
          </a:xfrm>
          <a:prstGeom prst="rect">
            <a:avLst/>
          </a:prstGeom>
        </p:spPr>
      </p:pic>
      <p:sp>
        <p:nvSpPr>
          <p:cNvPr id="17" name="TextBox 16"/>
          <p:cNvSpPr txBox="1"/>
          <p:nvPr/>
        </p:nvSpPr>
        <p:spPr>
          <a:xfrm>
            <a:off x="4511040" y="5166360"/>
            <a:ext cx="3157728" cy="310896"/>
          </a:xfrm>
          <a:prstGeom prst="rect">
            <a:avLst/>
          </a:prstGeom>
          <a:noFill/>
        </p:spPr>
        <p:txBody>
          <a:bodyPr wrap="square" anchor="t">
            <a:spAutoFit/>
          </a:bodyPr>
          <a:lstStyle/>
          <a:p>
            <a:pPr algn="ctr">
              <a:spcAft>
                <a:spcPts val="400"/>
              </a:spcAft>
            </a:pPr>
            <a:r>
              <a:rPr sz="1000" b="1">
                <a:solidFill>
                  <a:srgbClr val="10B981"/>
                </a:solidFill>
                <a:latin typeface="Arial"/>
              </a:rPr>
              <a:t>LAB 05</a:t>
            </a:r>
          </a:p>
        </p:txBody>
      </p:sp>
      <p:sp>
        <p:nvSpPr>
          <p:cNvPr id="18" name="TextBox 17"/>
          <p:cNvSpPr txBox="1"/>
          <p:nvPr/>
        </p:nvSpPr>
        <p:spPr>
          <a:xfrm>
            <a:off x="4511040" y="5486400"/>
            <a:ext cx="3157728" cy="475488"/>
          </a:xfrm>
          <a:prstGeom prst="rect">
            <a:avLst/>
          </a:prstGeom>
          <a:noFill/>
        </p:spPr>
        <p:txBody>
          <a:bodyPr wrap="square" anchor="ctr">
            <a:spAutoFit/>
          </a:bodyPr>
          <a:lstStyle/>
          <a:p>
            <a:pPr algn="ctr">
              <a:spcAft>
                <a:spcPts val="400"/>
              </a:spcAft>
            </a:pPr>
            <a:r>
              <a:rPr sz="1300" b="1">
                <a:solidFill>
                  <a:srgbClr val="161B26"/>
                </a:solidFill>
                <a:latin typeface="Arial"/>
              </a:rPr>
              <a:t>Three-Year Strategic Plan</a:t>
            </a:r>
          </a:p>
        </p:txBody>
      </p:sp>
      <p:sp>
        <p:nvSpPr>
          <p:cNvPr id="19" name="Rectangle 18"/>
          <p:cNvSpPr/>
          <p:nvPr/>
        </p:nvSpPr>
        <p:spPr>
          <a:xfrm>
            <a:off x="8034528" y="1847088"/>
            <a:ext cx="3486912" cy="42245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34528" y="1847088"/>
            <a:ext cx="3486912"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35112" y="2146493"/>
            <a:ext cx="3285744" cy="280275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lab-06-artifact.png"/>
          <p:cNvPicPr>
            <a:picLocks noChangeAspect="1"/>
          </p:cNvPicPr>
          <p:nvPr/>
        </p:nvPicPr>
        <p:blipFill>
          <a:blip r:embed="rId4"/>
          <a:stretch>
            <a:fillRect/>
          </a:stretch>
        </p:blipFill>
        <p:spPr>
          <a:xfrm>
            <a:off x="8162544" y="2173925"/>
            <a:ext cx="3230880" cy="2747894"/>
          </a:xfrm>
          <a:prstGeom prst="rect">
            <a:avLst/>
          </a:prstGeom>
        </p:spPr>
      </p:pic>
      <p:sp>
        <p:nvSpPr>
          <p:cNvPr id="23" name="TextBox 22"/>
          <p:cNvSpPr txBox="1"/>
          <p:nvPr/>
        </p:nvSpPr>
        <p:spPr>
          <a:xfrm>
            <a:off x="8199120" y="5166360"/>
            <a:ext cx="3157728" cy="310896"/>
          </a:xfrm>
          <a:prstGeom prst="rect">
            <a:avLst/>
          </a:prstGeom>
          <a:noFill/>
        </p:spPr>
        <p:txBody>
          <a:bodyPr wrap="square" anchor="t">
            <a:spAutoFit/>
          </a:bodyPr>
          <a:lstStyle/>
          <a:p>
            <a:pPr algn="ctr">
              <a:spcAft>
                <a:spcPts val="400"/>
              </a:spcAft>
            </a:pPr>
            <a:r>
              <a:rPr sz="1000" b="1">
                <a:solidFill>
                  <a:srgbClr val="7C3AED"/>
                </a:solidFill>
                <a:latin typeface="Arial"/>
              </a:rPr>
              <a:t>LAB 06</a:t>
            </a:r>
          </a:p>
        </p:txBody>
      </p:sp>
      <p:sp>
        <p:nvSpPr>
          <p:cNvPr id="24" name="TextBox 23"/>
          <p:cNvSpPr txBox="1"/>
          <p:nvPr/>
        </p:nvSpPr>
        <p:spPr>
          <a:xfrm>
            <a:off x="8199120" y="5486400"/>
            <a:ext cx="3157728" cy="475488"/>
          </a:xfrm>
          <a:prstGeom prst="rect">
            <a:avLst/>
          </a:prstGeom>
          <a:noFill/>
        </p:spPr>
        <p:txBody>
          <a:bodyPr wrap="square" anchor="ctr">
            <a:spAutoFit/>
          </a:bodyPr>
          <a:lstStyle/>
          <a:p>
            <a:pPr algn="ctr">
              <a:spcAft>
                <a:spcPts val="400"/>
              </a:spcAft>
            </a:pPr>
            <a:r>
              <a:rPr sz="1300" b="1">
                <a:solidFill>
                  <a:srgbClr val="161B26"/>
                </a:solidFill>
                <a:latin typeface="Arial"/>
              </a:rPr>
              <a:t>Sustainability and HR Drafts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NATIVE OFFICE ARTIFACTS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Claude-Generated Analysis and Executive Samples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47088"/>
            <a:ext cx="3486912" cy="42245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847088"/>
            <a:ext cx="3486912"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58952" y="2304743"/>
            <a:ext cx="3285744" cy="248625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07-artifact.png"/>
          <p:cNvPicPr>
            <a:picLocks noChangeAspect="1"/>
          </p:cNvPicPr>
          <p:nvPr/>
        </p:nvPicPr>
        <p:blipFill>
          <a:blip r:embed="rId2"/>
          <a:stretch>
            <a:fillRect/>
          </a:stretch>
        </p:blipFill>
        <p:spPr>
          <a:xfrm>
            <a:off x="786384" y="2332175"/>
            <a:ext cx="3230880" cy="2431394"/>
          </a:xfrm>
          <a:prstGeom prst="rect">
            <a:avLst/>
          </a:prstGeom>
        </p:spPr>
      </p:pic>
      <p:sp>
        <p:nvSpPr>
          <p:cNvPr id="11" name="TextBox 10"/>
          <p:cNvSpPr txBox="1"/>
          <p:nvPr/>
        </p:nvSpPr>
        <p:spPr>
          <a:xfrm>
            <a:off x="822960" y="5166360"/>
            <a:ext cx="3157728" cy="310896"/>
          </a:xfrm>
          <a:prstGeom prst="rect">
            <a:avLst/>
          </a:prstGeom>
          <a:noFill/>
        </p:spPr>
        <p:txBody>
          <a:bodyPr wrap="square" anchor="t">
            <a:spAutoFit/>
          </a:bodyPr>
          <a:lstStyle/>
          <a:p>
            <a:pPr algn="ctr">
              <a:spcAft>
                <a:spcPts val="400"/>
              </a:spcAft>
            </a:pPr>
            <a:r>
              <a:rPr sz="1000" b="1">
                <a:solidFill>
                  <a:srgbClr val="1F6FEB"/>
                </a:solidFill>
                <a:latin typeface="Arial"/>
              </a:rPr>
              <a:t>LAB 07</a:t>
            </a:r>
          </a:p>
        </p:txBody>
      </p:sp>
      <p:sp>
        <p:nvSpPr>
          <p:cNvPr id="12" name="TextBox 11"/>
          <p:cNvSpPr txBox="1"/>
          <p:nvPr/>
        </p:nvSpPr>
        <p:spPr>
          <a:xfrm>
            <a:off x="822960" y="5486400"/>
            <a:ext cx="3157728" cy="475488"/>
          </a:xfrm>
          <a:prstGeom prst="rect">
            <a:avLst/>
          </a:prstGeom>
          <a:noFill/>
        </p:spPr>
        <p:txBody>
          <a:bodyPr wrap="square" anchor="ctr">
            <a:spAutoFit/>
          </a:bodyPr>
          <a:lstStyle/>
          <a:p>
            <a:pPr algn="ctr">
              <a:spcAft>
                <a:spcPts val="400"/>
              </a:spcAft>
            </a:pPr>
            <a:r>
              <a:rPr sz="1300" b="1">
                <a:solidFill>
                  <a:srgbClr val="161B26"/>
                </a:solidFill>
                <a:latin typeface="Arial"/>
              </a:rPr>
              <a:t>Excel Financial Dashboard</a:t>
            </a:r>
          </a:p>
        </p:txBody>
      </p:sp>
      <p:sp>
        <p:nvSpPr>
          <p:cNvPr id="13" name="Rectangle 12"/>
          <p:cNvSpPr/>
          <p:nvPr/>
        </p:nvSpPr>
        <p:spPr>
          <a:xfrm>
            <a:off x="4346448" y="1847088"/>
            <a:ext cx="3486912" cy="42245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46448" y="1847088"/>
            <a:ext cx="348691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47032" y="2570181"/>
            <a:ext cx="3285743" cy="195538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ab-08-artifact.png"/>
          <p:cNvPicPr>
            <a:picLocks noChangeAspect="1"/>
          </p:cNvPicPr>
          <p:nvPr/>
        </p:nvPicPr>
        <p:blipFill>
          <a:blip r:embed="rId3"/>
          <a:stretch>
            <a:fillRect/>
          </a:stretch>
        </p:blipFill>
        <p:spPr>
          <a:xfrm>
            <a:off x="4474464" y="2597613"/>
            <a:ext cx="3230879" cy="1900517"/>
          </a:xfrm>
          <a:prstGeom prst="rect">
            <a:avLst/>
          </a:prstGeom>
        </p:spPr>
      </p:pic>
      <p:sp>
        <p:nvSpPr>
          <p:cNvPr id="17" name="TextBox 16"/>
          <p:cNvSpPr txBox="1"/>
          <p:nvPr/>
        </p:nvSpPr>
        <p:spPr>
          <a:xfrm>
            <a:off x="4511040" y="5166360"/>
            <a:ext cx="3157728" cy="310896"/>
          </a:xfrm>
          <a:prstGeom prst="rect">
            <a:avLst/>
          </a:prstGeom>
          <a:noFill/>
        </p:spPr>
        <p:txBody>
          <a:bodyPr wrap="square" anchor="t">
            <a:spAutoFit/>
          </a:bodyPr>
          <a:lstStyle/>
          <a:p>
            <a:pPr algn="ctr">
              <a:spcAft>
                <a:spcPts val="400"/>
              </a:spcAft>
            </a:pPr>
            <a:r>
              <a:rPr sz="1000" b="1">
                <a:solidFill>
                  <a:srgbClr val="10B981"/>
                </a:solidFill>
                <a:latin typeface="Arial"/>
              </a:rPr>
              <a:t>LAB 08</a:t>
            </a:r>
          </a:p>
        </p:txBody>
      </p:sp>
      <p:sp>
        <p:nvSpPr>
          <p:cNvPr id="18" name="TextBox 17"/>
          <p:cNvSpPr txBox="1"/>
          <p:nvPr/>
        </p:nvSpPr>
        <p:spPr>
          <a:xfrm>
            <a:off x="4511040" y="5486400"/>
            <a:ext cx="3157728" cy="475488"/>
          </a:xfrm>
          <a:prstGeom prst="rect">
            <a:avLst/>
          </a:prstGeom>
          <a:noFill/>
        </p:spPr>
        <p:txBody>
          <a:bodyPr wrap="square" anchor="ctr">
            <a:spAutoFit/>
          </a:bodyPr>
          <a:lstStyle/>
          <a:p>
            <a:pPr algn="ctr">
              <a:spcAft>
                <a:spcPts val="400"/>
              </a:spcAft>
            </a:pPr>
            <a:r>
              <a:rPr sz="1300" b="1">
                <a:solidFill>
                  <a:srgbClr val="161B26"/>
                </a:solidFill>
                <a:latin typeface="Arial"/>
              </a:rPr>
              <a:t>Strategy and Marketing PowerPoint</a:t>
            </a:r>
          </a:p>
        </p:txBody>
      </p:sp>
      <p:sp>
        <p:nvSpPr>
          <p:cNvPr id="19" name="Rectangle 18"/>
          <p:cNvSpPr/>
          <p:nvPr/>
        </p:nvSpPr>
        <p:spPr>
          <a:xfrm>
            <a:off x="8034528" y="1847088"/>
            <a:ext cx="3486912" cy="42245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34528" y="1847088"/>
            <a:ext cx="3486912"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35112" y="2148047"/>
            <a:ext cx="3285744" cy="27996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lab-09-artifact.png"/>
          <p:cNvPicPr>
            <a:picLocks noChangeAspect="1"/>
          </p:cNvPicPr>
          <p:nvPr/>
        </p:nvPicPr>
        <p:blipFill>
          <a:blip r:embed="rId4"/>
          <a:stretch>
            <a:fillRect/>
          </a:stretch>
        </p:blipFill>
        <p:spPr>
          <a:xfrm>
            <a:off x="8162544" y="2175479"/>
            <a:ext cx="3230880" cy="2744786"/>
          </a:xfrm>
          <a:prstGeom prst="rect">
            <a:avLst/>
          </a:prstGeom>
        </p:spPr>
      </p:pic>
      <p:sp>
        <p:nvSpPr>
          <p:cNvPr id="23" name="TextBox 22"/>
          <p:cNvSpPr txBox="1"/>
          <p:nvPr/>
        </p:nvSpPr>
        <p:spPr>
          <a:xfrm>
            <a:off x="8199120" y="5166360"/>
            <a:ext cx="3157728" cy="310896"/>
          </a:xfrm>
          <a:prstGeom prst="rect">
            <a:avLst/>
          </a:prstGeom>
          <a:noFill/>
        </p:spPr>
        <p:txBody>
          <a:bodyPr wrap="square" anchor="t">
            <a:spAutoFit/>
          </a:bodyPr>
          <a:lstStyle/>
          <a:p>
            <a:pPr algn="ctr">
              <a:spcAft>
                <a:spcPts val="400"/>
              </a:spcAft>
            </a:pPr>
            <a:r>
              <a:rPr sz="1000" b="1">
                <a:solidFill>
                  <a:srgbClr val="7C3AED"/>
                </a:solidFill>
                <a:latin typeface="Arial"/>
              </a:rPr>
              <a:t>LAB 09</a:t>
            </a:r>
          </a:p>
        </p:txBody>
      </p:sp>
      <p:sp>
        <p:nvSpPr>
          <p:cNvPr id="24" name="TextBox 23"/>
          <p:cNvSpPr txBox="1"/>
          <p:nvPr/>
        </p:nvSpPr>
        <p:spPr>
          <a:xfrm>
            <a:off x="8199120" y="5486400"/>
            <a:ext cx="3157728" cy="475488"/>
          </a:xfrm>
          <a:prstGeom prst="rect">
            <a:avLst/>
          </a:prstGeom>
          <a:noFill/>
        </p:spPr>
        <p:txBody>
          <a:bodyPr wrap="square" anchor="ctr">
            <a:spAutoFit/>
          </a:bodyPr>
          <a:lstStyle/>
          <a:p>
            <a:pPr algn="ctr">
              <a:spcAft>
                <a:spcPts val="400"/>
              </a:spcAft>
            </a:pPr>
            <a:r>
              <a:rPr sz="1300" b="1">
                <a:solidFill>
                  <a:srgbClr val="161B26"/>
                </a:solidFill>
                <a:latin typeface="Arial"/>
              </a:rPr>
              <a:t>Outlook Thread and Reply Pack</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READABLE NATIVE EXCEL CHARTS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Inside the Claude-Generated Excel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52760" cy="1234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ab-07-kpis.png"/>
          <p:cNvPicPr>
            <a:picLocks noChangeAspect="1"/>
          </p:cNvPicPr>
          <p:nvPr/>
        </p:nvPicPr>
        <p:blipFill>
          <a:blip r:embed="rId2"/>
          <a:stretch>
            <a:fillRect/>
          </a:stretch>
        </p:blipFill>
        <p:spPr>
          <a:xfrm>
            <a:off x="914400" y="1938528"/>
            <a:ext cx="10378440" cy="987552"/>
          </a:xfrm>
          <a:prstGeom prst="rect">
            <a:avLst/>
          </a:prstGeom>
        </p:spPr>
      </p:pic>
      <p:sp>
        <p:nvSpPr>
          <p:cNvPr id="9" name="Rectangle 8"/>
          <p:cNvSpPr/>
          <p:nvPr/>
        </p:nvSpPr>
        <p:spPr>
          <a:xfrm>
            <a:off x="777240" y="3273552"/>
            <a:ext cx="5198364" cy="25786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273552"/>
            <a:ext cx="5198364" cy="73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ab-07-revenue-chart.png"/>
          <p:cNvPicPr>
            <a:picLocks noChangeAspect="1"/>
          </p:cNvPicPr>
          <p:nvPr/>
        </p:nvPicPr>
        <p:blipFill>
          <a:blip r:embed="rId3"/>
          <a:stretch>
            <a:fillRect/>
          </a:stretch>
        </p:blipFill>
        <p:spPr>
          <a:xfrm>
            <a:off x="923544" y="3438144"/>
            <a:ext cx="4905756" cy="1664208"/>
          </a:xfrm>
          <a:prstGeom prst="rect">
            <a:avLst/>
          </a:prstGeom>
        </p:spPr>
      </p:pic>
      <p:sp>
        <p:nvSpPr>
          <p:cNvPr id="12" name="TextBox 11"/>
          <p:cNvSpPr txBox="1"/>
          <p:nvPr/>
        </p:nvSpPr>
        <p:spPr>
          <a:xfrm>
            <a:off x="960120" y="5175504"/>
            <a:ext cx="4832604" cy="256032"/>
          </a:xfrm>
          <a:prstGeom prst="rect">
            <a:avLst/>
          </a:prstGeom>
          <a:noFill/>
        </p:spPr>
        <p:txBody>
          <a:bodyPr wrap="square" anchor="t">
            <a:spAutoFit/>
          </a:bodyPr>
          <a:lstStyle/>
          <a:p>
            <a:pPr algn="ctr">
              <a:spcAft>
                <a:spcPts val="400"/>
              </a:spcAft>
            </a:pPr>
            <a:r>
              <a:rPr sz="1200" b="1">
                <a:solidFill>
                  <a:srgbClr val="1F6FEB"/>
                </a:solidFill>
                <a:latin typeface="Arial"/>
              </a:rPr>
              <a:t>Actual vs Budget</a:t>
            </a:r>
          </a:p>
        </p:txBody>
      </p:sp>
      <p:sp>
        <p:nvSpPr>
          <p:cNvPr id="13" name="TextBox 12"/>
          <p:cNvSpPr txBox="1"/>
          <p:nvPr/>
        </p:nvSpPr>
        <p:spPr>
          <a:xfrm>
            <a:off x="960120" y="5449824"/>
            <a:ext cx="4832604" cy="274320"/>
          </a:xfrm>
          <a:prstGeom prst="rect">
            <a:avLst/>
          </a:prstGeom>
          <a:noFill/>
        </p:spPr>
        <p:txBody>
          <a:bodyPr wrap="square" anchor="t">
            <a:spAutoFit/>
          </a:bodyPr>
          <a:lstStyle/>
          <a:p>
            <a:pPr algn="ctr">
              <a:spcAft>
                <a:spcPts val="400"/>
              </a:spcAft>
            </a:pPr>
            <a:r>
              <a:rPr sz="1050" b="0">
                <a:solidFill>
                  <a:srgbClr val="5B6372"/>
                </a:solidFill>
                <a:latin typeface="Arial"/>
              </a:rPr>
              <a:t>Tests whether growth is on plan and where monthly variance emerges.</a:t>
            </a:r>
          </a:p>
        </p:txBody>
      </p:sp>
      <p:sp>
        <p:nvSpPr>
          <p:cNvPr id="14" name="Rectangle 13"/>
          <p:cNvSpPr/>
          <p:nvPr/>
        </p:nvSpPr>
        <p:spPr>
          <a:xfrm>
            <a:off x="6231636" y="3273552"/>
            <a:ext cx="5198364" cy="25786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1636" y="3273552"/>
            <a:ext cx="5198364"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ab-07-contribution-chart.png"/>
          <p:cNvPicPr>
            <a:picLocks noChangeAspect="1"/>
          </p:cNvPicPr>
          <p:nvPr/>
        </p:nvPicPr>
        <p:blipFill>
          <a:blip r:embed="rId4"/>
          <a:stretch>
            <a:fillRect/>
          </a:stretch>
        </p:blipFill>
        <p:spPr>
          <a:xfrm>
            <a:off x="6377940" y="3438144"/>
            <a:ext cx="4905756" cy="1664208"/>
          </a:xfrm>
          <a:prstGeom prst="rect">
            <a:avLst/>
          </a:prstGeom>
        </p:spPr>
      </p:pic>
      <p:sp>
        <p:nvSpPr>
          <p:cNvPr id="17" name="TextBox 16"/>
          <p:cNvSpPr txBox="1"/>
          <p:nvPr/>
        </p:nvSpPr>
        <p:spPr>
          <a:xfrm>
            <a:off x="6414516" y="5175504"/>
            <a:ext cx="4832604" cy="256032"/>
          </a:xfrm>
          <a:prstGeom prst="rect">
            <a:avLst/>
          </a:prstGeom>
          <a:noFill/>
        </p:spPr>
        <p:txBody>
          <a:bodyPr wrap="square" anchor="t">
            <a:spAutoFit/>
          </a:bodyPr>
          <a:lstStyle/>
          <a:p>
            <a:pPr algn="ctr">
              <a:spcAft>
                <a:spcPts val="400"/>
              </a:spcAft>
            </a:pPr>
            <a:r>
              <a:rPr sz="1200" b="1">
                <a:solidFill>
                  <a:srgbClr val="10B981"/>
                </a:solidFill>
                <a:latin typeface="Arial"/>
              </a:rPr>
              <a:t>Contribution by Channel</a:t>
            </a:r>
          </a:p>
        </p:txBody>
      </p:sp>
      <p:sp>
        <p:nvSpPr>
          <p:cNvPr id="18" name="TextBox 17"/>
          <p:cNvSpPr txBox="1"/>
          <p:nvPr/>
        </p:nvSpPr>
        <p:spPr>
          <a:xfrm>
            <a:off x="6414516" y="5449824"/>
            <a:ext cx="4832604" cy="274320"/>
          </a:xfrm>
          <a:prstGeom prst="rect">
            <a:avLst/>
          </a:prstGeom>
          <a:noFill/>
        </p:spPr>
        <p:txBody>
          <a:bodyPr wrap="square" anchor="t">
            <a:spAutoFit/>
          </a:bodyPr>
          <a:lstStyle/>
          <a:p>
            <a:pPr algn="ctr">
              <a:spcAft>
                <a:spcPts val="400"/>
              </a:spcAft>
            </a:pPr>
            <a:r>
              <a:rPr sz="1050" b="0">
                <a:solidFill>
                  <a:srgbClr val="5B6372"/>
                </a:solidFill>
                <a:latin typeface="Arial"/>
              </a:rPr>
              <a:t>Separates revenue scale from contribution quality for resource decisions.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Governed Foundations for Claude and Microsoft 365</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Operating surfaces · Microsoft 365 connector · permissions · evidence · prompting · human approval</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24%</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1700" b="1">
                <a:solidFill>
                  <a:srgbClr val="161B26"/>
                </a:solidFill>
                <a:latin typeface="Arial"/>
              </a:rPr>
              <a:t>Key Concepts — Governed Foundations for Claude and Microsoft 365</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Four operating surfaces — distinguish Claude for Microsoft 365 add-ins, the Microsoft 365 connector in Claude, Anthropic Claude Cowork, and Claude-powered experiences inside Microsoft 365 Copilot.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Open-file context — the Word, Excel, PowerPoint and Outlook add-ins work with the active item and preserve native structures such as styles, formulas and slide masters.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Connected work context — the Microsoft 365 connector can search authorised SharePoint, OneDrive, Outlook and Teams content; optional write tools require additional tenant consent.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Least privilege — access follows the signed-in user's existing permissions; broad access is not a substitute for a well-scoped business task.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Evidence contract — every material claim names its source location, confidence and unresolved gap before the output is polished.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Human accountability — reviewed changes, formulas, recipients and approval records make AI-assisted work defensible.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1700" b="1">
                <a:solidFill>
                  <a:srgbClr val="161B26"/>
                </a:solidFill>
                <a:latin typeface="Arial"/>
              </a:rPr>
              <a:t>Hands-On Labs — Governed Foundations for Claude and Microsoft 365</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88036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880360" cy="3108960"/>
          </a:xfrm>
          <a:prstGeom prst="rect">
            <a:avLst/>
          </a:prstGeom>
          <a:noFill/>
        </p:spPr>
        <p:txBody>
          <a:bodyPr wrap="square">
            <a:spAutoFit/>
          </a:bodyPr>
          <a:lstStyle/>
          <a:p>
            <a:pPr>
              <a:spcAft>
                <a:spcPts val="900"/>
              </a:spcAft>
            </a:pPr>
            <a:r>
              <a:rPr sz="1400" b="0">
                <a:solidFill>
                  <a:srgbClr val="161B26"/>
                </a:solidFill>
                <a:latin typeface="Arial"/>
              </a:rPr>
              <a:t>•  Choose and Activate the Right Claude Surface — A completed operating-surface decision matrix and environment-readiness record.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880360" cy="548640"/>
          </a:xfrm>
          <a:prstGeom prst="rect">
            <a:avLst/>
          </a:prstGeom>
          <a:noFill/>
        </p:spPr>
        <p:txBody>
          <a:bodyPr wrap="square" anchor="t">
            <a:spAutoFit/>
          </a:bodyPr>
          <a:lstStyle/>
          <a:p>
            <a:pPr algn="l">
              <a:spcAft>
                <a:spcPts val="400"/>
              </a:spcAft>
            </a:pPr>
            <a:r>
              <a:rPr sz="1900" b="1">
                <a:solidFill>
                  <a:srgbClr val="10B981"/>
                </a:solidFill>
                <a:latin typeface="Arial"/>
              </a:rPr>
              <a:t>Lab 2</a:t>
            </a:r>
          </a:p>
        </p:txBody>
      </p:sp>
      <p:sp>
        <p:nvSpPr>
          <p:cNvPr id="14" name="TextBox 13"/>
          <p:cNvSpPr txBox="1"/>
          <p:nvPr/>
        </p:nvSpPr>
        <p:spPr>
          <a:xfrm>
            <a:off x="4800600" y="2697480"/>
            <a:ext cx="2880360" cy="3108960"/>
          </a:xfrm>
          <a:prstGeom prst="rect">
            <a:avLst/>
          </a:prstGeom>
          <a:noFill/>
        </p:spPr>
        <p:txBody>
          <a:bodyPr wrap="square">
            <a:spAutoFit/>
          </a:bodyPr>
          <a:lstStyle/>
          <a:p>
            <a:pPr>
              <a:spcAft>
                <a:spcPts val="900"/>
              </a:spcAft>
            </a:pPr>
            <a:r>
              <a:rPr sz="1400" b="0">
                <a:solidFill>
                  <a:srgbClr val="161B26"/>
                </a:solidFill>
                <a:latin typeface="Arial"/>
              </a:rPr>
              <a:t>•  Connect Microsoft 365 Context and Map Permissions — A least-privilege source register with access status, evidence owner, retention note and approved use.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880360" cy="548640"/>
          </a:xfrm>
          <a:prstGeom prst="rect">
            <a:avLst/>
          </a:prstGeom>
          <a:noFill/>
        </p:spPr>
        <p:txBody>
          <a:bodyPr wrap="square" anchor="t">
            <a:spAutoFit/>
          </a:bodyPr>
          <a:lstStyle/>
          <a:p>
            <a:pPr algn="l">
              <a:spcAft>
                <a:spcPts val="400"/>
              </a:spcAft>
            </a:pPr>
            <a:r>
              <a:rPr sz="1900" b="1">
                <a:solidFill>
                  <a:srgbClr val="7C3AED"/>
                </a:solidFill>
                <a:latin typeface="Arial"/>
              </a:rPr>
              <a:t>Lab 3</a:t>
            </a:r>
          </a:p>
        </p:txBody>
      </p:sp>
      <p:sp>
        <p:nvSpPr>
          <p:cNvPr id="18" name="TextBox 17"/>
          <p:cNvSpPr txBox="1"/>
          <p:nvPr/>
        </p:nvSpPr>
        <p:spPr>
          <a:xfrm>
            <a:off x="8595360" y="2697480"/>
            <a:ext cx="2880360" cy="3108960"/>
          </a:xfrm>
          <a:prstGeom prst="rect">
            <a:avLst/>
          </a:prstGeom>
          <a:noFill/>
        </p:spPr>
        <p:txBody>
          <a:bodyPr wrap="square">
            <a:spAutoFit/>
          </a:bodyPr>
          <a:lstStyle/>
          <a:p>
            <a:pPr>
              <a:spcAft>
                <a:spcPts val="900"/>
              </a:spcAft>
            </a:pPr>
            <a:r>
              <a:rPr sz="1400" b="0">
                <a:solidFill>
                  <a:srgbClr val="161B26"/>
                </a:solidFill>
                <a:latin typeface="Arial"/>
              </a:rPr>
              <a:t>•  Build an Auditable Prompt and Review Contract — A reusable cross-app prompt library, prompt test log and acceptance checklist.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Choose and Activate the Right Claude Surface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Compare the Office add-ins, Microsoft 365 connector, Claude Cowork and Claude-powered Microsoft 365 Copilot experiences before touching company data.</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operating-surface decision matrix and environment-readiness record.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Claude for Microsoft 365, Claude connector, Claude Cowork, Microsoft 365 Copilot, admin deployment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SCREENSHOT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Claude-Generated Company Work Sample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32104" y="2404727"/>
            <a:ext cx="3493008" cy="298123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ab-01-artifact.png"/>
          <p:cNvPicPr>
            <a:picLocks noChangeAspect="1"/>
          </p:cNvPicPr>
          <p:nvPr/>
        </p:nvPicPr>
        <p:blipFill>
          <a:blip r:embed="rId2"/>
          <a:stretch>
            <a:fillRect/>
          </a:stretch>
        </p:blipFill>
        <p:spPr>
          <a:xfrm>
            <a:off x="877824" y="2450447"/>
            <a:ext cx="3401568" cy="2889793"/>
          </a:xfrm>
          <a:prstGeom prst="rect">
            <a:avLst/>
          </a:prstGeom>
        </p:spPr>
      </p:pic>
      <p:sp>
        <p:nvSpPr>
          <p:cNvPr id="9" name="TextBox 8"/>
          <p:cNvSpPr txBox="1"/>
          <p:nvPr/>
        </p:nvSpPr>
        <p:spPr>
          <a:xfrm>
            <a:off x="4736592" y="1901952"/>
            <a:ext cx="6510528" cy="347472"/>
          </a:xfrm>
          <a:prstGeom prst="rect">
            <a:avLst/>
          </a:prstGeom>
          <a:noFill/>
        </p:spPr>
        <p:txBody>
          <a:bodyPr wrap="square" anchor="t">
            <a:spAutoFit/>
          </a:bodyPr>
          <a:lstStyle/>
          <a:p>
            <a:pPr algn="l">
              <a:spcAft>
                <a:spcPts val="400"/>
              </a:spcAft>
            </a:pPr>
            <a:r>
              <a:rPr sz="1200" b="1">
                <a:solidFill>
                  <a:srgbClr val="10B981"/>
                </a:solidFill>
                <a:latin typeface="Arial"/>
              </a:rPr>
              <a:t>WHAT TO NOTICE</a:t>
            </a:r>
          </a:p>
        </p:txBody>
      </p:sp>
      <p:sp>
        <p:nvSpPr>
          <p:cNvPr id="10" name="Rectangle 9"/>
          <p:cNvSpPr/>
          <p:nvPr/>
        </p:nvSpPr>
        <p:spPr>
          <a:xfrm>
            <a:off x="4736592" y="2395728"/>
            <a:ext cx="6510528"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36592" y="2395728"/>
            <a:ext cx="731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919472" y="262432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19472" y="2624328"/>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4" name="TextBox 13"/>
          <p:cNvSpPr txBox="1"/>
          <p:nvPr/>
        </p:nvSpPr>
        <p:spPr>
          <a:xfrm>
            <a:off x="5541264" y="2514600"/>
            <a:ext cx="5504688" cy="676656"/>
          </a:xfrm>
          <a:prstGeom prst="rect">
            <a:avLst/>
          </a:prstGeom>
          <a:noFill/>
        </p:spPr>
        <p:txBody>
          <a:bodyPr wrap="square" anchor="ctr">
            <a:spAutoFit/>
          </a:bodyPr>
          <a:lstStyle/>
          <a:p>
            <a:pPr algn="l">
              <a:spcAft>
                <a:spcPts val="200"/>
              </a:spcAft>
            </a:pPr>
            <a:r>
              <a:rPr sz="1300" b="1">
                <a:solidFill>
                  <a:srgbClr val="1F6FEB"/>
                </a:solidFill>
                <a:latin typeface="Arial"/>
              </a:rPr>
              <a:t>Business outcome</a:t>
            </a:r>
          </a:p>
          <a:p>
            <a:pPr algn="l">
              <a:spcAft>
                <a:spcPts val="200"/>
              </a:spcAft>
            </a:pPr>
            <a:r>
              <a:rPr sz="1100" b="0">
                <a:solidFill>
                  <a:srgbClr val="161B26"/>
                </a:solidFill>
                <a:latin typeface="Arial"/>
              </a:rPr>
              <a:t>The opening section states the management decision and intended use.</a:t>
            </a:r>
          </a:p>
        </p:txBody>
      </p:sp>
      <p:sp>
        <p:nvSpPr>
          <p:cNvPr id="15" name="Rectangle 14"/>
          <p:cNvSpPr/>
          <p:nvPr/>
        </p:nvSpPr>
        <p:spPr>
          <a:xfrm>
            <a:off x="4736592" y="3493008"/>
            <a:ext cx="6510528"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736592" y="3493008"/>
            <a:ext cx="73152"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919472" y="372160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19472" y="3721608"/>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9" name="TextBox 18"/>
          <p:cNvSpPr txBox="1"/>
          <p:nvPr/>
        </p:nvSpPr>
        <p:spPr>
          <a:xfrm>
            <a:off x="5541264" y="3611880"/>
            <a:ext cx="5504688" cy="676656"/>
          </a:xfrm>
          <a:prstGeom prst="rect">
            <a:avLst/>
          </a:prstGeom>
          <a:noFill/>
        </p:spPr>
        <p:txBody>
          <a:bodyPr wrap="square" anchor="ctr">
            <a:spAutoFit/>
          </a:bodyPr>
          <a:lstStyle/>
          <a:p>
            <a:pPr algn="l">
              <a:spcAft>
                <a:spcPts val="200"/>
              </a:spcAft>
            </a:pPr>
            <a:r>
              <a:rPr sz="1300" b="1">
                <a:solidFill>
                  <a:srgbClr val="10B981"/>
                </a:solidFill>
                <a:latin typeface="Arial"/>
              </a:rPr>
              <a:t>Evidence structure</a:t>
            </a:r>
          </a:p>
          <a:p>
            <a:pPr algn="l">
              <a:spcAft>
                <a:spcPts val="200"/>
              </a:spcAft>
            </a:pPr>
            <a:r>
              <a:rPr sz="1100" b="0">
                <a:solidFill>
                  <a:srgbClr val="161B26"/>
                </a:solidFill>
                <a:latin typeface="Arial"/>
              </a:rPr>
              <a:t>Headings, tables and source notes make claims reviewable in native Word.</a:t>
            </a:r>
          </a:p>
        </p:txBody>
      </p:sp>
      <p:sp>
        <p:nvSpPr>
          <p:cNvPr id="20" name="Rectangle 19"/>
          <p:cNvSpPr/>
          <p:nvPr/>
        </p:nvSpPr>
        <p:spPr>
          <a:xfrm>
            <a:off x="4736592" y="4590288"/>
            <a:ext cx="6510528"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736592" y="4590288"/>
            <a:ext cx="7315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9472" y="4818888"/>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9472" y="4818888"/>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4" name="TextBox 23"/>
          <p:cNvSpPr txBox="1"/>
          <p:nvPr/>
        </p:nvSpPr>
        <p:spPr>
          <a:xfrm>
            <a:off x="5541264" y="4709160"/>
            <a:ext cx="5504688" cy="676656"/>
          </a:xfrm>
          <a:prstGeom prst="rect">
            <a:avLst/>
          </a:prstGeom>
          <a:noFill/>
        </p:spPr>
        <p:txBody>
          <a:bodyPr wrap="square" anchor="ctr">
            <a:spAutoFit/>
          </a:bodyPr>
          <a:lstStyle/>
          <a:p>
            <a:pPr algn="l">
              <a:spcAft>
                <a:spcPts val="200"/>
              </a:spcAft>
            </a:pPr>
            <a:r>
              <a:rPr sz="1300" b="1">
                <a:solidFill>
                  <a:srgbClr val="7C3AED"/>
                </a:solidFill>
                <a:latin typeface="Arial"/>
              </a:rPr>
              <a:t>Approval boundary</a:t>
            </a:r>
          </a:p>
          <a:p>
            <a:pPr algn="l">
              <a:spcAft>
                <a:spcPts val="200"/>
              </a:spcAft>
            </a:pPr>
            <a:r>
              <a:rPr sz="1100" b="0">
                <a:solidFill>
                  <a:srgbClr val="161B26"/>
                </a:solidFill>
                <a:latin typeface="Arial"/>
              </a:rPr>
              <a:t>The status and named reviewer remain visible before release or send.</a:t>
            </a:r>
          </a:p>
        </p:txBody>
      </p:sp>
      <p:sp>
        <p:nvSpPr>
          <p:cNvPr id="25" name="TextBox 24"/>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5B6372"/>
                </a:solidFill>
                <a:latin typeface="Arial"/>
              </a:rPr>
              <a:t>A rendered preview of the realistic Word, Excel or PowerPoint artifact supplied in this lab folder.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1 — Process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the task</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Compare surfaces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Check licence and tenant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Activate the approved route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Record the fallback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1 — Professional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Office add-ins</a:t>
            </a:r>
          </a:p>
          <a:p>
            <a:pPr algn="l">
              <a:spcAft>
                <a:spcPts val="300"/>
              </a:spcAft>
            </a:pPr>
            <a:r>
              <a:rPr sz="1200" b="0">
                <a:solidFill>
                  <a:srgbClr val="5B6372"/>
                </a:solidFill>
                <a:latin typeface="Arial"/>
              </a:rPr>
              <a:t>Best for editing the open Word, Excel, PowerPoint or Outlook item in its native structure.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M365 connector</a:t>
            </a:r>
          </a:p>
          <a:p>
            <a:pPr algn="l">
              <a:spcAft>
                <a:spcPts val="300"/>
              </a:spcAft>
            </a:pPr>
            <a:r>
              <a:rPr sz="1200" b="0">
                <a:solidFill>
                  <a:srgbClr val="5B6372"/>
                </a:solidFill>
                <a:latin typeface="Arial"/>
              </a:rPr>
              <a:t>Best for searching approved SharePoint, OneDrive, Outlook and Teams context from Claude.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Claude Cowork</a:t>
            </a:r>
          </a:p>
          <a:p>
            <a:pPr algn="l">
              <a:spcAft>
                <a:spcPts val="300"/>
              </a:spcAft>
            </a:pPr>
            <a:r>
              <a:rPr sz="1200" b="0">
                <a:solidFill>
                  <a:srgbClr val="5B6372"/>
                </a:solidFill>
                <a:latin typeface="Arial"/>
              </a:rPr>
              <a:t>Best for a bounded multi-step task across a folder, Project and connected tools.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Copilot experiences</a:t>
            </a:r>
          </a:p>
          <a:p>
            <a:pPr algn="l">
              <a:spcAft>
                <a:spcPts val="300"/>
              </a:spcAft>
            </a:pPr>
            <a:r>
              <a:rPr sz="1200" b="0">
                <a:solidFill>
                  <a:srgbClr val="5B6372"/>
                </a:solidFill>
                <a:latin typeface="Arial"/>
              </a:rPr>
              <a:t>A separate Microsoft-managed surface whose availability and governance depend on the tenant.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Choose and Activate the Right Claude Surface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127A3E"/>
                </a:solidFill>
                <a:latin typeface="Arial"/>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161B26"/>
                </a:solidFill>
                <a:latin typeface="Arial"/>
              </a:rPr>
              <a:t>Every example task has one preferred surface, one governed fallback, a permission owner and a human approval point; no credential is stored in any learner-facing file.</a:t>
            </a:r>
          </a:p>
        </p:txBody>
      </p:sp>
      <p:sp>
        <p:nvSpPr>
          <p:cNvPr id="10" name="Rectangle 9"/>
          <p:cNvSpPr/>
          <p:nvPr/>
        </p:nvSpPr>
        <p:spPr>
          <a:xfrm>
            <a:off x="777240"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1F6FEB"/>
                </a:solidFill>
                <a:latin typeface="Arial"/>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10B981"/>
                </a:solidFill>
                <a:latin typeface="Arial"/>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7C3AED"/>
                </a:solidFill>
                <a:latin typeface="Arial"/>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Connect Microsoft 365 Context and Map Permissions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Build a source-and-permission register for Lumina Living's SharePoint, OneDrive, Outlook and Teams planning evidence.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least-privilege source register with access status, evidence owner, retention note and approved use.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Microsoft 365 connector, Microsoft Entra, delegated permissions, SharePoint, OneDrive, Outlook, Teams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SCREENSHOT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Claude-Generated Company Work Sample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32104" y="2448978"/>
            <a:ext cx="3493008" cy="28927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ab-02-artifact.png"/>
          <p:cNvPicPr>
            <a:picLocks noChangeAspect="1"/>
          </p:cNvPicPr>
          <p:nvPr/>
        </p:nvPicPr>
        <p:blipFill>
          <a:blip r:embed="rId2"/>
          <a:stretch>
            <a:fillRect/>
          </a:stretch>
        </p:blipFill>
        <p:spPr>
          <a:xfrm>
            <a:off x="877824" y="2494698"/>
            <a:ext cx="3401568" cy="2801291"/>
          </a:xfrm>
          <a:prstGeom prst="rect">
            <a:avLst/>
          </a:prstGeom>
        </p:spPr>
      </p:pic>
      <p:sp>
        <p:nvSpPr>
          <p:cNvPr id="9" name="TextBox 8"/>
          <p:cNvSpPr txBox="1"/>
          <p:nvPr/>
        </p:nvSpPr>
        <p:spPr>
          <a:xfrm>
            <a:off x="4736592" y="1901952"/>
            <a:ext cx="6510528" cy="347472"/>
          </a:xfrm>
          <a:prstGeom prst="rect">
            <a:avLst/>
          </a:prstGeom>
          <a:noFill/>
        </p:spPr>
        <p:txBody>
          <a:bodyPr wrap="square" anchor="t">
            <a:spAutoFit/>
          </a:bodyPr>
          <a:lstStyle/>
          <a:p>
            <a:pPr algn="l">
              <a:spcAft>
                <a:spcPts val="400"/>
              </a:spcAft>
            </a:pPr>
            <a:r>
              <a:rPr sz="1200" b="1">
                <a:solidFill>
                  <a:srgbClr val="10B981"/>
                </a:solidFill>
                <a:latin typeface="Arial"/>
              </a:rPr>
              <a:t>WHAT TO NOTICE</a:t>
            </a:r>
          </a:p>
        </p:txBody>
      </p:sp>
      <p:sp>
        <p:nvSpPr>
          <p:cNvPr id="10" name="Rectangle 9"/>
          <p:cNvSpPr/>
          <p:nvPr/>
        </p:nvSpPr>
        <p:spPr>
          <a:xfrm>
            <a:off x="4736592" y="2395728"/>
            <a:ext cx="6510528"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36592" y="2395728"/>
            <a:ext cx="731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919472" y="262432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19472" y="2624328"/>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4" name="TextBox 13"/>
          <p:cNvSpPr txBox="1"/>
          <p:nvPr/>
        </p:nvSpPr>
        <p:spPr>
          <a:xfrm>
            <a:off x="5541264" y="2514600"/>
            <a:ext cx="5504688" cy="676656"/>
          </a:xfrm>
          <a:prstGeom prst="rect">
            <a:avLst/>
          </a:prstGeom>
          <a:noFill/>
        </p:spPr>
        <p:txBody>
          <a:bodyPr wrap="square" anchor="ctr">
            <a:spAutoFit/>
          </a:bodyPr>
          <a:lstStyle/>
          <a:p>
            <a:pPr algn="l">
              <a:spcAft>
                <a:spcPts val="200"/>
              </a:spcAft>
            </a:pPr>
            <a:r>
              <a:rPr sz="1300" b="1">
                <a:solidFill>
                  <a:srgbClr val="1F6FEB"/>
                </a:solidFill>
                <a:latin typeface="Arial"/>
              </a:rPr>
              <a:t>Business outcome</a:t>
            </a:r>
          </a:p>
          <a:p>
            <a:pPr algn="l">
              <a:spcAft>
                <a:spcPts val="200"/>
              </a:spcAft>
            </a:pPr>
            <a:r>
              <a:rPr sz="1100" b="0">
                <a:solidFill>
                  <a:srgbClr val="161B26"/>
                </a:solidFill>
                <a:latin typeface="Arial"/>
              </a:rPr>
              <a:t>The opening section states the management decision and intended use.</a:t>
            </a:r>
          </a:p>
        </p:txBody>
      </p:sp>
      <p:sp>
        <p:nvSpPr>
          <p:cNvPr id="15" name="Rectangle 14"/>
          <p:cNvSpPr/>
          <p:nvPr/>
        </p:nvSpPr>
        <p:spPr>
          <a:xfrm>
            <a:off x="4736592" y="3493008"/>
            <a:ext cx="6510528"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736592" y="3493008"/>
            <a:ext cx="73152"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919472" y="372160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19472" y="3721608"/>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9" name="TextBox 18"/>
          <p:cNvSpPr txBox="1"/>
          <p:nvPr/>
        </p:nvSpPr>
        <p:spPr>
          <a:xfrm>
            <a:off x="5541264" y="3611880"/>
            <a:ext cx="5504688" cy="676656"/>
          </a:xfrm>
          <a:prstGeom prst="rect">
            <a:avLst/>
          </a:prstGeom>
          <a:noFill/>
        </p:spPr>
        <p:txBody>
          <a:bodyPr wrap="square" anchor="ctr">
            <a:spAutoFit/>
          </a:bodyPr>
          <a:lstStyle/>
          <a:p>
            <a:pPr algn="l">
              <a:spcAft>
                <a:spcPts val="200"/>
              </a:spcAft>
            </a:pPr>
            <a:r>
              <a:rPr sz="1300" b="1">
                <a:solidFill>
                  <a:srgbClr val="10B981"/>
                </a:solidFill>
                <a:latin typeface="Arial"/>
              </a:rPr>
              <a:t>Evidence structure</a:t>
            </a:r>
          </a:p>
          <a:p>
            <a:pPr algn="l">
              <a:spcAft>
                <a:spcPts val="200"/>
              </a:spcAft>
            </a:pPr>
            <a:r>
              <a:rPr sz="1100" b="0">
                <a:solidFill>
                  <a:srgbClr val="161B26"/>
                </a:solidFill>
                <a:latin typeface="Arial"/>
              </a:rPr>
              <a:t>Headings, tables and source notes make claims reviewable in native Word.</a:t>
            </a:r>
          </a:p>
        </p:txBody>
      </p:sp>
      <p:sp>
        <p:nvSpPr>
          <p:cNvPr id="20" name="Rectangle 19"/>
          <p:cNvSpPr/>
          <p:nvPr/>
        </p:nvSpPr>
        <p:spPr>
          <a:xfrm>
            <a:off x="4736592" y="4590288"/>
            <a:ext cx="6510528"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736592" y="4590288"/>
            <a:ext cx="7315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9472" y="4818888"/>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9472" y="4818888"/>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4" name="TextBox 23"/>
          <p:cNvSpPr txBox="1"/>
          <p:nvPr/>
        </p:nvSpPr>
        <p:spPr>
          <a:xfrm>
            <a:off x="5541264" y="4709160"/>
            <a:ext cx="5504688" cy="676656"/>
          </a:xfrm>
          <a:prstGeom prst="rect">
            <a:avLst/>
          </a:prstGeom>
          <a:noFill/>
        </p:spPr>
        <p:txBody>
          <a:bodyPr wrap="square" anchor="ctr">
            <a:spAutoFit/>
          </a:bodyPr>
          <a:lstStyle/>
          <a:p>
            <a:pPr algn="l">
              <a:spcAft>
                <a:spcPts val="200"/>
              </a:spcAft>
            </a:pPr>
            <a:r>
              <a:rPr sz="1300" b="1">
                <a:solidFill>
                  <a:srgbClr val="7C3AED"/>
                </a:solidFill>
                <a:latin typeface="Arial"/>
              </a:rPr>
              <a:t>Approval boundary</a:t>
            </a:r>
          </a:p>
          <a:p>
            <a:pPr algn="l">
              <a:spcAft>
                <a:spcPts val="200"/>
              </a:spcAft>
            </a:pPr>
            <a:r>
              <a:rPr sz="1100" b="0">
                <a:solidFill>
                  <a:srgbClr val="161B26"/>
                </a:solidFill>
                <a:latin typeface="Arial"/>
              </a:rPr>
              <a:t>The status and named reviewer remain visible before release or send.</a:t>
            </a:r>
          </a:p>
        </p:txBody>
      </p:sp>
      <p:sp>
        <p:nvSpPr>
          <p:cNvPr id="25" name="TextBox 24"/>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5B6372"/>
                </a:solidFill>
                <a:latin typeface="Arial"/>
              </a:rPr>
              <a:t>A rendered preview of the realistic Word, Excel or PowerPoint artifact supplied in this lab folder.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2 — Process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Inventory sources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Assign owners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Grant tenant consent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Connect individually</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Test read before write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2 — Professional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Delegated access</a:t>
            </a:r>
          </a:p>
          <a:p>
            <a:pPr algn="l">
              <a:spcAft>
                <a:spcPts val="300"/>
              </a:spcAft>
            </a:pPr>
            <a:r>
              <a:rPr sz="1200" b="0">
                <a:solidFill>
                  <a:srgbClr val="5B6372"/>
                </a:solidFill>
                <a:latin typeface="Arial"/>
              </a:rPr>
              <a:t>Claude acts through the signed-in user and cannot exceed that user's Microsoft 365 permissions.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Read-first rollout</a:t>
            </a:r>
          </a:p>
          <a:p>
            <a:pPr algn="l">
              <a:spcAft>
                <a:spcPts val="300"/>
              </a:spcAft>
            </a:pPr>
            <a:r>
              <a:rPr sz="1200" b="0">
                <a:solidFill>
                  <a:srgbClr val="5B6372"/>
                </a:solidFill>
                <a:latin typeface="Arial"/>
              </a:rPr>
              <a:t>Search and summarise approved context before enabling any create, update or send capability.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Two consent layers</a:t>
            </a:r>
          </a:p>
          <a:p>
            <a:pPr algn="l">
              <a:spcAft>
                <a:spcPts val="300"/>
              </a:spcAft>
            </a:pPr>
            <a:r>
              <a:rPr sz="1200" b="0">
                <a:solidFill>
                  <a:srgbClr val="5B6372"/>
                </a:solidFill>
                <a:latin typeface="Arial"/>
              </a:rPr>
              <a:t>Organisation enablement and Microsoft Entra administrator consent precede individual connection.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Write-tool boundary</a:t>
            </a:r>
          </a:p>
          <a:p>
            <a:pPr algn="l">
              <a:spcAft>
                <a:spcPts val="300"/>
              </a:spcAft>
            </a:pPr>
            <a:r>
              <a:rPr sz="1200" b="0">
                <a:solidFill>
                  <a:srgbClr val="5B6372"/>
                </a:solidFill>
                <a:latin typeface="Arial"/>
              </a:rPr>
              <a:t>Email, calendar and file writes need additional scopes, policy approval and stronger review.</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Connect Microsoft 365 Context and Map Permissions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127A3E"/>
                </a:solidFill>
                <a:latin typeface="Arial"/>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161B26"/>
                </a:solidFill>
                <a:latin typeface="Arial"/>
              </a:rPr>
              <a:t>The source register reconciles to the connector results, every source has an owner and approved use, and write tools are either explicitly authorised or documented as unavailable.</a:t>
            </a:r>
          </a:p>
        </p:txBody>
      </p:sp>
      <p:sp>
        <p:nvSpPr>
          <p:cNvPr id="10" name="Rectangle 9"/>
          <p:cNvSpPr/>
          <p:nvPr/>
        </p:nvSpPr>
        <p:spPr>
          <a:xfrm>
            <a:off x="777240"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1F6FEB"/>
                </a:solidFill>
                <a:latin typeface="Arial"/>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10B981"/>
                </a:solidFill>
                <a:latin typeface="Arial"/>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7C3AED"/>
                </a:solidFill>
                <a:latin typeface="Arial"/>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Build an Auditable Prompt and Review Contract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Turn vague requests into professional prompt contracts for Word, Excel and PowerPoint, then log evidence and review outcomes.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reusable cross-app prompt library, prompt test log and acceptance checklist.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Prompt architecture, evidence clauses, stop rules, output contracts, review log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SCREENSHOT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Claude-Generated Company Work Sample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32104" y="2448978"/>
            <a:ext cx="3493008" cy="289273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ab-03-artifact.png"/>
          <p:cNvPicPr>
            <a:picLocks noChangeAspect="1"/>
          </p:cNvPicPr>
          <p:nvPr/>
        </p:nvPicPr>
        <p:blipFill>
          <a:blip r:embed="rId2"/>
          <a:stretch>
            <a:fillRect/>
          </a:stretch>
        </p:blipFill>
        <p:spPr>
          <a:xfrm>
            <a:off x="877824" y="2494698"/>
            <a:ext cx="3401568" cy="2801291"/>
          </a:xfrm>
          <a:prstGeom prst="rect">
            <a:avLst/>
          </a:prstGeom>
        </p:spPr>
      </p:pic>
      <p:sp>
        <p:nvSpPr>
          <p:cNvPr id="9" name="TextBox 8"/>
          <p:cNvSpPr txBox="1"/>
          <p:nvPr/>
        </p:nvSpPr>
        <p:spPr>
          <a:xfrm>
            <a:off x="4736592" y="1901952"/>
            <a:ext cx="6510528" cy="347472"/>
          </a:xfrm>
          <a:prstGeom prst="rect">
            <a:avLst/>
          </a:prstGeom>
          <a:noFill/>
        </p:spPr>
        <p:txBody>
          <a:bodyPr wrap="square" anchor="t">
            <a:spAutoFit/>
          </a:bodyPr>
          <a:lstStyle/>
          <a:p>
            <a:pPr algn="l">
              <a:spcAft>
                <a:spcPts val="400"/>
              </a:spcAft>
            </a:pPr>
            <a:r>
              <a:rPr sz="1200" b="1">
                <a:solidFill>
                  <a:srgbClr val="10B981"/>
                </a:solidFill>
                <a:latin typeface="Arial"/>
              </a:rPr>
              <a:t>WHAT TO NOTICE</a:t>
            </a:r>
          </a:p>
        </p:txBody>
      </p:sp>
      <p:sp>
        <p:nvSpPr>
          <p:cNvPr id="10" name="Rectangle 9"/>
          <p:cNvSpPr/>
          <p:nvPr/>
        </p:nvSpPr>
        <p:spPr>
          <a:xfrm>
            <a:off x="4736592" y="2395728"/>
            <a:ext cx="6510528"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36592" y="2395728"/>
            <a:ext cx="731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919472" y="262432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19472" y="2624328"/>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4" name="TextBox 13"/>
          <p:cNvSpPr txBox="1"/>
          <p:nvPr/>
        </p:nvSpPr>
        <p:spPr>
          <a:xfrm>
            <a:off x="5541264" y="2514600"/>
            <a:ext cx="5504688" cy="676656"/>
          </a:xfrm>
          <a:prstGeom prst="rect">
            <a:avLst/>
          </a:prstGeom>
          <a:noFill/>
        </p:spPr>
        <p:txBody>
          <a:bodyPr wrap="square" anchor="ctr">
            <a:spAutoFit/>
          </a:bodyPr>
          <a:lstStyle/>
          <a:p>
            <a:pPr algn="l">
              <a:spcAft>
                <a:spcPts val="200"/>
              </a:spcAft>
            </a:pPr>
            <a:r>
              <a:rPr sz="1300" b="1">
                <a:solidFill>
                  <a:srgbClr val="1F6FEB"/>
                </a:solidFill>
                <a:latin typeface="Arial"/>
              </a:rPr>
              <a:t>Business outcome</a:t>
            </a:r>
          </a:p>
          <a:p>
            <a:pPr algn="l">
              <a:spcAft>
                <a:spcPts val="200"/>
              </a:spcAft>
            </a:pPr>
            <a:r>
              <a:rPr sz="1100" b="0">
                <a:solidFill>
                  <a:srgbClr val="161B26"/>
                </a:solidFill>
                <a:latin typeface="Arial"/>
              </a:rPr>
              <a:t>The opening section states the management decision and intended use.</a:t>
            </a:r>
          </a:p>
        </p:txBody>
      </p:sp>
      <p:sp>
        <p:nvSpPr>
          <p:cNvPr id="15" name="Rectangle 14"/>
          <p:cNvSpPr/>
          <p:nvPr/>
        </p:nvSpPr>
        <p:spPr>
          <a:xfrm>
            <a:off x="4736592" y="3493008"/>
            <a:ext cx="6510528"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736592" y="3493008"/>
            <a:ext cx="73152"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919472" y="372160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19472" y="3721608"/>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9" name="TextBox 18"/>
          <p:cNvSpPr txBox="1"/>
          <p:nvPr/>
        </p:nvSpPr>
        <p:spPr>
          <a:xfrm>
            <a:off x="5541264" y="3611880"/>
            <a:ext cx="5504688" cy="676656"/>
          </a:xfrm>
          <a:prstGeom prst="rect">
            <a:avLst/>
          </a:prstGeom>
          <a:noFill/>
        </p:spPr>
        <p:txBody>
          <a:bodyPr wrap="square" anchor="ctr">
            <a:spAutoFit/>
          </a:bodyPr>
          <a:lstStyle/>
          <a:p>
            <a:pPr algn="l">
              <a:spcAft>
                <a:spcPts val="200"/>
              </a:spcAft>
            </a:pPr>
            <a:r>
              <a:rPr sz="1300" b="1">
                <a:solidFill>
                  <a:srgbClr val="10B981"/>
                </a:solidFill>
                <a:latin typeface="Arial"/>
              </a:rPr>
              <a:t>Evidence structure</a:t>
            </a:r>
          </a:p>
          <a:p>
            <a:pPr algn="l">
              <a:spcAft>
                <a:spcPts val="200"/>
              </a:spcAft>
            </a:pPr>
            <a:r>
              <a:rPr sz="1100" b="0">
                <a:solidFill>
                  <a:srgbClr val="161B26"/>
                </a:solidFill>
                <a:latin typeface="Arial"/>
              </a:rPr>
              <a:t>Headings, tables and source notes make claims reviewable in native Word.</a:t>
            </a:r>
          </a:p>
        </p:txBody>
      </p:sp>
      <p:sp>
        <p:nvSpPr>
          <p:cNvPr id="20" name="Rectangle 19"/>
          <p:cNvSpPr/>
          <p:nvPr/>
        </p:nvSpPr>
        <p:spPr>
          <a:xfrm>
            <a:off x="4736592" y="4590288"/>
            <a:ext cx="6510528"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736592" y="4590288"/>
            <a:ext cx="7315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9472" y="4818888"/>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9472" y="4818888"/>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4" name="TextBox 23"/>
          <p:cNvSpPr txBox="1"/>
          <p:nvPr/>
        </p:nvSpPr>
        <p:spPr>
          <a:xfrm>
            <a:off x="5541264" y="4709160"/>
            <a:ext cx="5504688" cy="676656"/>
          </a:xfrm>
          <a:prstGeom prst="rect">
            <a:avLst/>
          </a:prstGeom>
          <a:noFill/>
        </p:spPr>
        <p:txBody>
          <a:bodyPr wrap="square" anchor="ctr">
            <a:spAutoFit/>
          </a:bodyPr>
          <a:lstStyle/>
          <a:p>
            <a:pPr algn="l">
              <a:spcAft>
                <a:spcPts val="200"/>
              </a:spcAft>
            </a:pPr>
            <a:r>
              <a:rPr sz="1300" b="1">
                <a:solidFill>
                  <a:srgbClr val="7C3AED"/>
                </a:solidFill>
                <a:latin typeface="Arial"/>
              </a:rPr>
              <a:t>Approval boundary</a:t>
            </a:r>
          </a:p>
          <a:p>
            <a:pPr algn="l">
              <a:spcAft>
                <a:spcPts val="200"/>
              </a:spcAft>
            </a:pPr>
            <a:r>
              <a:rPr sz="1100" b="0">
                <a:solidFill>
                  <a:srgbClr val="161B26"/>
                </a:solidFill>
                <a:latin typeface="Arial"/>
              </a:rPr>
              <a:t>The status and named reviewer remain visible before release or send.</a:t>
            </a:r>
          </a:p>
        </p:txBody>
      </p:sp>
      <p:sp>
        <p:nvSpPr>
          <p:cNvPr id="25" name="TextBox 24"/>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5B6372"/>
                </a:solidFill>
                <a:latin typeface="Arial"/>
              </a:rPr>
              <a:t>A rendered preview of the realistic Word, Excel or PowerPoint artifact supplied in this lab folder.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3 — Process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Business outcome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Named evidence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Constraints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Output contract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Verification and approval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3 — Professional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Outcome</a:t>
            </a:r>
          </a:p>
          <a:p>
            <a:pPr algn="l">
              <a:spcAft>
                <a:spcPts val="300"/>
              </a:spcAft>
            </a:pPr>
            <a:r>
              <a:rPr sz="1200" b="0">
                <a:solidFill>
                  <a:srgbClr val="5B6372"/>
                </a:solidFill>
                <a:latin typeface="Arial"/>
              </a:rPr>
              <a:t>Name the decision, audience and work product instead of asking for generic help.</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Evidence</a:t>
            </a:r>
          </a:p>
          <a:p>
            <a:pPr algn="l">
              <a:spcAft>
                <a:spcPts val="300"/>
              </a:spcAft>
            </a:pPr>
            <a:r>
              <a:rPr sz="1200" b="0">
                <a:solidFill>
                  <a:srgbClr val="5B6372"/>
                </a:solidFill>
                <a:latin typeface="Arial"/>
              </a:rPr>
              <a:t>Name the open file, table, range, section or messages and require citations.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Constraints</a:t>
            </a:r>
          </a:p>
          <a:p>
            <a:pPr algn="l">
              <a:spcAft>
                <a:spcPts val="300"/>
              </a:spcAft>
            </a:pPr>
            <a:r>
              <a:rPr sz="1200" b="0">
                <a:solidFill>
                  <a:srgbClr val="5B6372"/>
                </a:solidFill>
                <a:latin typeface="Arial"/>
              </a:rPr>
              <a:t>Specify what must be preserved, excluded, limited or escalated.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Approval</a:t>
            </a:r>
          </a:p>
          <a:p>
            <a:pPr algn="l">
              <a:spcAft>
                <a:spcPts val="300"/>
              </a:spcAft>
            </a:pPr>
            <a:r>
              <a:rPr sz="1200" b="0">
                <a:solidFill>
                  <a:srgbClr val="5B6372"/>
                </a:solidFill>
                <a:latin typeface="Arial"/>
              </a:rPr>
              <a:t>Ask for a proposal first and keep final acceptance, save and send with the authorised user.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Build an Auditable Prompt and Review Contract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127A3E"/>
                </a:solidFill>
                <a:latin typeface="Arial"/>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161B26"/>
                </a:solidFill>
                <a:latin typeface="Arial"/>
              </a:rPr>
              <a:t>The Word, Excel and PowerPoint prompts each name a business result, approved evidence, constraints, output format, verification method, stop rule and human approval gate.</a:t>
            </a:r>
          </a:p>
        </p:txBody>
      </p:sp>
      <p:sp>
        <p:nvSpPr>
          <p:cNvPr id="10" name="Rectangle 9"/>
          <p:cNvSpPr/>
          <p:nvPr/>
        </p:nvSpPr>
        <p:spPr>
          <a:xfrm>
            <a:off x="777240"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1F6FEB"/>
                </a:solidFill>
                <a:latin typeface="Arial"/>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10B981"/>
                </a:solidFill>
                <a:latin typeface="Arial"/>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7C3AED"/>
                </a:solidFill>
                <a:latin typeface="Arial"/>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1700" b="1">
                <a:solidFill>
                  <a:srgbClr val="161B26"/>
                </a:solidFill>
                <a:latin typeface="Arial"/>
              </a:rPr>
              <a:t>Recap — Governed Foundations for Claude and Microsoft 365</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Capability — Select and activate the Claude surface that fits a governed Lumina Living task.</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Evidence retained — A completed operating-surface decision matrix and environment-readiness record.</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Capability — Connect approved Microsoft 365 context and map what Claude may read or write.</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Evidence retained — A least-privilege source register with access status, evidence owner, retention note and approved use.</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Capability — Write reusable prompts that ground evidence, constrain edits and define human approval.</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Evidence retained — A reusable cross-app prompt library, prompt test log and acceptance checklist.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Company Planning, Reporting and Policy Work</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Marketing planning · strategic planning · sustainability reporting · HR policy · management review</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28%</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1700" b="1">
                <a:solidFill>
                  <a:srgbClr val="161B26"/>
                </a:solidFill>
                <a:latin typeface="Arial"/>
              </a:rPr>
              <a:t>Key Concepts — Company Planning, Reporting and Policy 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Marketing planning — connect business goals, customer segments, channel choices, campaign actions, budget and measurable outcomes.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Strategic planning — turn evidence into explicit choices, initiatives, owners, dependencies, targets and review dates.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Sustainability reporting — define the reporting boundary, method, source owner and limitation before drafting a credible narrative.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HR policy — separate policy intent, operational procedure and legal interpretation; require authorised HR and legal review before release.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Template fidelity — work inside approved Word styles and tables so outputs fit the company's document system rather than becoming detached chat text.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Management review — label facts, calculations, assumptions and recommendations so decision makers can challenge each layer.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1700" b="1">
                <a:solidFill>
                  <a:srgbClr val="161B26"/>
                </a:solidFill>
                <a:latin typeface="Arial"/>
              </a:rPr>
              <a:t>Hands-On Labs — Company Planning, Reporting and Policy 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880360" cy="548640"/>
          </a:xfrm>
          <a:prstGeom prst="rect">
            <a:avLst/>
          </a:prstGeom>
          <a:noFill/>
        </p:spPr>
        <p:txBody>
          <a:bodyPr wrap="square" anchor="t">
            <a:spAutoFit/>
          </a:bodyPr>
          <a:lstStyle/>
          <a:p>
            <a:pPr algn="l">
              <a:spcAft>
                <a:spcPts val="400"/>
              </a:spcAft>
            </a:pPr>
            <a:r>
              <a:rPr sz="1900" b="1">
                <a:solidFill>
                  <a:srgbClr val="1F6FEB"/>
                </a:solidFill>
                <a:latin typeface="Arial"/>
              </a:rPr>
              <a:t>Lab 4</a:t>
            </a:r>
          </a:p>
        </p:txBody>
      </p:sp>
      <p:sp>
        <p:nvSpPr>
          <p:cNvPr id="10" name="TextBox 9"/>
          <p:cNvSpPr txBox="1"/>
          <p:nvPr/>
        </p:nvSpPr>
        <p:spPr>
          <a:xfrm>
            <a:off x="1005840" y="2697480"/>
            <a:ext cx="2880360" cy="3108960"/>
          </a:xfrm>
          <a:prstGeom prst="rect">
            <a:avLst/>
          </a:prstGeom>
          <a:noFill/>
        </p:spPr>
        <p:txBody>
          <a:bodyPr wrap="square">
            <a:spAutoFit/>
          </a:bodyPr>
          <a:lstStyle/>
          <a:p>
            <a:pPr>
              <a:spcAft>
                <a:spcPts val="900"/>
              </a:spcAft>
            </a:pPr>
            <a:r>
              <a:rPr sz="1400" b="0">
                <a:solidFill>
                  <a:srgbClr val="161B26"/>
                </a:solidFill>
                <a:latin typeface="Arial"/>
              </a:rPr>
              <a:t>•  Create a Company Marketing Plan in Word — A reviewed FY2027 marketing plan in Word with an evidence appendix and management decision page.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880360" cy="548640"/>
          </a:xfrm>
          <a:prstGeom prst="rect">
            <a:avLst/>
          </a:prstGeom>
          <a:noFill/>
        </p:spPr>
        <p:txBody>
          <a:bodyPr wrap="square" anchor="t">
            <a:spAutoFit/>
          </a:bodyPr>
          <a:lstStyle/>
          <a:p>
            <a:pPr algn="l">
              <a:spcAft>
                <a:spcPts val="400"/>
              </a:spcAft>
            </a:pPr>
            <a:r>
              <a:rPr sz="1900" b="1">
                <a:solidFill>
                  <a:srgbClr val="10B981"/>
                </a:solidFill>
                <a:latin typeface="Arial"/>
              </a:rPr>
              <a:t>Lab 5</a:t>
            </a:r>
          </a:p>
        </p:txBody>
      </p:sp>
      <p:sp>
        <p:nvSpPr>
          <p:cNvPr id="14" name="TextBox 13"/>
          <p:cNvSpPr txBox="1"/>
          <p:nvPr/>
        </p:nvSpPr>
        <p:spPr>
          <a:xfrm>
            <a:off x="4800600" y="2697480"/>
            <a:ext cx="2880360" cy="3108960"/>
          </a:xfrm>
          <a:prstGeom prst="rect">
            <a:avLst/>
          </a:prstGeom>
          <a:noFill/>
        </p:spPr>
        <p:txBody>
          <a:bodyPr wrap="square">
            <a:spAutoFit/>
          </a:bodyPr>
          <a:lstStyle/>
          <a:p>
            <a:pPr>
              <a:spcAft>
                <a:spcPts val="900"/>
              </a:spcAft>
            </a:pPr>
            <a:r>
              <a:rPr sz="1400" b="0">
                <a:solidFill>
                  <a:srgbClr val="161B26"/>
                </a:solidFill>
                <a:latin typeface="Arial"/>
              </a:rPr>
              <a:t>•  Develop a Strategic Plan with Owners and Measures — A three-year strategic plan, initiative portfolio and quarterly review scorecard in Word and Excel.</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880360" cy="548640"/>
          </a:xfrm>
          <a:prstGeom prst="rect">
            <a:avLst/>
          </a:prstGeom>
          <a:noFill/>
        </p:spPr>
        <p:txBody>
          <a:bodyPr wrap="square" anchor="t">
            <a:spAutoFit/>
          </a:bodyPr>
          <a:lstStyle/>
          <a:p>
            <a:pPr algn="l">
              <a:spcAft>
                <a:spcPts val="400"/>
              </a:spcAft>
            </a:pPr>
            <a:r>
              <a:rPr sz="1900" b="1">
                <a:solidFill>
                  <a:srgbClr val="7C3AED"/>
                </a:solidFill>
                <a:latin typeface="Arial"/>
              </a:rPr>
              <a:t>Lab 6</a:t>
            </a:r>
          </a:p>
        </p:txBody>
      </p:sp>
      <p:sp>
        <p:nvSpPr>
          <p:cNvPr id="18" name="TextBox 17"/>
          <p:cNvSpPr txBox="1"/>
          <p:nvPr/>
        </p:nvSpPr>
        <p:spPr>
          <a:xfrm>
            <a:off x="8595360" y="2697480"/>
            <a:ext cx="2880360" cy="3108960"/>
          </a:xfrm>
          <a:prstGeom prst="rect">
            <a:avLst/>
          </a:prstGeom>
          <a:noFill/>
        </p:spPr>
        <p:txBody>
          <a:bodyPr wrap="square">
            <a:spAutoFit/>
          </a:bodyPr>
          <a:lstStyle/>
          <a:p>
            <a:pPr>
              <a:spcAft>
                <a:spcPts val="900"/>
              </a:spcAft>
            </a:pPr>
            <a:r>
              <a:rPr sz="1400" b="0">
                <a:solidFill>
                  <a:srgbClr val="161B26"/>
                </a:solidFill>
                <a:latin typeface="Arial"/>
              </a:rPr>
              <a:t>•  Draft Sustainability Reporting and HR Policy — A sustainability performance section, metric register and flexible-work policy draft with review and approval records.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Create a Company Marketing Plan in Word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Turn an approved commercial brief, customer evidence and budget envelope into a structured marketing plan with objectives, segments, channels, actions, KPIs and approvals.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reviewed FY2027 marketing plan in Word with an evidence appendix and management decision page.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Claude for Word, company styles, selected-text editing, comments, tracked changes, evidence register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SCREENSHOT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Claude-Generated Company Work Sample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32104" y="2391259"/>
            <a:ext cx="3493008" cy="300816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ab-04-artifact.png"/>
          <p:cNvPicPr>
            <a:picLocks noChangeAspect="1"/>
          </p:cNvPicPr>
          <p:nvPr/>
        </p:nvPicPr>
        <p:blipFill>
          <a:blip r:embed="rId2"/>
          <a:stretch>
            <a:fillRect/>
          </a:stretch>
        </p:blipFill>
        <p:spPr>
          <a:xfrm>
            <a:off x="877824" y="2436979"/>
            <a:ext cx="3401568" cy="2916729"/>
          </a:xfrm>
          <a:prstGeom prst="rect">
            <a:avLst/>
          </a:prstGeom>
        </p:spPr>
      </p:pic>
      <p:sp>
        <p:nvSpPr>
          <p:cNvPr id="9" name="TextBox 8"/>
          <p:cNvSpPr txBox="1"/>
          <p:nvPr/>
        </p:nvSpPr>
        <p:spPr>
          <a:xfrm>
            <a:off x="4736592" y="1901952"/>
            <a:ext cx="6510528" cy="347472"/>
          </a:xfrm>
          <a:prstGeom prst="rect">
            <a:avLst/>
          </a:prstGeom>
          <a:noFill/>
        </p:spPr>
        <p:txBody>
          <a:bodyPr wrap="square" anchor="t">
            <a:spAutoFit/>
          </a:bodyPr>
          <a:lstStyle/>
          <a:p>
            <a:pPr algn="l">
              <a:spcAft>
                <a:spcPts val="400"/>
              </a:spcAft>
            </a:pPr>
            <a:r>
              <a:rPr sz="1200" b="1">
                <a:solidFill>
                  <a:srgbClr val="10B981"/>
                </a:solidFill>
                <a:latin typeface="Arial"/>
              </a:rPr>
              <a:t>WHAT TO NOTICE</a:t>
            </a:r>
          </a:p>
        </p:txBody>
      </p:sp>
      <p:sp>
        <p:nvSpPr>
          <p:cNvPr id="10" name="Rectangle 9"/>
          <p:cNvSpPr/>
          <p:nvPr/>
        </p:nvSpPr>
        <p:spPr>
          <a:xfrm>
            <a:off x="4736592" y="2395728"/>
            <a:ext cx="6510528"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36592" y="2395728"/>
            <a:ext cx="731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919472" y="262432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19472" y="2624328"/>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4" name="TextBox 13"/>
          <p:cNvSpPr txBox="1"/>
          <p:nvPr/>
        </p:nvSpPr>
        <p:spPr>
          <a:xfrm>
            <a:off x="5541264" y="2514600"/>
            <a:ext cx="5504688" cy="676656"/>
          </a:xfrm>
          <a:prstGeom prst="rect">
            <a:avLst/>
          </a:prstGeom>
          <a:noFill/>
        </p:spPr>
        <p:txBody>
          <a:bodyPr wrap="square" anchor="ctr">
            <a:spAutoFit/>
          </a:bodyPr>
          <a:lstStyle/>
          <a:p>
            <a:pPr algn="l">
              <a:spcAft>
                <a:spcPts val="200"/>
              </a:spcAft>
            </a:pPr>
            <a:r>
              <a:rPr sz="1300" b="1">
                <a:solidFill>
                  <a:srgbClr val="1F6FEB"/>
                </a:solidFill>
                <a:latin typeface="Arial"/>
              </a:rPr>
              <a:t>Business outcome</a:t>
            </a:r>
          </a:p>
          <a:p>
            <a:pPr algn="l">
              <a:spcAft>
                <a:spcPts val="200"/>
              </a:spcAft>
            </a:pPr>
            <a:r>
              <a:rPr sz="1100" b="0">
                <a:solidFill>
                  <a:srgbClr val="161B26"/>
                </a:solidFill>
                <a:latin typeface="Arial"/>
              </a:rPr>
              <a:t>The opening section states the management decision and intended use.</a:t>
            </a:r>
          </a:p>
        </p:txBody>
      </p:sp>
      <p:sp>
        <p:nvSpPr>
          <p:cNvPr id="15" name="Rectangle 14"/>
          <p:cNvSpPr/>
          <p:nvPr/>
        </p:nvSpPr>
        <p:spPr>
          <a:xfrm>
            <a:off x="4736592" y="3493008"/>
            <a:ext cx="6510528"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736592" y="3493008"/>
            <a:ext cx="73152"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919472" y="372160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19472" y="3721608"/>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9" name="TextBox 18"/>
          <p:cNvSpPr txBox="1"/>
          <p:nvPr/>
        </p:nvSpPr>
        <p:spPr>
          <a:xfrm>
            <a:off x="5541264" y="3611880"/>
            <a:ext cx="5504688" cy="676656"/>
          </a:xfrm>
          <a:prstGeom prst="rect">
            <a:avLst/>
          </a:prstGeom>
          <a:noFill/>
        </p:spPr>
        <p:txBody>
          <a:bodyPr wrap="square" anchor="ctr">
            <a:spAutoFit/>
          </a:bodyPr>
          <a:lstStyle/>
          <a:p>
            <a:pPr algn="l">
              <a:spcAft>
                <a:spcPts val="200"/>
              </a:spcAft>
            </a:pPr>
            <a:r>
              <a:rPr sz="1300" b="1">
                <a:solidFill>
                  <a:srgbClr val="10B981"/>
                </a:solidFill>
                <a:latin typeface="Arial"/>
              </a:rPr>
              <a:t>Evidence structure</a:t>
            </a:r>
          </a:p>
          <a:p>
            <a:pPr algn="l">
              <a:spcAft>
                <a:spcPts val="200"/>
              </a:spcAft>
            </a:pPr>
            <a:r>
              <a:rPr sz="1100" b="0">
                <a:solidFill>
                  <a:srgbClr val="161B26"/>
                </a:solidFill>
                <a:latin typeface="Arial"/>
              </a:rPr>
              <a:t>Headings, tables and source notes make claims reviewable in native Word.</a:t>
            </a:r>
          </a:p>
        </p:txBody>
      </p:sp>
      <p:sp>
        <p:nvSpPr>
          <p:cNvPr id="20" name="Rectangle 19"/>
          <p:cNvSpPr/>
          <p:nvPr/>
        </p:nvSpPr>
        <p:spPr>
          <a:xfrm>
            <a:off x="4736592" y="4590288"/>
            <a:ext cx="6510528"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736592" y="4590288"/>
            <a:ext cx="7315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9472" y="4818888"/>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9472" y="4818888"/>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4" name="TextBox 23"/>
          <p:cNvSpPr txBox="1"/>
          <p:nvPr/>
        </p:nvSpPr>
        <p:spPr>
          <a:xfrm>
            <a:off x="5541264" y="4709160"/>
            <a:ext cx="5504688" cy="676656"/>
          </a:xfrm>
          <a:prstGeom prst="rect">
            <a:avLst/>
          </a:prstGeom>
          <a:noFill/>
        </p:spPr>
        <p:txBody>
          <a:bodyPr wrap="square" anchor="ctr">
            <a:spAutoFit/>
          </a:bodyPr>
          <a:lstStyle/>
          <a:p>
            <a:pPr algn="l">
              <a:spcAft>
                <a:spcPts val="200"/>
              </a:spcAft>
            </a:pPr>
            <a:r>
              <a:rPr sz="1300" b="1">
                <a:solidFill>
                  <a:srgbClr val="7C3AED"/>
                </a:solidFill>
                <a:latin typeface="Arial"/>
              </a:rPr>
              <a:t>Approval boundary</a:t>
            </a:r>
          </a:p>
          <a:p>
            <a:pPr algn="l">
              <a:spcAft>
                <a:spcPts val="200"/>
              </a:spcAft>
            </a:pPr>
            <a:r>
              <a:rPr sz="1100" b="0">
                <a:solidFill>
                  <a:srgbClr val="161B26"/>
                </a:solidFill>
                <a:latin typeface="Arial"/>
              </a:rPr>
              <a:t>The status and named reviewer remain visible before release or send.</a:t>
            </a:r>
          </a:p>
        </p:txBody>
      </p:sp>
      <p:sp>
        <p:nvSpPr>
          <p:cNvPr id="25" name="TextBox 24"/>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5B6372"/>
                </a:solidFill>
                <a:latin typeface="Arial"/>
              </a:rPr>
              <a:t>A rendered preview of the realistic Word, Excel or PowerPoint artifact supplied in this lab folder.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4 — Process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Commercial objective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Customer evidence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Channel choices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Campaign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Measures and approval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4 — Professional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Choice, not a list</a:t>
            </a:r>
          </a:p>
          <a:p>
            <a:pPr algn="l">
              <a:spcAft>
                <a:spcPts val="300"/>
              </a:spcAft>
            </a:pPr>
            <a:r>
              <a:rPr sz="1200" b="0">
                <a:solidFill>
                  <a:srgbClr val="5B6372"/>
                </a:solidFill>
                <a:latin typeface="Arial"/>
              </a:rPr>
              <a:t>Prioritise segments and channels; explain what the company will not fund.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Budget connects to action</a:t>
            </a:r>
          </a:p>
          <a:p>
            <a:pPr algn="l">
              <a:spcAft>
                <a:spcPts val="300"/>
              </a:spcAft>
            </a:pPr>
            <a:r>
              <a:rPr sz="1200" b="0">
                <a:solidFill>
                  <a:srgbClr val="5B6372"/>
                </a:solidFill>
                <a:latin typeface="Arial"/>
              </a:rPr>
              <a:t>Every major campaign has an owner, cost, measure and review date.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Evidence stays visible</a:t>
            </a:r>
          </a:p>
          <a:p>
            <a:pPr algn="l">
              <a:spcAft>
                <a:spcPts val="300"/>
              </a:spcAft>
            </a:pPr>
            <a:r>
              <a:rPr sz="1200" b="0">
                <a:solidFill>
                  <a:srgbClr val="5B6372"/>
                </a:solidFill>
                <a:latin typeface="Arial"/>
              </a:rPr>
              <a:t>Cite the customer or financial source behind each material recommendation.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Native Word structure</a:t>
            </a:r>
          </a:p>
          <a:p>
            <a:pPr algn="l">
              <a:spcAft>
                <a:spcPts val="300"/>
              </a:spcAft>
            </a:pPr>
            <a:r>
              <a:rPr sz="1200" b="0">
                <a:solidFill>
                  <a:srgbClr val="5B6372"/>
                </a:solidFill>
                <a:latin typeface="Arial"/>
              </a:rPr>
              <a:t>Preserve approved headings, tables, numbering, comments and change tracking.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Create a Company Marketing Plan in Word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127A3E"/>
                </a:solidFill>
                <a:latin typeface="Arial"/>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161B26"/>
                </a:solidFill>
                <a:latin typeface="Arial"/>
              </a:rPr>
              <a:t>The Word plan uses company styles, reconciles to the marketing budget, contains three clear choices and one non-priority, and every material claim has a source or missing-evidence flag.</a:t>
            </a:r>
          </a:p>
        </p:txBody>
      </p:sp>
      <p:sp>
        <p:nvSpPr>
          <p:cNvPr id="10" name="Rectangle 9"/>
          <p:cNvSpPr/>
          <p:nvPr/>
        </p:nvSpPr>
        <p:spPr>
          <a:xfrm>
            <a:off x="777240"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1F6FEB"/>
                </a:solidFill>
                <a:latin typeface="Arial"/>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10B981"/>
                </a:solidFill>
                <a:latin typeface="Arial"/>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7C3AED"/>
                </a:solidFill>
                <a:latin typeface="Arial"/>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Develop a Strategic Plan with Owners and Measures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Translate Lumina Living's ambition into a strategy-on-a-page, initiative portfolio and governance rhythm that management can execute.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three-year strategic plan, initiative portfolio and quarterly review scorecard in Word and Excel.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Claude for Word, Claude for Excel, strategy-on-a-page, initiative portfolio, risk and dependency review</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SCREENSHOT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Claude-Generated Company Work Sample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32104" y="2250810"/>
            <a:ext cx="3493008" cy="3289067"/>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ab-05-artifact.png"/>
          <p:cNvPicPr>
            <a:picLocks noChangeAspect="1"/>
          </p:cNvPicPr>
          <p:nvPr/>
        </p:nvPicPr>
        <p:blipFill>
          <a:blip r:embed="rId2"/>
          <a:stretch>
            <a:fillRect/>
          </a:stretch>
        </p:blipFill>
        <p:spPr>
          <a:xfrm>
            <a:off x="877824" y="2296530"/>
            <a:ext cx="3401568" cy="3197627"/>
          </a:xfrm>
          <a:prstGeom prst="rect">
            <a:avLst/>
          </a:prstGeom>
        </p:spPr>
      </p:pic>
      <p:sp>
        <p:nvSpPr>
          <p:cNvPr id="9" name="TextBox 8"/>
          <p:cNvSpPr txBox="1"/>
          <p:nvPr/>
        </p:nvSpPr>
        <p:spPr>
          <a:xfrm>
            <a:off x="4736592" y="1901952"/>
            <a:ext cx="6510528" cy="347472"/>
          </a:xfrm>
          <a:prstGeom prst="rect">
            <a:avLst/>
          </a:prstGeom>
          <a:noFill/>
        </p:spPr>
        <p:txBody>
          <a:bodyPr wrap="square" anchor="t">
            <a:spAutoFit/>
          </a:bodyPr>
          <a:lstStyle/>
          <a:p>
            <a:pPr algn="l">
              <a:spcAft>
                <a:spcPts val="400"/>
              </a:spcAft>
            </a:pPr>
            <a:r>
              <a:rPr sz="1200" b="1">
                <a:solidFill>
                  <a:srgbClr val="10B981"/>
                </a:solidFill>
                <a:latin typeface="Arial"/>
              </a:rPr>
              <a:t>WHAT TO NOTICE</a:t>
            </a:r>
          </a:p>
        </p:txBody>
      </p:sp>
      <p:sp>
        <p:nvSpPr>
          <p:cNvPr id="10" name="Rectangle 9"/>
          <p:cNvSpPr/>
          <p:nvPr/>
        </p:nvSpPr>
        <p:spPr>
          <a:xfrm>
            <a:off x="4736592" y="2395728"/>
            <a:ext cx="6510528"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36592" y="2395728"/>
            <a:ext cx="731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919472" y="262432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19472" y="2624328"/>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4" name="TextBox 13"/>
          <p:cNvSpPr txBox="1"/>
          <p:nvPr/>
        </p:nvSpPr>
        <p:spPr>
          <a:xfrm>
            <a:off x="5541264" y="2514600"/>
            <a:ext cx="5504688" cy="676656"/>
          </a:xfrm>
          <a:prstGeom prst="rect">
            <a:avLst/>
          </a:prstGeom>
          <a:noFill/>
        </p:spPr>
        <p:txBody>
          <a:bodyPr wrap="square" anchor="ctr">
            <a:spAutoFit/>
          </a:bodyPr>
          <a:lstStyle/>
          <a:p>
            <a:pPr algn="l">
              <a:spcAft>
                <a:spcPts val="200"/>
              </a:spcAft>
            </a:pPr>
            <a:r>
              <a:rPr sz="1300" b="1">
                <a:solidFill>
                  <a:srgbClr val="1F6FEB"/>
                </a:solidFill>
                <a:latin typeface="Arial"/>
              </a:rPr>
              <a:t>Business outcome</a:t>
            </a:r>
          </a:p>
          <a:p>
            <a:pPr algn="l">
              <a:spcAft>
                <a:spcPts val="200"/>
              </a:spcAft>
            </a:pPr>
            <a:r>
              <a:rPr sz="1100" b="0">
                <a:solidFill>
                  <a:srgbClr val="161B26"/>
                </a:solidFill>
                <a:latin typeface="Arial"/>
              </a:rPr>
              <a:t>The opening section states the management decision and intended use.</a:t>
            </a:r>
          </a:p>
        </p:txBody>
      </p:sp>
      <p:sp>
        <p:nvSpPr>
          <p:cNvPr id="15" name="Rectangle 14"/>
          <p:cNvSpPr/>
          <p:nvPr/>
        </p:nvSpPr>
        <p:spPr>
          <a:xfrm>
            <a:off x="4736592" y="3493008"/>
            <a:ext cx="6510528"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736592" y="3493008"/>
            <a:ext cx="73152"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919472" y="372160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19472" y="3721608"/>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9" name="TextBox 18"/>
          <p:cNvSpPr txBox="1"/>
          <p:nvPr/>
        </p:nvSpPr>
        <p:spPr>
          <a:xfrm>
            <a:off x="5541264" y="3611880"/>
            <a:ext cx="5504688" cy="676656"/>
          </a:xfrm>
          <a:prstGeom prst="rect">
            <a:avLst/>
          </a:prstGeom>
          <a:noFill/>
        </p:spPr>
        <p:txBody>
          <a:bodyPr wrap="square" anchor="ctr">
            <a:spAutoFit/>
          </a:bodyPr>
          <a:lstStyle/>
          <a:p>
            <a:pPr algn="l">
              <a:spcAft>
                <a:spcPts val="200"/>
              </a:spcAft>
            </a:pPr>
            <a:r>
              <a:rPr sz="1300" b="1">
                <a:solidFill>
                  <a:srgbClr val="10B981"/>
                </a:solidFill>
                <a:latin typeface="Arial"/>
              </a:rPr>
              <a:t>Evidence structure</a:t>
            </a:r>
          </a:p>
          <a:p>
            <a:pPr algn="l">
              <a:spcAft>
                <a:spcPts val="200"/>
              </a:spcAft>
            </a:pPr>
            <a:r>
              <a:rPr sz="1100" b="0">
                <a:solidFill>
                  <a:srgbClr val="161B26"/>
                </a:solidFill>
                <a:latin typeface="Arial"/>
              </a:rPr>
              <a:t>Headings, tables and source notes make claims reviewable in native Word.</a:t>
            </a:r>
          </a:p>
        </p:txBody>
      </p:sp>
      <p:sp>
        <p:nvSpPr>
          <p:cNvPr id="20" name="Rectangle 19"/>
          <p:cNvSpPr/>
          <p:nvPr/>
        </p:nvSpPr>
        <p:spPr>
          <a:xfrm>
            <a:off x="4736592" y="4590288"/>
            <a:ext cx="6510528"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736592" y="4590288"/>
            <a:ext cx="7315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9472" y="4818888"/>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9472" y="4818888"/>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4" name="TextBox 23"/>
          <p:cNvSpPr txBox="1"/>
          <p:nvPr/>
        </p:nvSpPr>
        <p:spPr>
          <a:xfrm>
            <a:off x="5541264" y="4709160"/>
            <a:ext cx="5504688" cy="676656"/>
          </a:xfrm>
          <a:prstGeom prst="rect">
            <a:avLst/>
          </a:prstGeom>
          <a:noFill/>
        </p:spPr>
        <p:txBody>
          <a:bodyPr wrap="square" anchor="ctr">
            <a:spAutoFit/>
          </a:bodyPr>
          <a:lstStyle/>
          <a:p>
            <a:pPr algn="l">
              <a:spcAft>
                <a:spcPts val="200"/>
              </a:spcAft>
            </a:pPr>
            <a:r>
              <a:rPr sz="1300" b="1">
                <a:solidFill>
                  <a:srgbClr val="7C3AED"/>
                </a:solidFill>
                <a:latin typeface="Arial"/>
              </a:rPr>
              <a:t>Approval boundary</a:t>
            </a:r>
          </a:p>
          <a:p>
            <a:pPr algn="l">
              <a:spcAft>
                <a:spcPts val="200"/>
              </a:spcAft>
            </a:pPr>
            <a:r>
              <a:rPr sz="1100" b="0">
                <a:solidFill>
                  <a:srgbClr val="161B26"/>
                </a:solidFill>
                <a:latin typeface="Arial"/>
              </a:rPr>
              <a:t>The status and named reviewer remain visible before release or send.</a:t>
            </a:r>
          </a:p>
        </p:txBody>
      </p:sp>
      <p:sp>
        <p:nvSpPr>
          <p:cNvPr id="25" name="TextBox 24"/>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5B6372"/>
                </a:solidFill>
                <a:latin typeface="Arial"/>
              </a:rPr>
              <a:t>A rendered preview of the realistic Word, Excel or PowerPoint artifact supplied in this lab folder.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5 — Process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Ambition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Diagnosis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Strategic choices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Initiative portfolio</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Measures and governance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5 — Professional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Choice architecture</a:t>
            </a:r>
          </a:p>
          <a:p>
            <a:pPr algn="l">
              <a:spcAft>
                <a:spcPts val="300"/>
              </a:spcAft>
            </a:pPr>
            <a:r>
              <a:rPr sz="1200" b="0">
                <a:solidFill>
                  <a:srgbClr val="5B6372"/>
                </a:solidFill>
                <a:latin typeface="Arial"/>
              </a:rPr>
              <a:t>A strategy selects where to play, how to win and what not to do.</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Initiatives have owners</a:t>
            </a:r>
          </a:p>
          <a:p>
            <a:pPr algn="l">
              <a:spcAft>
                <a:spcPts val="300"/>
              </a:spcAft>
            </a:pPr>
            <a:r>
              <a:rPr sz="1200" b="0">
                <a:solidFill>
                  <a:srgbClr val="5B6372"/>
                </a:solidFill>
                <a:latin typeface="Arial"/>
              </a:rPr>
              <a:t>Each priority carries an accountable executive, milestones, measures and dependencies.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Measures balance outcomes</a:t>
            </a:r>
          </a:p>
          <a:p>
            <a:pPr algn="l">
              <a:spcAft>
                <a:spcPts val="300"/>
              </a:spcAft>
            </a:pPr>
            <a:r>
              <a:rPr sz="1200" b="0">
                <a:solidFill>
                  <a:srgbClr val="5B6372"/>
                </a:solidFill>
                <a:latin typeface="Arial"/>
              </a:rPr>
              <a:t>Combine financial, customer, operational and capability indicators.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Review drives action</a:t>
            </a:r>
          </a:p>
          <a:p>
            <a:pPr algn="l">
              <a:spcAft>
                <a:spcPts val="300"/>
              </a:spcAft>
            </a:pPr>
            <a:r>
              <a:rPr sz="1200" b="0">
                <a:solidFill>
                  <a:srgbClr val="5B6372"/>
                </a:solidFill>
                <a:latin typeface="Arial"/>
              </a:rPr>
              <a:t>A quarterly cadence tests assumptions and reallocates resources when evidence changes.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Develop a Strategic Plan with Owners and Measures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127A3E"/>
                </a:solidFill>
                <a:latin typeface="Arial"/>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161B26"/>
                </a:solidFill>
                <a:latin typeface="Arial"/>
              </a:rPr>
              <a:t>The strategy contains explicit choices and trade-offs, six owned initiatives, balanced measures with sources, a governance cadence and a resolved high-impact risk review.</a:t>
            </a:r>
          </a:p>
        </p:txBody>
      </p:sp>
      <p:sp>
        <p:nvSpPr>
          <p:cNvPr id="10" name="Rectangle 9"/>
          <p:cNvSpPr/>
          <p:nvPr/>
        </p:nvSpPr>
        <p:spPr>
          <a:xfrm>
            <a:off x="777240"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1F6FEB"/>
                </a:solidFill>
                <a:latin typeface="Arial"/>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10B981"/>
                </a:solidFill>
                <a:latin typeface="Arial"/>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7C3AED"/>
                </a:solidFill>
                <a:latin typeface="Arial"/>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Draft Sustainability Reporting and HR Policy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Create a management sustainability report section and a flexible-work HR policy while separating evidence, interpretation, procedure and legal review.</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sustainability performance section, metric register and flexible-work policy draft with review and approval records.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Claude for Word, reporting boundary, metric methodology, HR policy drafting, comments, approval workflow</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SCREENSHOT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Claude-Generated Company Work Sample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32104" y="2403091"/>
            <a:ext cx="3493008" cy="298450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ab-06-artifact.png"/>
          <p:cNvPicPr>
            <a:picLocks noChangeAspect="1"/>
          </p:cNvPicPr>
          <p:nvPr/>
        </p:nvPicPr>
        <p:blipFill>
          <a:blip r:embed="rId2"/>
          <a:stretch>
            <a:fillRect/>
          </a:stretch>
        </p:blipFill>
        <p:spPr>
          <a:xfrm>
            <a:off x="877824" y="2448811"/>
            <a:ext cx="3401568" cy="2893066"/>
          </a:xfrm>
          <a:prstGeom prst="rect">
            <a:avLst/>
          </a:prstGeom>
        </p:spPr>
      </p:pic>
      <p:sp>
        <p:nvSpPr>
          <p:cNvPr id="9" name="TextBox 8"/>
          <p:cNvSpPr txBox="1"/>
          <p:nvPr/>
        </p:nvSpPr>
        <p:spPr>
          <a:xfrm>
            <a:off x="4736592" y="1901952"/>
            <a:ext cx="6510528" cy="347472"/>
          </a:xfrm>
          <a:prstGeom prst="rect">
            <a:avLst/>
          </a:prstGeom>
          <a:noFill/>
        </p:spPr>
        <p:txBody>
          <a:bodyPr wrap="square" anchor="t">
            <a:spAutoFit/>
          </a:bodyPr>
          <a:lstStyle/>
          <a:p>
            <a:pPr algn="l">
              <a:spcAft>
                <a:spcPts val="400"/>
              </a:spcAft>
            </a:pPr>
            <a:r>
              <a:rPr sz="1200" b="1">
                <a:solidFill>
                  <a:srgbClr val="10B981"/>
                </a:solidFill>
                <a:latin typeface="Arial"/>
              </a:rPr>
              <a:t>WHAT TO NOTICE</a:t>
            </a:r>
          </a:p>
        </p:txBody>
      </p:sp>
      <p:sp>
        <p:nvSpPr>
          <p:cNvPr id="10" name="Rectangle 9"/>
          <p:cNvSpPr/>
          <p:nvPr/>
        </p:nvSpPr>
        <p:spPr>
          <a:xfrm>
            <a:off x="4736592" y="2395728"/>
            <a:ext cx="6510528"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36592" y="2395728"/>
            <a:ext cx="731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919472" y="262432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19472" y="2624328"/>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4" name="TextBox 13"/>
          <p:cNvSpPr txBox="1"/>
          <p:nvPr/>
        </p:nvSpPr>
        <p:spPr>
          <a:xfrm>
            <a:off x="5541264" y="2514600"/>
            <a:ext cx="5504688" cy="676656"/>
          </a:xfrm>
          <a:prstGeom prst="rect">
            <a:avLst/>
          </a:prstGeom>
          <a:noFill/>
        </p:spPr>
        <p:txBody>
          <a:bodyPr wrap="square" anchor="ctr">
            <a:spAutoFit/>
          </a:bodyPr>
          <a:lstStyle/>
          <a:p>
            <a:pPr algn="l">
              <a:spcAft>
                <a:spcPts val="200"/>
              </a:spcAft>
            </a:pPr>
            <a:r>
              <a:rPr sz="1300" b="1">
                <a:solidFill>
                  <a:srgbClr val="1F6FEB"/>
                </a:solidFill>
                <a:latin typeface="Arial"/>
              </a:rPr>
              <a:t>Business outcome</a:t>
            </a:r>
          </a:p>
          <a:p>
            <a:pPr algn="l">
              <a:spcAft>
                <a:spcPts val="200"/>
              </a:spcAft>
            </a:pPr>
            <a:r>
              <a:rPr sz="1100" b="0">
                <a:solidFill>
                  <a:srgbClr val="161B26"/>
                </a:solidFill>
                <a:latin typeface="Arial"/>
              </a:rPr>
              <a:t>The opening section states the management decision and intended use.</a:t>
            </a:r>
          </a:p>
        </p:txBody>
      </p:sp>
      <p:sp>
        <p:nvSpPr>
          <p:cNvPr id="15" name="Rectangle 14"/>
          <p:cNvSpPr/>
          <p:nvPr/>
        </p:nvSpPr>
        <p:spPr>
          <a:xfrm>
            <a:off x="4736592" y="3493008"/>
            <a:ext cx="6510528"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736592" y="3493008"/>
            <a:ext cx="73152"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919472" y="372160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19472" y="3721608"/>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9" name="TextBox 18"/>
          <p:cNvSpPr txBox="1"/>
          <p:nvPr/>
        </p:nvSpPr>
        <p:spPr>
          <a:xfrm>
            <a:off x="5541264" y="3611880"/>
            <a:ext cx="5504688" cy="676656"/>
          </a:xfrm>
          <a:prstGeom prst="rect">
            <a:avLst/>
          </a:prstGeom>
          <a:noFill/>
        </p:spPr>
        <p:txBody>
          <a:bodyPr wrap="square" anchor="ctr">
            <a:spAutoFit/>
          </a:bodyPr>
          <a:lstStyle/>
          <a:p>
            <a:pPr algn="l">
              <a:spcAft>
                <a:spcPts val="200"/>
              </a:spcAft>
            </a:pPr>
            <a:r>
              <a:rPr sz="1300" b="1">
                <a:solidFill>
                  <a:srgbClr val="10B981"/>
                </a:solidFill>
                <a:latin typeface="Arial"/>
              </a:rPr>
              <a:t>Evidence structure</a:t>
            </a:r>
          </a:p>
          <a:p>
            <a:pPr algn="l">
              <a:spcAft>
                <a:spcPts val="200"/>
              </a:spcAft>
            </a:pPr>
            <a:r>
              <a:rPr sz="1100" b="0">
                <a:solidFill>
                  <a:srgbClr val="161B26"/>
                </a:solidFill>
                <a:latin typeface="Arial"/>
              </a:rPr>
              <a:t>Headings, tables and source notes make claims reviewable in native Word.</a:t>
            </a:r>
          </a:p>
        </p:txBody>
      </p:sp>
      <p:sp>
        <p:nvSpPr>
          <p:cNvPr id="20" name="Rectangle 19"/>
          <p:cNvSpPr/>
          <p:nvPr/>
        </p:nvSpPr>
        <p:spPr>
          <a:xfrm>
            <a:off x="4736592" y="4590288"/>
            <a:ext cx="6510528"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736592" y="4590288"/>
            <a:ext cx="7315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9472" y="4818888"/>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9472" y="4818888"/>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4" name="TextBox 23"/>
          <p:cNvSpPr txBox="1"/>
          <p:nvPr/>
        </p:nvSpPr>
        <p:spPr>
          <a:xfrm>
            <a:off x="5541264" y="4709160"/>
            <a:ext cx="5504688" cy="676656"/>
          </a:xfrm>
          <a:prstGeom prst="rect">
            <a:avLst/>
          </a:prstGeom>
          <a:noFill/>
        </p:spPr>
        <p:txBody>
          <a:bodyPr wrap="square" anchor="ctr">
            <a:spAutoFit/>
          </a:bodyPr>
          <a:lstStyle/>
          <a:p>
            <a:pPr algn="l">
              <a:spcAft>
                <a:spcPts val="200"/>
              </a:spcAft>
            </a:pPr>
            <a:r>
              <a:rPr sz="1300" b="1">
                <a:solidFill>
                  <a:srgbClr val="7C3AED"/>
                </a:solidFill>
                <a:latin typeface="Arial"/>
              </a:rPr>
              <a:t>Approval boundary</a:t>
            </a:r>
          </a:p>
          <a:p>
            <a:pPr algn="l">
              <a:spcAft>
                <a:spcPts val="200"/>
              </a:spcAft>
            </a:pPr>
            <a:r>
              <a:rPr sz="1100" b="0">
                <a:solidFill>
                  <a:srgbClr val="161B26"/>
                </a:solidFill>
                <a:latin typeface="Arial"/>
              </a:rPr>
              <a:t>The status and named reviewer remain visible before release or send.</a:t>
            </a:r>
          </a:p>
        </p:txBody>
      </p:sp>
      <p:sp>
        <p:nvSpPr>
          <p:cNvPr id="25" name="TextBox 24"/>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5B6372"/>
                </a:solidFill>
                <a:latin typeface="Arial"/>
              </a:rPr>
              <a:t>A rendered preview of the realistic Word, Excel or PowerPoint artifact supplied in this lab folder.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6 — Process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boundary</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metrics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Draft narrative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Separate policy from procedure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Obtain specialist approval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6 — Professional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Boundary before narrative</a:t>
            </a:r>
          </a:p>
          <a:p>
            <a:pPr algn="l">
              <a:spcAft>
                <a:spcPts val="300"/>
              </a:spcAft>
            </a:pPr>
            <a:r>
              <a:rPr sz="1200" b="0">
                <a:solidFill>
                  <a:srgbClr val="5B6372"/>
                </a:solidFill>
                <a:latin typeface="Arial"/>
              </a:rPr>
              <a:t>State entities, sites, period, method and exclusions before describing performance.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Numbers need lineage</a:t>
            </a:r>
          </a:p>
          <a:p>
            <a:pPr algn="l">
              <a:spcAft>
                <a:spcPts val="300"/>
              </a:spcAft>
            </a:pPr>
            <a:r>
              <a:rPr sz="1200" b="0">
                <a:solidFill>
                  <a:srgbClr val="5B6372"/>
                </a:solidFill>
                <a:latin typeface="Arial"/>
              </a:rPr>
              <a:t>Every metric names the source system, owner, unit, method and limitation.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Policy is not legal advice</a:t>
            </a:r>
          </a:p>
          <a:p>
            <a:pPr algn="l">
              <a:spcAft>
                <a:spcPts val="300"/>
              </a:spcAft>
            </a:pPr>
            <a:r>
              <a:rPr sz="1200" b="0">
                <a:solidFill>
                  <a:srgbClr val="5B6372"/>
                </a:solidFill>
                <a:latin typeface="Arial"/>
              </a:rPr>
              <a:t>AI drafts require authorised HR and legal review before organisational release.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Exceptions are designed</a:t>
            </a:r>
          </a:p>
          <a:p>
            <a:pPr algn="l">
              <a:spcAft>
                <a:spcPts val="300"/>
              </a:spcAft>
            </a:pPr>
            <a:r>
              <a:rPr sz="1200" b="0">
                <a:solidFill>
                  <a:srgbClr val="5B6372"/>
                </a:solidFill>
                <a:latin typeface="Arial"/>
              </a:rPr>
              <a:t>Eligibility, decision rights, escalation and record keeping prevent an attractive policy from becoming unusable.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Draft Sustainability Reporting and HR Policy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127A3E"/>
                </a:solidFill>
                <a:latin typeface="Arial"/>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161B26"/>
                </a:solidFill>
                <a:latin typeface="Arial"/>
              </a:rPr>
              <a:t>The sustainability section states its boundary and limitations and reconciles every metric; the HR policy separates policy from procedure and carries named HR, legal, security and management reviews.</a:t>
            </a:r>
          </a:p>
        </p:txBody>
      </p:sp>
      <p:sp>
        <p:nvSpPr>
          <p:cNvPr id="10" name="Rectangle 9"/>
          <p:cNvSpPr/>
          <p:nvPr/>
        </p:nvSpPr>
        <p:spPr>
          <a:xfrm>
            <a:off x="777240"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1F6FEB"/>
                </a:solidFill>
                <a:latin typeface="Arial"/>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10B981"/>
                </a:solidFill>
                <a:latin typeface="Arial"/>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7C3AED"/>
                </a:solidFill>
                <a:latin typeface="Arial"/>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Recap — Company Planning, Reporting and Policy 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Capability — Produce a decision-ready FY2027 marketing plan in the Lumina Living Word template.</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Evidence retained — A reviewed FY2027 marketing plan in Word with an evidence appendix and management decision page.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Capability — Develop an aligned strategic plan with explicit choices, initiatives, owners, measures and risks.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Evidence retained — A three-year strategic plan, initiative portfolio and quarterly review scorecard in Word and Excel.</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Capability — Draft source-aware sustainability reporting and an HR policy with appropriate review controls.</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Evidence retained — A sustainability performance section, metric register and flexible-work policy draft with review and approval records.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Financial Analysis and Executive Storytelling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Excel modelling · controls · KPI dashboard · native charts · strategic and marketing PowerPoint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COVERAGE 25%</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1700" b="1">
                <a:solidFill>
                  <a:srgbClr val="161B26"/>
                </a:solidFill>
                <a:latin typeface="Arial"/>
              </a:rPr>
              <a:t>Key Concepts — Financial Analysis and Executive Storytelling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Financial model architecture — separate assumptions, transaction data, calculations, outputs and review notes so changes remain traceable.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Formula-first analysis — use dynamic formulas, tables and pivot-ready structures instead of pasted totals or unexplained AI answers.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Decision-led dashboard — combine a small set of KPIs, trends, variances and definitions around the questions management must answer.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Chart integrity — choose the visual for the question, keep native Excel sources, verify scale and units, and avoid implying causation without evidence.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Message-first presentation — every slide title states a conclusion; supporting detail goes into speaker notes, appendix or source register.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Beyond one-click slides — professional value comes from an editable company template, native charts, coherent narrative, source traceability and deliberate visual hierarchy.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1700" b="1">
                <a:solidFill>
                  <a:srgbClr val="161B26"/>
                </a:solidFill>
                <a:latin typeface="Arial"/>
              </a:rPr>
              <a:t>Hands-On Labs — Financial Analysis and Executive Storytelling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4754880" cy="548640"/>
          </a:xfrm>
          <a:prstGeom prst="rect">
            <a:avLst/>
          </a:prstGeom>
          <a:noFill/>
        </p:spPr>
        <p:txBody>
          <a:bodyPr wrap="square" anchor="t">
            <a:spAutoFit/>
          </a:bodyPr>
          <a:lstStyle/>
          <a:p>
            <a:pPr algn="l">
              <a:spcAft>
                <a:spcPts val="400"/>
              </a:spcAft>
            </a:pPr>
            <a:r>
              <a:rPr sz="1900" b="1">
                <a:solidFill>
                  <a:srgbClr val="1F6FEB"/>
                </a:solidFill>
                <a:latin typeface="Arial"/>
              </a:rPr>
              <a:t>Lab 7</a:t>
            </a:r>
          </a:p>
        </p:txBody>
      </p:sp>
      <p:sp>
        <p:nvSpPr>
          <p:cNvPr id="10" name="TextBox 9"/>
          <p:cNvSpPr txBox="1"/>
          <p:nvPr/>
        </p:nvSpPr>
        <p:spPr>
          <a:xfrm>
            <a:off x="1005840" y="2697480"/>
            <a:ext cx="4754880" cy="3108960"/>
          </a:xfrm>
          <a:prstGeom prst="rect">
            <a:avLst/>
          </a:prstGeom>
          <a:noFill/>
        </p:spPr>
        <p:txBody>
          <a:bodyPr wrap="square">
            <a:spAutoFit/>
          </a:bodyPr>
          <a:lstStyle/>
          <a:p>
            <a:pPr>
              <a:spcAft>
                <a:spcPts val="900"/>
              </a:spcAft>
            </a:pPr>
            <a:r>
              <a:rPr sz="1400" b="0">
                <a:solidFill>
                  <a:srgbClr val="161B26"/>
                </a:solidFill>
                <a:latin typeface="Arial"/>
              </a:rPr>
              <a:t>•  Build Financial Analysis and an Excel Dashboard — A controlled FY2026 financial workbook with actual-vs-budget analysis, scenarios, three native charts and an executive dashboard.</a:t>
            </a:r>
          </a:p>
        </p:txBody>
      </p:sp>
      <p:sp>
        <p:nvSpPr>
          <p:cNvPr id="11" name="Rectangle 10"/>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1783080"/>
            <a:ext cx="507492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011680"/>
            <a:ext cx="4617720" cy="548640"/>
          </a:xfrm>
          <a:prstGeom prst="rect">
            <a:avLst/>
          </a:prstGeom>
          <a:noFill/>
        </p:spPr>
        <p:txBody>
          <a:bodyPr wrap="square" anchor="t">
            <a:spAutoFit/>
          </a:bodyPr>
          <a:lstStyle/>
          <a:p>
            <a:pPr algn="l">
              <a:spcAft>
                <a:spcPts val="400"/>
              </a:spcAft>
            </a:pPr>
            <a:r>
              <a:rPr sz="1900" b="1">
                <a:solidFill>
                  <a:srgbClr val="10B981"/>
                </a:solidFill>
                <a:latin typeface="Arial"/>
              </a:rPr>
              <a:t>Lab 8</a:t>
            </a:r>
          </a:p>
        </p:txBody>
      </p:sp>
      <p:sp>
        <p:nvSpPr>
          <p:cNvPr id="14" name="TextBox 13"/>
          <p:cNvSpPr txBox="1"/>
          <p:nvPr/>
        </p:nvSpPr>
        <p:spPr>
          <a:xfrm>
            <a:off x="6583680" y="2697480"/>
            <a:ext cx="4617720" cy="3108960"/>
          </a:xfrm>
          <a:prstGeom prst="rect">
            <a:avLst/>
          </a:prstGeom>
          <a:noFill/>
        </p:spPr>
        <p:txBody>
          <a:bodyPr wrap="square">
            <a:spAutoFit/>
          </a:bodyPr>
          <a:lstStyle/>
          <a:p>
            <a:pPr>
              <a:spcAft>
                <a:spcPts val="900"/>
              </a:spcAft>
            </a:pPr>
            <a:r>
              <a:rPr sz="1400" b="0">
                <a:solidFill>
                  <a:srgbClr val="161B26"/>
                </a:solidFill>
                <a:latin typeface="Arial"/>
              </a:rPr>
              <a:t>•  Create an Executive Strategy and Marketing Deck — A ten-slide strategic and marketing presentation with native Excel charts, varied layouts and an executive decision page.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Build Financial Analysis and an Excel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Move from transaction data and budget assumptions to formula-driven analysis, scenario testing, native charts and a one-screen management dashboard.</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controlled FY2026 financial workbook with actual-vs-budget analysis, scenarios, three native charts and an executive dashboard.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Claude for Excel, tables, formulas, pivots, scenarios, chart selection, dashboard, audit log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SCREENSHOT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Claude-Generated Company Work Sample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319225" y="1792224"/>
            <a:ext cx="5553245" cy="420624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ab-07-artifact.png"/>
          <p:cNvPicPr>
            <a:picLocks noChangeAspect="1"/>
          </p:cNvPicPr>
          <p:nvPr/>
        </p:nvPicPr>
        <p:blipFill>
          <a:blip r:embed="rId2"/>
          <a:stretch>
            <a:fillRect/>
          </a:stretch>
        </p:blipFill>
        <p:spPr>
          <a:xfrm>
            <a:off x="3374089" y="1847088"/>
            <a:ext cx="5443517" cy="4096512"/>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5B6372"/>
                </a:solidFill>
                <a:latin typeface="Arial"/>
              </a:rPr>
              <a:t>A rendered preview of the realistic Word, Excel or PowerPoint artifact supplied in this lab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7 — Process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Understand the model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Validate inputs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Build formulas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Explain drivers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Dashboard and senior review</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7 — Professional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Model architecture</a:t>
            </a:r>
          </a:p>
          <a:p>
            <a:pPr algn="l">
              <a:spcAft>
                <a:spcPts val="300"/>
              </a:spcAft>
            </a:pPr>
            <a:r>
              <a:rPr sz="1200" b="0">
                <a:solidFill>
                  <a:srgbClr val="5B6372"/>
                </a:solidFill>
                <a:latin typeface="Arial"/>
              </a:rPr>
              <a:t>Separate Assumptions, Transactions, Budget, Analysis, Dashboard and Audit Log.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No pasted answers</a:t>
            </a:r>
          </a:p>
          <a:p>
            <a:pPr algn="l">
              <a:spcAft>
                <a:spcPts val="300"/>
              </a:spcAft>
            </a:pPr>
            <a:r>
              <a:rPr sz="1200" b="0">
                <a:solidFill>
                  <a:srgbClr val="5B6372"/>
                </a:solidFill>
                <a:latin typeface="Arial"/>
              </a:rPr>
              <a:t>Keep calculations live in formulas or pivots and cite the source range.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Charts answer decisions</a:t>
            </a:r>
          </a:p>
          <a:p>
            <a:pPr algn="l">
              <a:spcAft>
                <a:spcPts val="300"/>
              </a:spcAft>
            </a:pPr>
            <a:r>
              <a:rPr sz="1200" b="0">
                <a:solidFill>
                  <a:srgbClr val="5B6372"/>
                </a:solidFill>
                <a:latin typeface="Arial"/>
              </a:rPr>
              <a:t>Use trend, variance and driver visuals with honest scales and units.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Review like a finance leader</a:t>
            </a:r>
          </a:p>
          <a:p>
            <a:pPr algn="l">
              <a:spcAft>
                <a:spcPts val="300"/>
              </a:spcAft>
            </a:pPr>
            <a:r>
              <a:rPr sz="1200" b="0">
                <a:solidFill>
                  <a:srgbClr val="5B6372"/>
                </a:solidFill>
                <a:latin typeface="Arial"/>
              </a:rPr>
              <a:t>Challenge timing, hardcodes, range gaps, margin logic and scenario sensitivity.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Build Financial Analysis and an Excel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127A3E"/>
                </a:solidFill>
                <a:latin typeface="Arial"/>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161B26"/>
                </a:solidFill>
                <a:latin typeface="Arial"/>
              </a:rPr>
              <a:t>The model has no formula errors, all four KPIs reconcile, scenarios change through named assumptions, three native charts answer management questions and the audit log records independent checks.</a:t>
            </a:r>
          </a:p>
        </p:txBody>
      </p:sp>
      <p:sp>
        <p:nvSpPr>
          <p:cNvPr id="10" name="Rectangle 9"/>
          <p:cNvSpPr/>
          <p:nvPr/>
        </p:nvSpPr>
        <p:spPr>
          <a:xfrm>
            <a:off x="777240"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1F6FEB"/>
                </a:solidFill>
                <a:latin typeface="Arial"/>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10B981"/>
                </a:solidFill>
                <a:latin typeface="Arial"/>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7C3AED"/>
                </a:solidFill>
                <a:latin typeface="Arial"/>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Create an Executive Strategy and Marketing Deck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Build a company-standard Executive Committee presentation with a coherent decision story, native charts, process maps, evidence notes and meaningful speaker notes.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ten-slide strategic and marketing presentation with native Excel charts, varied layouts and an executive decision page.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Claude for PowerPoint, slide master, native Excel charts, process maps, executive narrative, speaker notes, visual QA</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SCREENSHOT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Claude-Generated Company Work Sample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58948" y="1792224"/>
            <a:ext cx="7073798" cy="420624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ab-08-artifact.png"/>
          <p:cNvPicPr>
            <a:picLocks noChangeAspect="1"/>
          </p:cNvPicPr>
          <p:nvPr/>
        </p:nvPicPr>
        <p:blipFill>
          <a:blip r:embed="rId2"/>
          <a:stretch>
            <a:fillRect/>
          </a:stretch>
        </p:blipFill>
        <p:spPr>
          <a:xfrm>
            <a:off x="2613812" y="1847088"/>
            <a:ext cx="6964070" cy="4096512"/>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5B6372"/>
                </a:solidFill>
                <a:latin typeface="Arial"/>
              </a:rPr>
              <a:t>A rendered preview of the realistic Word, Excel or PowerPoint artifact supplied in this lab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8 — Process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Decision question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Message map</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Template system</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Native evidence visuals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Executive rehearsal and approval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8 — Professional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Better than one-click</a:t>
            </a:r>
          </a:p>
          <a:p>
            <a:pPr algn="l">
              <a:spcAft>
                <a:spcPts val="300"/>
              </a:spcAft>
            </a:pPr>
            <a:r>
              <a:rPr sz="1200" b="0">
                <a:solidFill>
                  <a:srgbClr val="5B6372"/>
                </a:solidFill>
                <a:latin typeface="Arial"/>
              </a:rPr>
              <a:t>Use real company evidence, deliberate hierarchy and an editable template—not generic generated decoration.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Conclusion-led titles</a:t>
            </a:r>
          </a:p>
          <a:p>
            <a:pPr algn="l">
              <a:spcAft>
                <a:spcPts val="300"/>
              </a:spcAft>
            </a:pPr>
            <a:r>
              <a:rPr sz="1200" b="0">
                <a:solidFill>
                  <a:srgbClr val="5B6372"/>
                </a:solidFill>
                <a:latin typeface="Arial"/>
              </a:rPr>
              <a:t>Every title states the point management should understand or decide.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Native evidence</a:t>
            </a:r>
          </a:p>
          <a:p>
            <a:pPr algn="l">
              <a:spcAft>
                <a:spcPts val="300"/>
              </a:spcAft>
            </a:pPr>
            <a:r>
              <a:rPr sz="1200" b="0">
                <a:solidFill>
                  <a:srgbClr val="5B6372"/>
                </a:solidFill>
                <a:latin typeface="Arial"/>
              </a:rPr>
              <a:t>Excel charts remain editable and trace to approved ranges; source notes sit on data slides.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Visual rhythm</a:t>
            </a:r>
          </a:p>
          <a:p>
            <a:pPr algn="l">
              <a:spcAft>
                <a:spcPts val="300"/>
              </a:spcAft>
            </a:pPr>
            <a:r>
              <a:rPr sz="1200" b="0">
                <a:solidFill>
                  <a:srgbClr val="5B6372"/>
                </a:solidFill>
                <a:latin typeface="Arial"/>
              </a:rPr>
              <a:t>Alternate scorecards, charts, comparisons, process maps and decision cards without lowering readability.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Create an Executive Strategy and Marketing Deck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127A3E"/>
                </a:solidFill>
                <a:latin typeface="Arial"/>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161B26"/>
                </a:solidFill>
                <a:latin typeface="Arial"/>
              </a:rPr>
              <a:t>The ten-slide deck uses the company master, shows verified native Excel charts, contains varied substantive visuals and speaker notes, and reconciles every figure and decision with the approved source pack.</a:t>
            </a:r>
          </a:p>
        </p:txBody>
      </p:sp>
      <p:sp>
        <p:nvSpPr>
          <p:cNvPr id="10" name="Rectangle 9"/>
          <p:cNvSpPr/>
          <p:nvPr/>
        </p:nvSpPr>
        <p:spPr>
          <a:xfrm>
            <a:off x="777240"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1F6FEB"/>
                </a:solidFill>
                <a:latin typeface="Arial"/>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10B981"/>
                </a:solidFill>
                <a:latin typeface="Arial"/>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7C3AED"/>
                </a:solidFill>
                <a:latin typeface="Arial"/>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1700" b="1">
                <a:solidFill>
                  <a:srgbClr val="161B26"/>
                </a:solidFill>
                <a:latin typeface="Arial"/>
              </a:rPr>
              <a:t>Recap — Financial Analysis and Executive Storytelling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Capability — Build an auditable financial model and management dashboard in Excel with Claude.</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Evidence retained — A controlled FY2026 financial workbook with actual-vs-budget analysis, scenarios, three native charts and an executive dashboard.</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Capability — Create a highly visual, editable PowerPoint that integrates strategy, marketing and verified Excel charts.</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Evidence retained — A ten-slide strategic and marketing presentation with native Excel charts, varied layouts and an executive decision page.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Agentic Coordination with Outlook, Cowork and Claude Code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Outlook triage and replies · Claude Cowork · Claude Code · Excel updates · email search · daily brief</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COURSE COVERAGE 23%</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1700" b="1">
                <a:solidFill>
                  <a:srgbClr val="161B26"/>
                </a:solidFill>
                <a:latin typeface="Arial"/>
              </a:rPr>
              <a:t>Key Concepts — Agentic Coordination with Outlook, Cowork and Claude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Outlook control — Claude can triage and draft, but Claude for Outlook leaves replies and invitations in native compose forms for the authorised user to review and send.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Claude Cowork — a task-oriented Claude desktop mode that works across scoped folders, Projects, plugins and connected tools to produce real files over multiple steps.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Cowork plus Microsoft 365 — retrieve approved organisational context through the connector, work in a bounded project folder, then review the resulting Office files in the native add-ins.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Copilot Cowork is distinct — Microsoft's Cowork experience lives inside Microsoft 365 Copilot and has its own licensing, governance and action-approval model even when Anthropic models are used.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Claude Code automation — local scripts and approved MCP connectors can update a workbook, search relevant mail and assemble a repeatable daily brief with explicit tool approvals.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Safe automation boundary — read and draft first, validate recipients and versions, and reserve consequential write or send actions for explicit approval.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1700" b="1">
                <a:solidFill>
                  <a:srgbClr val="161B26"/>
                </a:solidFill>
                <a:latin typeface="Arial"/>
              </a:rPr>
              <a:t>Hands-On Labs — Agentic Coordination with Outlook, Cowork and Claude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880360" cy="548640"/>
          </a:xfrm>
          <a:prstGeom prst="rect">
            <a:avLst/>
          </a:prstGeom>
          <a:noFill/>
        </p:spPr>
        <p:txBody>
          <a:bodyPr wrap="square" anchor="t">
            <a:spAutoFit/>
          </a:bodyPr>
          <a:lstStyle/>
          <a:p>
            <a:pPr algn="l">
              <a:spcAft>
                <a:spcPts val="400"/>
              </a:spcAft>
            </a:pPr>
            <a:r>
              <a:rPr sz="1900" b="1">
                <a:solidFill>
                  <a:srgbClr val="1F6FEB"/>
                </a:solidFill>
                <a:latin typeface="Arial"/>
              </a:rPr>
              <a:t>Lab 9</a:t>
            </a:r>
          </a:p>
        </p:txBody>
      </p:sp>
      <p:sp>
        <p:nvSpPr>
          <p:cNvPr id="10" name="TextBox 9"/>
          <p:cNvSpPr txBox="1"/>
          <p:nvPr/>
        </p:nvSpPr>
        <p:spPr>
          <a:xfrm>
            <a:off x="1005840" y="2697480"/>
            <a:ext cx="2880360" cy="3108960"/>
          </a:xfrm>
          <a:prstGeom prst="rect">
            <a:avLst/>
          </a:prstGeom>
          <a:noFill/>
        </p:spPr>
        <p:txBody>
          <a:bodyPr wrap="square">
            <a:spAutoFit/>
          </a:bodyPr>
          <a:lstStyle/>
          <a:p>
            <a:pPr>
              <a:spcAft>
                <a:spcPts val="900"/>
              </a:spcAft>
            </a:pPr>
            <a:r>
              <a:rPr sz="1400" b="0">
                <a:solidFill>
                  <a:srgbClr val="161B26"/>
                </a:solidFill>
                <a:latin typeface="Arial"/>
              </a:rPr>
              <a:t>•  Triage and Prepare Approved Outlook Replies — A triage queue, cited thread summary, approved reply templates, draft responses and an unsent meeting invitation.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880360" cy="548640"/>
          </a:xfrm>
          <a:prstGeom prst="rect">
            <a:avLst/>
          </a:prstGeom>
          <a:noFill/>
        </p:spPr>
        <p:txBody>
          <a:bodyPr wrap="square" anchor="t">
            <a:spAutoFit/>
          </a:bodyPr>
          <a:lstStyle/>
          <a:p>
            <a:pPr algn="l">
              <a:spcAft>
                <a:spcPts val="400"/>
              </a:spcAft>
            </a:pPr>
            <a:r>
              <a:rPr sz="1900" b="1">
                <a:solidFill>
                  <a:srgbClr val="10B981"/>
                </a:solidFill>
                <a:latin typeface="Arial"/>
              </a:rPr>
              <a:t>Lab 10</a:t>
            </a:r>
          </a:p>
        </p:txBody>
      </p:sp>
      <p:sp>
        <p:nvSpPr>
          <p:cNvPr id="14" name="TextBox 13"/>
          <p:cNvSpPr txBox="1"/>
          <p:nvPr/>
        </p:nvSpPr>
        <p:spPr>
          <a:xfrm>
            <a:off x="4800600" y="2697480"/>
            <a:ext cx="2880360" cy="3108960"/>
          </a:xfrm>
          <a:prstGeom prst="rect">
            <a:avLst/>
          </a:prstGeom>
          <a:noFill/>
        </p:spPr>
        <p:txBody>
          <a:bodyPr wrap="square">
            <a:spAutoFit/>
          </a:bodyPr>
          <a:lstStyle/>
          <a:p>
            <a:pPr>
              <a:spcAft>
                <a:spcPts val="900"/>
              </a:spcAft>
            </a:pPr>
            <a:r>
              <a:rPr sz="1400" b="0">
                <a:solidFill>
                  <a:srgbClr val="161B26"/>
                </a:solidFill>
                <a:latin typeface="Arial"/>
              </a:rPr>
              <a:t>•  Coordinate the Planning Pack with Claude Cowork — A Cowork project folder, execution plan, consolidated management brief, discrepancy log and reviewed Office hand-off.</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880360" cy="548640"/>
          </a:xfrm>
          <a:prstGeom prst="rect">
            <a:avLst/>
          </a:prstGeom>
          <a:noFill/>
        </p:spPr>
        <p:txBody>
          <a:bodyPr wrap="square" anchor="t">
            <a:spAutoFit/>
          </a:bodyPr>
          <a:lstStyle/>
          <a:p>
            <a:pPr algn="l">
              <a:spcAft>
                <a:spcPts val="400"/>
              </a:spcAft>
            </a:pPr>
            <a:r>
              <a:rPr sz="1900" b="1">
                <a:solidFill>
                  <a:srgbClr val="7C3AED"/>
                </a:solidFill>
                <a:latin typeface="Arial"/>
              </a:rPr>
              <a:t>Lab 11</a:t>
            </a:r>
          </a:p>
        </p:txBody>
      </p:sp>
      <p:sp>
        <p:nvSpPr>
          <p:cNvPr id="18" name="TextBox 17"/>
          <p:cNvSpPr txBox="1"/>
          <p:nvPr/>
        </p:nvSpPr>
        <p:spPr>
          <a:xfrm>
            <a:off x="8595360" y="2697480"/>
            <a:ext cx="2880360" cy="3108960"/>
          </a:xfrm>
          <a:prstGeom prst="rect">
            <a:avLst/>
          </a:prstGeom>
          <a:noFill/>
        </p:spPr>
        <p:txBody>
          <a:bodyPr wrap="square">
            <a:spAutoFit/>
          </a:bodyPr>
          <a:lstStyle/>
          <a:p>
            <a:pPr>
              <a:spcAft>
                <a:spcPts val="900"/>
              </a:spcAft>
            </a:pPr>
            <a:r>
              <a:rPr sz="1400" b="0">
                <a:solidFill>
                  <a:srgbClr val="161B26"/>
                </a:solidFill>
                <a:latin typeface="Arial"/>
              </a:rPr>
              <a:t>•  Automate Excel, Outlook and a Daily Brief with Claude Code — A reviewed automation plan, local workbook-update script, connector-assisted Outlook search and generated daily brief with run log.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Triage and Prepare Approved Outlook Replies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Use Claude for Outlook and approved Microsoft 365 context to classify planning mail, summarise threads, prepare draft replies and coordinate meetings without silently sending anything.</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triage queue, cited thread summary, approved reply templates, draft responses and an unsent meeting invitation.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Claude for Outlook beta, Outlook categories, thread citations, reply templates, calendar, approval queue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 · SCREENSHOT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Claude-Generated Company Work Sample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32104" y="2404727"/>
            <a:ext cx="3493008" cy="298123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ab-09-artifact.png"/>
          <p:cNvPicPr>
            <a:picLocks noChangeAspect="1"/>
          </p:cNvPicPr>
          <p:nvPr/>
        </p:nvPicPr>
        <p:blipFill>
          <a:blip r:embed="rId2"/>
          <a:stretch>
            <a:fillRect/>
          </a:stretch>
        </p:blipFill>
        <p:spPr>
          <a:xfrm>
            <a:off x="877824" y="2450447"/>
            <a:ext cx="3401568" cy="2889793"/>
          </a:xfrm>
          <a:prstGeom prst="rect">
            <a:avLst/>
          </a:prstGeom>
        </p:spPr>
      </p:pic>
      <p:sp>
        <p:nvSpPr>
          <p:cNvPr id="9" name="TextBox 8"/>
          <p:cNvSpPr txBox="1"/>
          <p:nvPr/>
        </p:nvSpPr>
        <p:spPr>
          <a:xfrm>
            <a:off x="4736592" y="1901952"/>
            <a:ext cx="6510528" cy="347472"/>
          </a:xfrm>
          <a:prstGeom prst="rect">
            <a:avLst/>
          </a:prstGeom>
          <a:noFill/>
        </p:spPr>
        <p:txBody>
          <a:bodyPr wrap="square" anchor="t">
            <a:spAutoFit/>
          </a:bodyPr>
          <a:lstStyle/>
          <a:p>
            <a:pPr algn="l">
              <a:spcAft>
                <a:spcPts val="400"/>
              </a:spcAft>
            </a:pPr>
            <a:r>
              <a:rPr sz="1200" b="1">
                <a:solidFill>
                  <a:srgbClr val="10B981"/>
                </a:solidFill>
                <a:latin typeface="Arial"/>
              </a:rPr>
              <a:t>WHAT TO NOTICE</a:t>
            </a:r>
          </a:p>
        </p:txBody>
      </p:sp>
      <p:sp>
        <p:nvSpPr>
          <p:cNvPr id="10" name="Rectangle 9"/>
          <p:cNvSpPr/>
          <p:nvPr/>
        </p:nvSpPr>
        <p:spPr>
          <a:xfrm>
            <a:off x="4736592" y="2395728"/>
            <a:ext cx="6510528"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36592" y="2395728"/>
            <a:ext cx="731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919472" y="262432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19472" y="2624328"/>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4" name="TextBox 13"/>
          <p:cNvSpPr txBox="1"/>
          <p:nvPr/>
        </p:nvSpPr>
        <p:spPr>
          <a:xfrm>
            <a:off x="5541264" y="2514600"/>
            <a:ext cx="5504688" cy="676656"/>
          </a:xfrm>
          <a:prstGeom prst="rect">
            <a:avLst/>
          </a:prstGeom>
          <a:noFill/>
        </p:spPr>
        <p:txBody>
          <a:bodyPr wrap="square" anchor="ctr">
            <a:spAutoFit/>
          </a:bodyPr>
          <a:lstStyle/>
          <a:p>
            <a:pPr algn="l">
              <a:spcAft>
                <a:spcPts val="200"/>
              </a:spcAft>
            </a:pPr>
            <a:r>
              <a:rPr sz="1300" b="1">
                <a:solidFill>
                  <a:srgbClr val="1F6FEB"/>
                </a:solidFill>
                <a:latin typeface="Arial"/>
              </a:rPr>
              <a:t>Business outcome</a:t>
            </a:r>
          </a:p>
          <a:p>
            <a:pPr algn="l">
              <a:spcAft>
                <a:spcPts val="200"/>
              </a:spcAft>
            </a:pPr>
            <a:r>
              <a:rPr sz="1100" b="0">
                <a:solidFill>
                  <a:srgbClr val="161B26"/>
                </a:solidFill>
                <a:latin typeface="Arial"/>
              </a:rPr>
              <a:t>The opening section states the management decision and intended use.</a:t>
            </a:r>
          </a:p>
        </p:txBody>
      </p:sp>
      <p:sp>
        <p:nvSpPr>
          <p:cNvPr id="15" name="Rectangle 14"/>
          <p:cNvSpPr/>
          <p:nvPr/>
        </p:nvSpPr>
        <p:spPr>
          <a:xfrm>
            <a:off x="4736592" y="3493008"/>
            <a:ext cx="6510528"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736592" y="3493008"/>
            <a:ext cx="73152"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919472" y="372160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19472" y="3721608"/>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9" name="TextBox 18"/>
          <p:cNvSpPr txBox="1"/>
          <p:nvPr/>
        </p:nvSpPr>
        <p:spPr>
          <a:xfrm>
            <a:off x="5541264" y="3611880"/>
            <a:ext cx="5504688" cy="676656"/>
          </a:xfrm>
          <a:prstGeom prst="rect">
            <a:avLst/>
          </a:prstGeom>
          <a:noFill/>
        </p:spPr>
        <p:txBody>
          <a:bodyPr wrap="square" anchor="ctr">
            <a:spAutoFit/>
          </a:bodyPr>
          <a:lstStyle/>
          <a:p>
            <a:pPr algn="l">
              <a:spcAft>
                <a:spcPts val="200"/>
              </a:spcAft>
            </a:pPr>
            <a:r>
              <a:rPr sz="1300" b="1">
                <a:solidFill>
                  <a:srgbClr val="10B981"/>
                </a:solidFill>
                <a:latin typeface="Arial"/>
              </a:rPr>
              <a:t>Evidence structure</a:t>
            </a:r>
          </a:p>
          <a:p>
            <a:pPr algn="l">
              <a:spcAft>
                <a:spcPts val="200"/>
              </a:spcAft>
            </a:pPr>
            <a:r>
              <a:rPr sz="1100" b="0">
                <a:solidFill>
                  <a:srgbClr val="161B26"/>
                </a:solidFill>
                <a:latin typeface="Arial"/>
              </a:rPr>
              <a:t>Headings, tables and source notes make claims reviewable in native Word.</a:t>
            </a:r>
          </a:p>
        </p:txBody>
      </p:sp>
      <p:sp>
        <p:nvSpPr>
          <p:cNvPr id="20" name="Rectangle 19"/>
          <p:cNvSpPr/>
          <p:nvPr/>
        </p:nvSpPr>
        <p:spPr>
          <a:xfrm>
            <a:off x="4736592" y="4590288"/>
            <a:ext cx="6510528"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736592" y="4590288"/>
            <a:ext cx="7315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9472" y="4818888"/>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9472" y="4818888"/>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4" name="TextBox 23"/>
          <p:cNvSpPr txBox="1"/>
          <p:nvPr/>
        </p:nvSpPr>
        <p:spPr>
          <a:xfrm>
            <a:off x="5541264" y="4709160"/>
            <a:ext cx="5504688" cy="676656"/>
          </a:xfrm>
          <a:prstGeom prst="rect">
            <a:avLst/>
          </a:prstGeom>
          <a:noFill/>
        </p:spPr>
        <p:txBody>
          <a:bodyPr wrap="square" anchor="ctr">
            <a:spAutoFit/>
          </a:bodyPr>
          <a:lstStyle/>
          <a:p>
            <a:pPr algn="l">
              <a:spcAft>
                <a:spcPts val="200"/>
              </a:spcAft>
            </a:pPr>
            <a:r>
              <a:rPr sz="1300" b="1">
                <a:solidFill>
                  <a:srgbClr val="7C3AED"/>
                </a:solidFill>
                <a:latin typeface="Arial"/>
              </a:rPr>
              <a:t>Approval boundary</a:t>
            </a:r>
          </a:p>
          <a:p>
            <a:pPr algn="l">
              <a:spcAft>
                <a:spcPts val="200"/>
              </a:spcAft>
            </a:pPr>
            <a:r>
              <a:rPr sz="1100" b="0">
                <a:solidFill>
                  <a:srgbClr val="161B26"/>
                </a:solidFill>
                <a:latin typeface="Arial"/>
              </a:rPr>
              <a:t>The status and named reviewer remain visible before release or send.</a:t>
            </a:r>
          </a:p>
        </p:txBody>
      </p:sp>
      <p:sp>
        <p:nvSpPr>
          <p:cNvPr id="25" name="TextBox 24"/>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5B6372"/>
                </a:solidFill>
                <a:latin typeface="Arial"/>
              </a:rPr>
              <a:t>A rendered preview of the realistic Word, Excel or PowerPoint artifact supplied in this lab folder.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9 — Process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Classify</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Summarise with citations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Select approved template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Draft in native form</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Review recipients and send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9 — Professional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Rules before generation</a:t>
            </a:r>
          </a:p>
          <a:p>
            <a:pPr algn="l">
              <a:spcAft>
                <a:spcPts val="300"/>
              </a:spcAft>
            </a:pPr>
            <a:r>
              <a:rPr sz="1200" b="0">
                <a:solidFill>
                  <a:srgbClr val="5B6372"/>
                </a:solidFill>
                <a:latin typeface="Arial"/>
              </a:rPr>
              <a:t>Define category, priority, SLA, reply eligibility and escalation before asking Claude to draft.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Thread evidence</a:t>
            </a:r>
          </a:p>
          <a:p>
            <a:pPr algn="l">
              <a:spcAft>
                <a:spcPts val="300"/>
              </a:spcAft>
            </a:pPr>
            <a:r>
              <a:rPr sz="1200" b="0">
                <a:solidFill>
                  <a:srgbClr val="5B6372"/>
                </a:solidFill>
                <a:latin typeface="Arial"/>
              </a:rPr>
              <a:t>Capture decisions, owners and deadlines with citations to the specific message.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Auto-draft, not auto-send</a:t>
            </a:r>
          </a:p>
          <a:p>
            <a:pPr algn="l">
              <a:spcAft>
                <a:spcPts val="300"/>
              </a:spcAft>
            </a:pPr>
            <a:r>
              <a:rPr sz="1200" b="0">
                <a:solidFill>
                  <a:srgbClr val="5B6372"/>
                </a:solidFill>
                <a:latin typeface="Arial"/>
              </a:rPr>
              <a:t>Claude for Outlook leaves drafts and invitations in Outlook for the authorised user.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Consequential details</a:t>
            </a:r>
          </a:p>
          <a:p>
            <a:pPr algn="l">
              <a:spcAft>
                <a:spcPts val="300"/>
              </a:spcAft>
            </a:pPr>
            <a:r>
              <a:rPr sz="1200" b="0">
                <a:solidFill>
                  <a:srgbClr val="5B6372"/>
                </a:solidFill>
                <a:latin typeface="Arial"/>
              </a:rPr>
              <a:t>Recipients, attachments, dates, amounts and promises receive explicit human checks.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Triage and Prepare Approved Outlook Replies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127A3E"/>
                </a:solidFill>
                <a:latin typeface="Arial"/>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161B26"/>
                </a:solidFill>
                <a:latin typeface="Arial"/>
              </a:rPr>
              <a:t>The triage queue is complete, the thread summary cites every decision, each draft uses an approved template and the reviewer has checked recipients, content, attachments and deadline before any send action.</a:t>
            </a:r>
          </a:p>
        </p:txBody>
      </p:sp>
      <p:sp>
        <p:nvSpPr>
          <p:cNvPr id="10" name="Rectangle 9"/>
          <p:cNvSpPr/>
          <p:nvPr/>
        </p:nvSpPr>
        <p:spPr>
          <a:xfrm>
            <a:off x="777240"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1F6FEB"/>
                </a:solidFill>
                <a:latin typeface="Arial"/>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10B981"/>
                </a:solidFill>
                <a:latin typeface="Arial"/>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7C3AED"/>
                </a:solidFill>
                <a:latin typeface="Arial"/>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Coordinate the Planning Pack with Claude Cowork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Set up a scoped Cowork project, bring in approved Microsoft 365 evidence, create a multi-step plan and deliver reviewed Office files back to the company workflow.</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Cowork project folder, execution plan, consolidated management brief, discrepancy log and reviewed Office hand-off.</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Claude Cowork, work folder, Projects, plugins, Microsoft 365 connector, multi-step execution, approvals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 · SCREENSHOT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Claude-Generated Company Work Sample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32104" y="2404727"/>
            <a:ext cx="3493008" cy="298123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ab-10-artifact.png"/>
          <p:cNvPicPr>
            <a:picLocks noChangeAspect="1"/>
          </p:cNvPicPr>
          <p:nvPr/>
        </p:nvPicPr>
        <p:blipFill>
          <a:blip r:embed="rId2"/>
          <a:stretch>
            <a:fillRect/>
          </a:stretch>
        </p:blipFill>
        <p:spPr>
          <a:xfrm>
            <a:off x="877824" y="2450447"/>
            <a:ext cx="3401568" cy="2889793"/>
          </a:xfrm>
          <a:prstGeom prst="rect">
            <a:avLst/>
          </a:prstGeom>
        </p:spPr>
      </p:pic>
      <p:sp>
        <p:nvSpPr>
          <p:cNvPr id="9" name="TextBox 8"/>
          <p:cNvSpPr txBox="1"/>
          <p:nvPr/>
        </p:nvSpPr>
        <p:spPr>
          <a:xfrm>
            <a:off x="4736592" y="1901952"/>
            <a:ext cx="6510528" cy="347472"/>
          </a:xfrm>
          <a:prstGeom prst="rect">
            <a:avLst/>
          </a:prstGeom>
          <a:noFill/>
        </p:spPr>
        <p:txBody>
          <a:bodyPr wrap="square" anchor="t">
            <a:spAutoFit/>
          </a:bodyPr>
          <a:lstStyle/>
          <a:p>
            <a:pPr algn="l">
              <a:spcAft>
                <a:spcPts val="400"/>
              </a:spcAft>
            </a:pPr>
            <a:r>
              <a:rPr sz="1200" b="1">
                <a:solidFill>
                  <a:srgbClr val="10B981"/>
                </a:solidFill>
                <a:latin typeface="Arial"/>
              </a:rPr>
              <a:t>WHAT TO NOTICE</a:t>
            </a:r>
          </a:p>
        </p:txBody>
      </p:sp>
      <p:sp>
        <p:nvSpPr>
          <p:cNvPr id="10" name="Rectangle 9"/>
          <p:cNvSpPr/>
          <p:nvPr/>
        </p:nvSpPr>
        <p:spPr>
          <a:xfrm>
            <a:off x="4736592" y="2395728"/>
            <a:ext cx="6510528"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36592" y="2395728"/>
            <a:ext cx="731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919472" y="262432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19472" y="2624328"/>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4" name="TextBox 13"/>
          <p:cNvSpPr txBox="1"/>
          <p:nvPr/>
        </p:nvSpPr>
        <p:spPr>
          <a:xfrm>
            <a:off x="5541264" y="2514600"/>
            <a:ext cx="5504688" cy="676656"/>
          </a:xfrm>
          <a:prstGeom prst="rect">
            <a:avLst/>
          </a:prstGeom>
          <a:noFill/>
        </p:spPr>
        <p:txBody>
          <a:bodyPr wrap="square" anchor="ctr">
            <a:spAutoFit/>
          </a:bodyPr>
          <a:lstStyle/>
          <a:p>
            <a:pPr algn="l">
              <a:spcAft>
                <a:spcPts val="200"/>
              </a:spcAft>
            </a:pPr>
            <a:r>
              <a:rPr sz="1300" b="1">
                <a:solidFill>
                  <a:srgbClr val="1F6FEB"/>
                </a:solidFill>
                <a:latin typeface="Arial"/>
              </a:rPr>
              <a:t>Business outcome</a:t>
            </a:r>
          </a:p>
          <a:p>
            <a:pPr algn="l">
              <a:spcAft>
                <a:spcPts val="200"/>
              </a:spcAft>
            </a:pPr>
            <a:r>
              <a:rPr sz="1100" b="0">
                <a:solidFill>
                  <a:srgbClr val="161B26"/>
                </a:solidFill>
                <a:latin typeface="Arial"/>
              </a:rPr>
              <a:t>The opening section states the management decision and intended use.</a:t>
            </a:r>
          </a:p>
        </p:txBody>
      </p:sp>
      <p:sp>
        <p:nvSpPr>
          <p:cNvPr id="15" name="Rectangle 14"/>
          <p:cNvSpPr/>
          <p:nvPr/>
        </p:nvSpPr>
        <p:spPr>
          <a:xfrm>
            <a:off x="4736592" y="3493008"/>
            <a:ext cx="6510528"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736592" y="3493008"/>
            <a:ext cx="73152"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919472" y="372160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19472" y="3721608"/>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9" name="TextBox 18"/>
          <p:cNvSpPr txBox="1"/>
          <p:nvPr/>
        </p:nvSpPr>
        <p:spPr>
          <a:xfrm>
            <a:off x="5541264" y="3611880"/>
            <a:ext cx="5504688" cy="676656"/>
          </a:xfrm>
          <a:prstGeom prst="rect">
            <a:avLst/>
          </a:prstGeom>
          <a:noFill/>
        </p:spPr>
        <p:txBody>
          <a:bodyPr wrap="square" anchor="ctr">
            <a:spAutoFit/>
          </a:bodyPr>
          <a:lstStyle/>
          <a:p>
            <a:pPr algn="l">
              <a:spcAft>
                <a:spcPts val="200"/>
              </a:spcAft>
            </a:pPr>
            <a:r>
              <a:rPr sz="1300" b="1">
                <a:solidFill>
                  <a:srgbClr val="10B981"/>
                </a:solidFill>
                <a:latin typeface="Arial"/>
              </a:rPr>
              <a:t>Evidence structure</a:t>
            </a:r>
          </a:p>
          <a:p>
            <a:pPr algn="l">
              <a:spcAft>
                <a:spcPts val="200"/>
              </a:spcAft>
            </a:pPr>
            <a:r>
              <a:rPr sz="1100" b="0">
                <a:solidFill>
                  <a:srgbClr val="161B26"/>
                </a:solidFill>
                <a:latin typeface="Arial"/>
              </a:rPr>
              <a:t>Headings, tables and source notes make claims reviewable in native Word.</a:t>
            </a:r>
          </a:p>
        </p:txBody>
      </p:sp>
      <p:sp>
        <p:nvSpPr>
          <p:cNvPr id="20" name="Rectangle 19"/>
          <p:cNvSpPr/>
          <p:nvPr/>
        </p:nvSpPr>
        <p:spPr>
          <a:xfrm>
            <a:off x="4736592" y="4590288"/>
            <a:ext cx="6510528"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736592" y="4590288"/>
            <a:ext cx="7315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9472" y="4818888"/>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9472" y="4818888"/>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4" name="TextBox 23"/>
          <p:cNvSpPr txBox="1"/>
          <p:nvPr/>
        </p:nvSpPr>
        <p:spPr>
          <a:xfrm>
            <a:off x="5541264" y="4709160"/>
            <a:ext cx="5504688" cy="676656"/>
          </a:xfrm>
          <a:prstGeom prst="rect">
            <a:avLst/>
          </a:prstGeom>
          <a:noFill/>
        </p:spPr>
        <p:txBody>
          <a:bodyPr wrap="square" anchor="ctr">
            <a:spAutoFit/>
          </a:bodyPr>
          <a:lstStyle/>
          <a:p>
            <a:pPr algn="l">
              <a:spcAft>
                <a:spcPts val="200"/>
              </a:spcAft>
            </a:pPr>
            <a:r>
              <a:rPr sz="1300" b="1">
                <a:solidFill>
                  <a:srgbClr val="7C3AED"/>
                </a:solidFill>
                <a:latin typeface="Arial"/>
              </a:rPr>
              <a:t>Approval boundary</a:t>
            </a:r>
          </a:p>
          <a:p>
            <a:pPr algn="l">
              <a:spcAft>
                <a:spcPts val="200"/>
              </a:spcAft>
            </a:pPr>
            <a:r>
              <a:rPr sz="1100" b="0">
                <a:solidFill>
                  <a:srgbClr val="161B26"/>
                </a:solidFill>
                <a:latin typeface="Arial"/>
              </a:rPr>
              <a:t>The status and named reviewer remain visible before release or send.</a:t>
            </a:r>
          </a:p>
        </p:txBody>
      </p:sp>
      <p:sp>
        <p:nvSpPr>
          <p:cNvPr id="25" name="TextBox 24"/>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5B6372"/>
                </a:solidFill>
                <a:latin typeface="Arial"/>
              </a:rPr>
              <a:t>A rendered preview of the realistic Word, Excel or PowerPoint artifact supplied in this lab folder.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10 — Process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Scope the folder</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Connect approved context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Plan the task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Watch and steer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Review files in Microsoft 365</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10 — Professional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Bounded workspace</a:t>
            </a:r>
          </a:p>
          <a:p>
            <a:pPr algn="l">
              <a:spcAft>
                <a:spcPts val="300"/>
              </a:spcAft>
            </a:pPr>
            <a:r>
              <a:rPr sz="1200" b="0">
                <a:solidFill>
                  <a:srgbClr val="5B6372"/>
                </a:solidFill>
                <a:latin typeface="Arial"/>
              </a:rPr>
              <a:t>Give Cowork one project folder or Project, not uncontrolled access to unrelated files.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Connector supplies context</a:t>
            </a:r>
          </a:p>
          <a:p>
            <a:pPr algn="l">
              <a:spcAft>
                <a:spcPts val="300"/>
              </a:spcAft>
            </a:pPr>
            <a:r>
              <a:rPr sz="1200" b="0">
                <a:solidFill>
                  <a:srgbClr val="5B6372"/>
                </a:solidFill>
                <a:latin typeface="Arial"/>
              </a:rPr>
              <a:t>Search approved SharePoint, OneDrive, Outlook and Teams evidence through delegated permissions.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Cowork executes over steps</a:t>
            </a:r>
          </a:p>
          <a:p>
            <a:pPr algn="l">
              <a:spcAft>
                <a:spcPts val="300"/>
              </a:spcAft>
            </a:pPr>
            <a:r>
              <a:rPr sz="1200" b="0">
                <a:solidFill>
                  <a:srgbClr val="5B6372"/>
                </a:solidFill>
                <a:latin typeface="Arial"/>
              </a:rPr>
              <a:t>It can inspect inputs, create real files, update the plan and surface checkpoints.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Office add-ins finish the work</a:t>
            </a:r>
          </a:p>
          <a:p>
            <a:pPr algn="l">
              <a:spcAft>
                <a:spcPts val="300"/>
              </a:spcAft>
            </a:pPr>
            <a:r>
              <a:rPr sz="1200" b="0">
                <a:solidFill>
                  <a:srgbClr val="5B6372"/>
                </a:solidFill>
                <a:latin typeface="Arial"/>
              </a:rPr>
              <a:t>Open generated Word, Excel and PowerPoint files in the native apps for tracked review and approval.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Coordinate the Planning Pack with Claude Cowork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127A3E"/>
                </a:solidFill>
                <a:latin typeface="Arial"/>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161B26"/>
                </a:solidFill>
                <a:latin typeface="Arial"/>
              </a:rPr>
              <a:t>Cowork worked only inside the scoped project, produced a visible plan and discrepancy log, and every generated Office artifact was reviewed in its native app before the hand-off was approved.</a:t>
            </a:r>
          </a:p>
        </p:txBody>
      </p:sp>
      <p:sp>
        <p:nvSpPr>
          <p:cNvPr id="10" name="Rectangle 9"/>
          <p:cNvSpPr/>
          <p:nvPr/>
        </p:nvSpPr>
        <p:spPr>
          <a:xfrm>
            <a:off x="777240"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1F6FEB"/>
                </a:solidFill>
                <a:latin typeface="Arial"/>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10B981"/>
                </a:solidFill>
                <a:latin typeface="Arial"/>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7C3AED"/>
                </a:solidFill>
                <a:latin typeface="Arial"/>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1700" b="1">
                <a:solidFill>
                  <a:srgbClr val="161B26"/>
                </a:solidFill>
                <a:latin typeface="Arial"/>
              </a:rPr>
              <a:t>Automate Excel, Outlook and a Daily Brief with Claude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Build a safe, repeatable work process that refreshes a local Excel control workbook, searches approved planning mail and generates a source-linked daily brief without embedding secrets or auto-sending messages.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reviewed automation plan, local workbook-update script, connector-assisted Outlook search and generated daily brief with run log.</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Claude Code, MCP, Microsoft 365 connector, Python, openpyxl, python-docx, run log, approval gates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 · SCREENSHOT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Claude-Generated Company Work Sample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32104" y="2206559"/>
            <a:ext cx="3493008" cy="337757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ab-11-artifact.png"/>
          <p:cNvPicPr>
            <a:picLocks noChangeAspect="1"/>
          </p:cNvPicPr>
          <p:nvPr/>
        </p:nvPicPr>
        <p:blipFill>
          <a:blip r:embed="rId2"/>
          <a:stretch>
            <a:fillRect/>
          </a:stretch>
        </p:blipFill>
        <p:spPr>
          <a:xfrm>
            <a:off x="877824" y="2252279"/>
            <a:ext cx="3401568" cy="3286130"/>
          </a:xfrm>
          <a:prstGeom prst="rect">
            <a:avLst/>
          </a:prstGeom>
        </p:spPr>
      </p:pic>
      <p:sp>
        <p:nvSpPr>
          <p:cNvPr id="9" name="TextBox 8"/>
          <p:cNvSpPr txBox="1"/>
          <p:nvPr/>
        </p:nvSpPr>
        <p:spPr>
          <a:xfrm>
            <a:off x="4736592" y="1901952"/>
            <a:ext cx="6510528" cy="347472"/>
          </a:xfrm>
          <a:prstGeom prst="rect">
            <a:avLst/>
          </a:prstGeom>
          <a:noFill/>
        </p:spPr>
        <p:txBody>
          <a:bodyPr wrap="square" anchor="t">
            <a:spAutoFit/>
          </a:bodyPr>
          <a:lstStyle/>
          <a:p>
            <a:pPr algn="l">
              <a:spcAft>
                <a:spcPts val="400"/>
              </a:spcAft>
            </a:pPr>
            <a:r>
              <a:rPr sz="1200" b="1">
                <a:solidFill>
                  <a:srgbClr val="10B981"/>
                </a:solidFill>
                <a:latin typeface="Arial"/>
              </a:rPr>
              <a:t>WHAT TO NOTICE</a:t>
            </a:r>
          </a:p>
        </p:txBody>
      </p:sp>
      <p:sp>
        <p:nvSpPr>
          <p:cNvPr id="10" name="Rectangle 9"/>
          <p:cNvSpPr/>
          <p:nvPr/>
        </p:nvSpPr>
        <p:spPr>
          <a:xfrm>
            <a:off x="4736592" y="2395728"/>
            <a:ext cx="6510528"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36592" y="2395728"/>
            <a:ext cx="731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919472" y="2624328"/>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19472" y="2624328"/>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4" name="TextBox 13"/>
          <p:cNvSpPr txBox="1"/>
          <p:nvPr/>
        </p:nvSpPr>
        <p:spPr>
          <a:xfrm>
            <a:off x="5541264" y="2514600"/>
            <a:ext cx="5504688" cy="676656"/>
          </a:xfrm>
          <a:prstGeom prst="rect">
            <a:avLst/>
          </a:prstGeom>
          <a:noFill/>
        </p:spPr>
        <p:txBody>
          <a:bodyPr wrap="square" anchor="ctr">
            <a:spAutoFit/>
          </a:bodyPr>
          <a:lstStyle/>
          <a:p>
            <a:pPr algn="l">
              <a:spcAft>
                <a:spcPts val="200"/>
              </a:spcAft>
            </a:pPr>
            <a:r>
              <a:rPr sz="1300" b="1">
                <a:solidFill>
                  <a:srgbClr val="1F6FEB"/>
                </a:solidFill>
                <a:latin typeface="Arial"/>
              </a:rPr>
              <a:t>Business outcome</a:t>
            </a:r>
          </a:p>
          <a:p>
            <a:pPr algn="l">
              <a:spcAft>
                <a:spcPts val="200"/>
              </a:spcAft>
            </a:pPr>
            <a:r>
              <a:rPr sz="1100" b="0">
                <a:solidFill>
                  <a:srgbClr val="161B26"/>
                </a:solidFill>
                <a:latin typeface="Arial"/>
              </a:rPr>
              <a:t>The opening section states the management decision and intended use.</a:t>
            </a:r>
          </a:p>
        </p:txBody>
      </p:sp>
      <p:sp>
        <p:nvSpPr>
          <p:cNvPr id="15" name="Rectangle 14"/>
          <p:cNvSpPr/>
          <p:nvPr/>
        </p:nvSpPr>
        <p:spPr>
          <a:xfrm>
            <a:off x="4736592" y="3493008"/>
            <a:ext cx="6510528"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736592" y="3493008"/>
            <a:ext cx="73152"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919472" y="372160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19472" y="3721608"/>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19" name="TextBox 18"/>
          <p:cNvSpPr txBox="1"/>
          <p:nvPr/>
        </p:nvSpPr>
        <p:spPr>
          <a:xfrm>
            <a:off x="5541264" y="3611880"/>
            <a:ext cx="5504688" cy="676656"/>
          </a:xfrm>
          <a:prstGeom prst="rect">
            <a:avLst/>
          </a:prstGeom>
          <a:noFill/>
        </p:spPr>
        <p:txBody>
          <a:bodyPr wrap="square" anchor="ctr">
            <a:spAutoFit/>
          </a:bodyPr>
          <a:lstStyle/>
          <a:p>
            <a:pPr algn="l">
              <a:spcAft>
                <a:spcPts val="200"/>
              </a:spcAft>
            </a:pPr>
            <a:r>
              <a:rPr sz="1300" b="1">
                <a:solidFill>
                  <a:srgbClr val="10B981"/>
                </a:solidFill>
                <a:latin typeface="Arial"/>
              </a:rPr>
              <a:t>Evidence structure</a:t>
            </a:r>
          </a:p>
          <a:p>
            <a:pPr algn="l">
              <a:spcAft>
                <a:spcPts val="200"/>
              </a:spcAft>
            </a:pPr>
            <a:r>
              <a:rPr sz="1100" b="0">
                <a:solidFill>
                  <a:srgbClr val="161B26"/>
                </a:solidFill>
                <a:latin typeface="Arial"/>
              </a:rPr>
              <a:t>Headings, tables and source notes make claims reviewable in native Word.</a:t>
            </a:r>
          </a:p>
        </p:txBody>
      </p:sp>
      <p:sp>
        <p:nvSpPr>
          <p:cNvPr id="20" name="Rectangle 19"/>
          <p:cNvSpPr/>
          <p:nvPr/>
        </p:nvSpPr>
        <p:spPr>
          <a:xfrm>
            <a:off x="4736592" y="4590288"/>
            <a:ext cx="6510528"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736592" y="4590288"/>
            <a:ext cx="73152"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9472" y="4818888"/>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9472" y="4818888"/>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4" name="TextBox 23"/>
          <p:cNvSpPr txBox="1"/>
          <p:nvPr/>
        </p:nvSpPr>
        <p:spPr>
          <a:xfrm>
            <a:off x="5541264" y="4709160"/>
            <a:ext cx="5504688" cy="676656"/>
          </a:xfrm>
          <a:prstGeom prst="rect">
            <a:avLst/>
          </a:prstGeom>
          <a:noFill/>
        </p:spPr>
        <p:txBody>
          <a:bodyPr wrap="square" anchor="ctr">
            <a:spAutoFit/>
          </a:bodyPr>
          <a:lstStyle/>
          <a:p>
            <a:pPr algn="l">
              <a:spcAft>
                <a:spcPts val="200"/>
              </a:spcAft>
            </a:pPr>
            <a:r>
              <a:rPr sz="1300" b="1">
                <a:solidFill>
                  <a:srgbClr val="7C3AED"/>
                </a:solidFill>
                <a:latin typeface="Arial"/>
              </a:rPr>
              <a:t>Approval boundary</a:t>
            </a:r>
          </a:p>
          <a:p>
            <a:pPr algn="l">
              <a:spcAft>
                <a:spcPts val="200"/>
              </a:spcAft>
            </a:pPr>
            <a:r>
              <a:rPr sz="1100" b="0">
                <a:solidFill>
                  <a:srgbClr val="161B26"/>
                </a:solidFill>
                <a:latin typeface="Arial"/>
              </a:rPr>
              <a:t>The status and named reviewer remain visible before release or send.</a:t>
            </a:r>
          </a:p>
        </p:txBody>
      </p:sp>
      <p:sp>
        <p:nvSpPr>
          <p:cNvPr id="25" name="TextBox 24"/>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5B6372"/>
                </a:solidFill>
                <a:latin typeface="Arial"/>
              </a:rPr>
              <a:t>A rendered preview of the realistic Word, Excel or PowerPoint artifact supplied in this lab folder.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11 — Process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Plan and inspect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MCP and files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Update Excel locally</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Search approved Outlook context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Generate and review daily brief</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11 — Professional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Connector inheritance</a:t>
            </a:r>
          </a:p>
          <a:p>
            <a:pPr algn="l">
              <a:spcAft>
                <a:spcPts val="300"/>
              </a:spcAft>
            </a:pPr>
            <a:r>
              <a:rPr sz="1200" b="0">
                <a:solidFill>
                  <a:srgbClr val="5B6372"/>
                </a:solidFill>
                <a:latin typeface="Arial"/>
              </a:rPr>
              <a:t>Claude.ai connectors can appear in Claude Code when signed in with the same Claude.ai subscription; verify with /mcp.</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Local file automation</a:t>
            </a:r>
          </a:p>
          <a:p>
            <a:pPr algn="l">
              <a:spcAft>
                <a:spcPts val="300"/>
              </a:spcAft>
            </a:pPr>
            <a:r>
              <a:rPr sz="1200" b="0">
                <a:solidFill>
                  <a:srgbClr val="5B6372"/>
                </a:solidFill>
                <a:latin typeface="Arial"/>
              </a:rPr>
              <a:t>Use a small reviewed Python script to update workbook inputs and retain formulas, formats and audit entries.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Source-linked brief</a:t>
            </a:r>
          </a:p>
          <a:p>
            <a:pPr algn="l">
              <a:spcAft>
                <a:spcPts val="300"/>
              </a:spcAft>
            </a:pPr>
            <a:r>
              <a:rPr sz="1200" b="0">
                <a:solidFill>
                  <a:srgbClr val="5B6372"/>
                </a:solidFill>
                <a:latin typeface="Arial"/>
              </a:rPr>
              <a:t>Email findings cite the source message; KPI findings cite workbook cells or ranges.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No hidden side effects</a:t>
            </a:r>
          </a:p>
          <a:p>
            <a:pPr algn="l">
              <a:spcAft>
                <a:spcPts val="300"/>
              </a:spcAft>
            </a:pPr>
            <a:r>
              <a:rPr sz="1200" b="0">
                <a:solidFill>
                  <a:srgbClr val="5B6372"/>
                </a:solidFill>
                <a:latin typeface="Arial"/>
              </a:rPr>
              <a:t>The lab reads and drafts. Any external write or send action remains a separate explicit approval.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1700" b="1">
                <a:solidFill>
                  <a:srgbClr val="161B26"/>
                </a:solidFill>
                <a:latin typeface="Arial"/>
              </a:rPr>
              <a:t>Automate Excel, Outlook and a Daily Brief with Claude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127A3E"/>
                </a:solidFill>
                <a:latin typeface="Arial"/>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161B26"/>
                </a:solidFill>
                <a:latin typeface="Arial"/>
              </a:rPr>
              <a:t>The reviewed scripts run successfully, the updated workbook preserves formulas and charts, the daily brief cites Excel and Outlook evidence, the run log is complete and no email was sent or secret stored.</a:t>
            </a:r>
          </a:p>
        </p:txBody>
      </p:sp>
      <p:sp>
        <p:nvSpPr>
          <p:cNvPr id="10" name="Rectangle 9"/>
          <p:cNvSpPr/>
          <p:nvPr/>
        </p:nvSpPr>
        <p:spPr>
          <a:xfrm>
            <a:off x="777240"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1F6FEB"/>
                </a:solidFill>
                <a:latin typeface="Arial"/>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10B981"/>
                </a:solidFill>
                <a:latin typeface="Arial"/>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7C3AED"/>
                </a:solidFill>
                <a:latin typeface="Arial"/>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1700" b="1">
                <a:solidFill>
                  <a:srgbClr val="161B26"/>
                </a:solidFill>
                <a:latin typeface="Arial"/>
              </a:rPr>
              <a:t>Recap — Agentic Coordination with Outlook, Cowork and Claude Code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Capability — Triage Outlook messages and prepare consistent replies with a human send gate.</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Evidence retained — A triage queue, cited thread summary, approved reply templates, draft responses and an unsent meeting invitation.</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Capability — Use Claude Cowork and Microsoft 365 context to coordinate a bounded multi-file company task.</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Evidence retained — A Cowork project folder, execution plan, consolidated management brief, discrepancy log and reviewed Office hand-off.</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Capability — Use Claude Code and approved connectors to update Excel, search Outlook and produce a daily management brief.</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Evidence retained — A reviewed automation plan, local workbook-update script, connector-assisted Outlook search and generated daily brief with run log.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Choose the right Claude surface</a:t>
            </a:r>
          </a:p>
          <a:p>
            <a:pPr algn="l">
              <a:spcAft>
                <a:spcPts val="300"/>
              </a:spcAft>
            </a:pPr>
            <a:r>
              <a:rPr sz="1300" b="0">
                <a:solidFill>
                  <a:srgbClr val="5B6372"/>
                </a:solidFill>
                <a:latin typeface="Arial"/>
              </a:rPr>
              <a:t>Select the right Claude and Microsoft 365 operating surface for a governed company task.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Connect governed context</a:t>
            </a:r>
          </a:p>
          <a:p>
            <a:pPr algn="l">
              <a:spcAft>
                <a:spcPts val="300"/>
              </a:spcAft>
            </a:pPr>
            <a:r>
              <a:rPr sz="1300" b="0">
                <a:solidFill>
                  <a:srgbClr val="5B6372"/>
                </a:solidFill>
                <a:latin typeface="Arial"/>
              </a:rPr>
              <a:t>Connect approved Microsoft 365 context and map permissions, sources and evidence boundaries.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Prompt with an audit trail</a:t>
            </a:r>
          </a:p>
          <a:p>
            <a:pPr algn="l">
              <a:spcAft>
                <a:spcPts val="300"/>
              </a:spcAft>
            </a:pPr>
            <a:r>
              <a:rPr sz="1300" b="0">
                <a:solidFill>
                  <a:srgbClr val="5B6372"/>
                </a:solidFill>
                <a:latin typeface="Arial"/>
              </a:rPr>
              <a:t>Direct Claude with an auditable prompt contract and a human approval gate.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Plan marketing</a:t>
            </a:r>
          </a:p>
          <a:p>
            <a:pPr algn="l">
              <a:spcAft>
                <a:spcPts val="300"/>
              </a:spcAft>
            </a:pPr>
            <a:r>
              <a:rPr sz="1300" b="0">
                <a:solidFill>
                  <a:srgbClr val="5B6372"/>
                </a:solidFill>
                <a:latin typeface="Arial"/>
              </a:rPr>
              <a:t>Produce a decision-ready marketing plan in Word from approved company evidence.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Shape strategy</a:t>
            </a:r>
          </a:p>
          <a:p>
            <a:pPr algn="l">
              <a:spcAft>
                <a:spcPts val="300"/>
              </a:spcAft>
            </a:pPr>
            <a:r>
              <a:rPr sz="1300" b="0">
                <a:solidFill>
                  <a:srgbClr val="5B6372"/>
                </a:solidFill>
                <a:latin typeface="Arial"/>
              </a:rPr>
              <a:t>Develop an aligned strategic plan with choices, initiatives, owners, measures and risks.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Draft sustainability and HR content</a:t>
            </a:r>
          </a:p>
          <a:p>
            <a:pPr algn="l">
              <a:spcAft>
                <a:spcPts val="300"/>
              </a:spcAft>
            </a:pPr>
            <a:r>
              <a:rPr sz="1300" b="0">
                <a:solidFill>
                  <a:srgbClr val="5B6372"/>
                </a:solidFill>
                <a:latin typeface="Arial"/>
              </a:rPr>
              <a:t>Draft a sustainability report section and HR policy using source, legal and management review controls.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What You Achieved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Analyse finance in Excel</a:t>
            </a:r>
          </a:p>
          <a:p>
            <a:pPr algn="l">
              <a:spcAft>
                <a:spcPts val="300"/>
              </a:spcAft>
            </a:pPr>
            <a:r>
              <a:rPr sz="1300" b="0">
                <a:solidFill>
                  <a:srgbClr val="5B6372"/>
                </a:solidFill>
                <a:latin typeface="Arial"/>
              </a:rPr>
              <a:t>Build a formula-driven financial analysis and executive dashboard in Excel.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Tell the story in PowerPoint</a:t>
            </a:r>
          </a:p>
          <a:p>
            <a:pPr algn="l">
              <a:spcAft>
                <a:spcPts val="300"/>
              </a:spcAft>
            </a:pPr>
            <a:r>
              <a:rPr sz="1300" b="0">
                <a:solidFill>
                  <a:srgbClr val="5B6372"/>
                </a:solidFill>
                <a:latin typeface="Arial"/>
              </a:rPr>
              <a:t>Create a highly visual strategic and marketing PowerPoint with native Excel charts and evidence traceability.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Coordinate Outlook safely</a:t>
            </a:r>
          </a:p>
          <a:p>
            <a:pPr algn="l">
              <a:spcAft>
                <a:spcPts val="300"/>
              </a:spcAft>
            </a:pPr>
            <a:r>
              <a:rPr sz="1300" b="0">
                <a:solidFill>
                  <a:srgbClr val="5B6372"/>
                </a:solidFill>
                <a:latin typeface="Arial"/>
              </a:rPr>
              <a:t>Triage Outlook messages and prepare approval-based replies without bypassing the human send gate.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Orchestrate with Claude Cowork</a:t>
            </a:r>
          </a:p>
          <a:p>
            <a:pPr algn="l">
              <a:spcAft>
                <a:spcPts val="300"/>
              </a:spcAft>
            </a:pPr>
            <a:r>
              <a:rPr sz="1300" b="0">
                <a:solidFill>
                  <a:srgbClr val="5B6372"/>
                </a:solidFill>
                <a:latin typeface="Arial"/>
              </a:rPr>
              <a:t>Use Claude Cowork with Microsoft 365 context to coordinate a multi-file planning workflow.</a:t>
            </a:r>
          </a:p>
        </p:txBody>
      </p:sp>
      <p:sp>
        <p:nvSpPr>
          <p:cNvPr id="27" name="Rectangle 26"/>
          <p:cNvSpPr/>
          <p:nvPr/>
        </p:nvSpPr>
        <p:spPr>
          <a:xfrm>
            <a:off x="3504438"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504438"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760470"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60470"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11</a:t>
            </a:r>
          </a:p>
        </p:txBody>
      </p:sp>
      <p:sp>
        <p:nvSpPr>
          <p:cNvPr id="31" name="TextBox 30"/>
          <p:cNvSpPr txBox="1"/>
          <p:nvPr/>
        </p:nvSpPr>
        <p:spPr>
          <a:xfrm>
            <a:off x="4491990"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Automate with Claude Code</a:t>
            </a:r>
          </a:p>
          <a:p>
            <a:pPr algn="l">
              <a:spcAft>
                <a:spcPts val="300"/>
              </a:spcAft>
            </a:pPr>
            <a:r>
              <a:rPr sz="1300" b="0">
                <a:solidFill>
                  <a:srgbClr val="5B6372"/>
                </a:solidFill>
                <a:latin typeface="Arial"/>
              </a:rPr>
              <a:t>Use Claude Code and approved connectors to update Excel, search Outlook and produce a daily management brief.</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course material stays available at https://lms-tms.tertiaryinfotech.com/.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CURRENT PRODUCT GUIDANCE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Selected References &amp; Further Learning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Claude for Microsoft 365 overview</a:t>
            </a:r>
          </a:p>
          <a:p>
            <a:pPr algn="l">
              <a:spcAft>
                <a:spcPts val="300"/>
              </a:spcAft>
            </a:pPr>
            <a:r>
              <a:rPr sz="1100" b="0">
                <a:solidFill>
                  <a:srgbClr val="5B6372"/>
                </a:solidFill>
                <a:latin typeface="Arial"/>
              </a:rPr>
              <a:t>claude.com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Set up the Microsoft 365 connector</a:t>
            </a:r>
          </a:p>
          <a:p>
            <a:pPr algn="l">
              <a:spcAft>
                <a:spcPts val="300"/>
              </a:spcAft>
            </a:pPr>
            <a:r>
              <a:rPr sz="1100" b="0">
                <a:solidFill>
                  <a:srgbClr val="5B6372"/>
                </a:solidFill>
                <a:latin typeface="Arial"/>
              </a:rPr>
              <a:t>support.claude.com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Use Claude for Microsoft 365 with third-party platforms</a:t>
            </a:r>
          </a:p>
          <a:p>
            <a:pPr algn="l">
              <a:spcAft>
                <a:spcPts val="300"/>
              </a:spcAft>
            </a:pPr>
            <a:r>
              <a:rPr sz="1100" b="0">
                <a:solidFill>
                  <a:srgbClr val="5B6372"/>
                </a:solidFill>
                <a:latin typeface="Arial"/>
              </a:rPr>
              <a:t>claude.com</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Get started in Claude Cowork in three steps</a:t>
            </a:r>
          </a:p>
          <a:p>
            <a:pPr algn="l">
              <a:spcAft>
                <a:spcPts val="300"/>
              </a:spcAft>
            </a:pPr>
            <a:r>
              <a:rPr sz="1100" b="0">
                <a:solidFill>
                  <a:srgbClr val="5B6372"/>
                </a:solidFill>
                <a:latin typeface="Arial"/>
              </a:rPr>
              <a:t>claude.com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Connect Claude Code to tools via MCP</a:t>
            </a:r>
          </a:p>
          <a:p>
            <a:pPr algn="l">
              <a:spcAft>
                <a:spcPts val="300"/>
              </a:spcAft>
            </a:pPr>
            <a:r>
              <a:rPr sz="1100" b="0">
                <a:solidFill>
                  <a:srgbClr val="5B6372"/>
                </a:solidFill>
                <a:latin typeface="Arial"/>
              </a:rPr>
              <a:t>code.claude.com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Copilot Cowork overview</a:t>
            </a:r>
          </a:p>
          <a:p>
            <a:pPr algn="l">
              <a:spcAft>
                <a:spcPts val="300"/>
              </a:spcAft>
            </a:pPr>
            <a:r>
              <a:rPr sz="1100" b="0">
                <a:solidFill>
                  <a:srgbClr val="5B6372"/>
                </a:solidFill>
                <a:latin typeface="Arial"/>
              </a:rPr>
              <a:t>learn.microsoft.com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COURSE CLOSE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Thank You — Keep the Workflow Governed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874519"/>
            <a:ext cx="10561320" cy="594360"/>
          </a:xfrm>
          <a:prstGeom prst="rect">
            <a:avLst/>
          </a:prstGeom>
          <a:noFill/>
        </p:spPr>
        <p:txBody>
          <a:bodyPr wrap="square" anchor="t">
            <a:spAutoFit/>
          </a:bodyPr>
          <a:lstStyle/>
          <a:p>
            <a:pPr algn="ctr">
              <a:spcAft>
                <a:spcPts val="400"/>
              </a:spcAft>
            </a:pPr>
            <a:r>
              <a:rPr sz="2400" b="1">
                <a:solidFill>
                  <a:srgbClr val="161B26"/>
                </a:solidFill>
                <a:latin typeface="Arial"/>
              </a:rPr>
              <a:t>Carry one connected evidence chain from source to decision.</a:t>
            </a:r>
          </a:p>
        </p:txBody>
      </p:sp>
      <p:sp>
        <p:nvSpPr>
          <p:cNvPr id="8" name="Rectangle 7"/>
          <p:cNvSpPr/>
          <p:nvPr/>
        </p:nvSpPr>
        <p:spPr>
          <a:xfrm>
            <a:off x="822960" y="2880360"/>
            <a:ext cx="3322320" cy="23317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2880360"/>
            <a:ext cx="33223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154936" y="3200400"/>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54936" y="3200400"/>
            <a:ext cx="658368" cy="658368"/>
          </a:xfrm>
          <a:prstGeom prst="rect">
            <a:avLst/>
          </a:prstGeom>
          <a:noFill/>
        </p:spPr>
        <p:txBody>
          <a:bodyPr wrap="square" anchor="ctr">
            <a:spAutoFit/>
          </a:bodyPr>
          <a:lstStyle/>
          <a:p>
            <a:pPr algn="ctr">
              <a:spcAft>
                <a:spcPts val="400"/>
              </a:spcAft>
            </a:pPr>
            <a:r>
              <a:rPr sz="2100" b="1">
                <a:solidFill>
                  <a:srgbClr val="FFFFFF"/>
                </a:solidFill>
                <a:latin typeface="Arial"/>
              </a:rPr>
              <a:t>1</a:t>
            </a:r>
          </a:p>
        </p:txBody>
      </p:sp>
      <p:sp>
        <p:nvSpPr>
          <p:cNvPr id="12" name="TextBox 11"/>
          <p:cNvSpPr txBox="1"/>
          <p:nvPr/>
        </p:nvSpPr>
        <p:spPr>
          <a:xfrm>
            <a:off x="1005840" y="4050792"/>
            <a:ext cx="2956560" cy="320040"/>
          </a:xfrm>
          <a:prstGeom prst="rect">
            <a:avLst/>
          </a:prstGeom>
          <a:noFill/>
        </p:spPr>
        <p:txBody>
          <a:bodyPr wrap="square" anchor="t">
            <a:spAutoFit/>
          </a:bodyPr>
          <a:lstStyle/>
          <a:p>
            <a:pPr algn="ctr">
              <a:spcAft>
                <a:spcPts val="400"/>
              </a:spcAft>
            </a:pPr>
            <a:r>
              <a:rPr sz="1300" b="1">
                <a:solidFill>
                  <a:srgbClr val="1F6FEB"/>
                </a:solidFill>
                <a:latin typeface="Arial"/>
              </a:rPr>
              <a:t>BUILD</a:t>
            </a:r>
          </a:p>
        </p:txBody>
      </p:sp>
      <p:sp>
        <p:nvSpPr>
          <p:cNvPr id="13" name="TextBox 12"/>
          <p:cNvSpPr txBox="1"/>
          <p:nvPr/>
        </p:nvSpPr>
        <p:spPr>
          <a:xfrm>
            <a:off x="1051560" y="4434840"/>
            <a:ext cx="2865120" cy="594360"/>
          </a:xfrm>
          <a:prstGeom prst="rect">
            <a:avLst/>
          </a:prstGeom>
          <a:noFill/>
        </p:spPr>
        <p:txBody>
          <a:bodyPr wrap="square" anchor="t">
            <a:spAutoFit/>
          </a:bodyPr>
          <a:lstStyle/>
          <a:p>
            <a:pPr algn="ctr">
              <a:spcAft>
                <a:spcPts val="400"/>
              </a:spcAft>
            </a:pPr>
            <a:r>
              <a:rPr sz="1200" b="0">
                <a:solidFill>
                  <a:srgbClr val="161B26"/>
                </a:solidFill>
                <a:latin typeface="Arial"/>
              </a:rPr>
              <a:t>Create useful native Word, Excel and PowerPoint work products.</a:t>
            </a:r>
          </a:p>
        </p:txBody>
      </p:sp>
      <p:sp>
        <p:nvSpPr>
          <p:cNvPr id="14" name="Rectangle 13"/>
          <p:cNvSpPr/>
          <p:nvPr/>
        </p:nvSpPr>
        <p:spPr>
          <a:xfrm>
            <a:off x="4419600" y="2880360"/>
            <a:ext cx="3322320" cy="23317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9600" y="2880360"/>
            <a:ext cx="33223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751576" y="3200400"/>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51576" y="3200400"/>
            <a:ext cx="658368" cy="658368"/>
          </a:xfrm>
          <a:prstGeom prst="rect">
            <a:avLst/>
          </a:prstGeom>
          <a:noFill/>
        </p:spPr>
        <p:txBody>
          <a:bodyPr wrap="square" anchor="ctr">
            <a:spAutoFit/>
          </a:bodyPr>
          <a:lstStyle/>
          <a:p>
            <a:pPr algn="ctr">
              <a:spcAft>
                <a:spcPts val="400"/>
              </a:spcAft>
            </a:pPr>
            <a:r>
              <a:rPr sz="2100" b="1">
                <a:solidFill>
                  <a:srgbClr val="FFFFFF"/>
                </a:solidFill>
                <a:latin typeface="Arial"/>
              </a:rPr>
              <a:t>2</a:t>
            </a:r>
          </a:p>
        </p:txBody>
      </p:sp>
      <p:sp>
        <p:nvSpPr>
          <p:cNvPr id="18" name="TextBox 17"/>
          <p:cNvSpPr txBox="1"/>
          <p:nvPr/>
        </p:nvSpPr>
        <p:spPr>
          <a:xfrm>
            <a:off x="4602480" y="4050792"/>
            <a:ext cx="2956560" cy="320040"/>
          </a:xfrm>
          <a:prstGeom prst="rect">
            <a:avLst/>
          </a:prstGeom>
          <a:noFill/>
        </p:spPr>
        <p:txBody>
          <a:bodyPr wrap="square" anchor="t">
            <a:spAutoFit/>
          </a:bodyPr>
          <a:lstStyle/>
          <a:p>
            <a:pPr algn="ctr">
              <a:spcAft>
                <a:spcPts val="400"/>
              </a:spcAft>
            </a:pPr>
            <a:r>
              <a:rPr sz="1300" b="1">
                <a:solidFill>
                  <a:srgbClr val="10B981"/>
                </a:solidFill>
                <a:latin typeface="Arial"/>
              </a:rPr>
              <a:t>VERIFY</a:t>
            </a:r>
          </a:p>
        </p:txBody>
      </p:sp>
      <p:sp>
        <p:nvSpPr>
          <p:cNvPr id="19" name="TextBox 18"/>
          <p:cNvSpPr txBox="1"/>
          <p:nvPr/>
        </p:nvSpPr>
        <p:spPr>
          <a:xfrm>
            <a:off x="4648200" y="4434840"/>
            <a:ext cx="2865120" cy="594360"/>
          </a:xfrm>
          <a:prstGeom prst="rect">
            <a:avLst/>
          </a:prstGeom>
          <a:noFill/>
        </p:spPr>
        <p:txBody>
          <a:bodyPr wrap="square" anchor="t">
            <a:spAutoFit/>
          </a:bodyPr>
          <a:lstStyle/>
          <a:p>
            <a:pPr algn="ctr">
              <a:spcAft>
                <a:spcPts val="400"/>
              </a:spcAft>
            </a:pPr>
            <a:r>
              <a:rPr sz="1200" b="0">
                <a:solidFill>
                  <a:srgbClr val="161B26"/>
                </a:solidFill>
                <a:latin typeface="Arial"/>
              </a:rPr>
              <a:t>Trace claims, formulas, charts, recipients and assumptions to evidence.</a:t>
            </a:r>
          </a:p>
        </p:txBody>
      </p:sp>
      <p:sp>
        <p:nvSpPr>
          <p:cNvPr id="20" name="Rectangle 19"/>
          <p:cNvSpPr/>
          <p:nvPr/>
        </p:nvSpPr>
        <p:spPr>
          <a:xfrm>
            <a:off x="8016240" y="2880360"/>
            <a:ext cx="3322320" cy="23317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6240" y="2880360"/>
            <a:ext cx="332232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348216" y="3200400"/>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48216" y="3200400"/>
            <a:ext cx="658368" cy="658368"/>
          </a:xfrm>
          <a:prstGeom prst="rect">
            <a:avLst/>
          </a:prstGeom>
          <a:noFill/>
        </p:spPr>
        <p:txBody>
          <a:bodyPr wrap="square" anchor="ctr">
            <a:spAutoFit/>
          </a:bodyPr>
          <a:lstStyle/>
          <a:p>
            <a:pPr algn="ctr">
              <a:spcAft>
                <a:spcPts val="400"/>
              </a:spcAft>
            </a:pPr>
            <a:r>
              <a:rPr sz="2100" b="1">
                <a:solidFill>
                  <a:srgbClr val="FFFFFF"/>
                </a:solidFill>
                <a:latin typeface="Arial"/>
              </a:rPr>
              <a:t>3</a:t>
            </a:r>
          </a:p>
        </p:txBody>
      </p:sp>
      <p:sp>
        <p:nvSpPr>
          <p:cNvPr id="24" name="TextBox 23"/>
          <p:cNvSpPr txBox="1"/>
          <p:nvPr/>
        </p:nvSpPr>
        <p:spPr>
          <a:xfrm>
            <a:off x="8199120" y="4050792"/>
            <a:ext cx="2956560" cy="320040"/>
          </a:xfrm>
          <a:prstGeom prst="rect">
            <a:avLst/>
          </a:prstGeom>
          <a:noFill/>
        </p:spPr>
        <p:txBody>
          <a:bodyPr wrap="square" anchor="t">
            <a:spAutoFit/>
          </a:bodyPr>
          <a:lstStyle/>
          <a:p>
            <a:pPr algn="ctr">
              <a:spcAft>
                <a:spcPts val="400"/>
              </a:spcAft>
            </a:pPr>
            <a:r>
              <a:rPr sz="1300" b="1">
                <a:solidFill>
                  <a:srgbClr val="7C3AED"/>
                </a:solidFill>
                <a:latin typeface="Arial"/>
              </a:rPr>
              <a:t>APPROVE</a:t>
            </a:r>
          </a:p>
        </p:txBody>
      </p:sp>
      <p:sp>
        <p:nvSpPr>
          <p:cNvPr id="25" name="TextBox 24"/>
          <p:cNvSpPr txBox="1"/>
          <p:nvPr/>
        </p:nvSpPr>
        <p:spPr>
          <a:xfrm>
            <a:off x="8244840" y="4434840"/>
            <a:ext cx="2865120" cy="594360"/>
          </a:xfrm>
          <a:prstGeom prst="rect">
            <a:avLst/>
          </a:prstGeom>
          <a:noFill/>
        </p:spPr>
        <p:txBody>
          <a:bodyPr wrap="square" anchor="t">
            <a:spAutoFit/>
          </a:bodyPr>
          <a:lstStyle/>
          <a:p>
            <a:pPr algn="ctr">
              <a:spcAft>
                <a:spcPts val="400"/>
              </a:spcAft>
            </a:pPr>
            <a:r>
              <a:rPr sz="1200" b="0">
                <a:solidFill>
                  <a:srgbClr val="161B26"/>
                </a:solidFill>
                <a:latin typeface="Arial"/>
              </a:rPr>
              <a:t>Keep final save, release and send decisions with the authorised human.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