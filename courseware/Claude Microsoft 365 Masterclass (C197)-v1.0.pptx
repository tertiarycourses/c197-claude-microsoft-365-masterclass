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Claude Microsoft 365 Masterclass (C197)</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C197</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Jim Gan Chiu Liang (JL)</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Getting set up with Claude for Microsoft 365, then boosting productivity across Word, Excel, PowerPoint, Outlook and Teams</a:t>
            </a:r>
          </a:p>
          <a:p>
            <a:pPr>
              <a:spcAft>
                <a:spcPts val="1000"/>
              </a:spcAft>
            </a:pPr>
            <a:r>
              <a:rPr sz="1400" b="0">
                <a:solidFill>
                  <a:srgbClr val="5B6372"/>
                </a:solidFill>
                <a:latin typeface="Arial"/>
              </a:rPr>
              <a:t>–  Topic 1: Getting Started with Claude for Microsoft 365 (Labs 1–4)</a:t>
            </a:r>
          </a:p>
          <a:p>
            <a:pPr>
              <a:spcAft>
                <a:spcPts val="1000"/>
              </a:spcAft>
            </a:pPr>
            <a:r>
              <a:rPr sz="1400" b="0">
                <a:solidFill>
                  <a:srgbClr val="5B6372"/>
                </a:solidFill>
                <a:latin typeface="Arial"/>
              </a:rPr>
              <a:t>–  Topic 2: Boosting Productivity Across Microsoft 365 with Claude (Labs 5–8)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Getting set up with Claude for Microsoft 365, then boosting productivity across Word, Excel, PowerPoint, Outlook and Teams</a:t>
            </a:r>
          </a:p>
          <a:p>
            <a:pPr>
              <a:spcAft>
                <a:spcPts val="1000"/>
              </a:spcAft>
            </a:pPr>
            <a:r>
              <a:rPr sz="1400" b="0">
                <a:solidFill>
                  <a:srgbClr val="5B6372"/>
                </a:solidFill>
                <a:latin typeface="Arial"/>
              </a:rPr>
              <a:t>–  Topic 1: Getting Started with Claude for Microsoft 365 (Labs 1–4)</a:t>
            </a:r>
          </a:p>
          <a:p>
            <a:pPr>
              <a:spcAft>
                <a:spcPts val="1000"/>
              </a:spcAft>
            </a:pPr>
            <a:r>
              <a:rPr sz="1400" b="0">
                <a:solidFill>
                  <a:srgbClr val="5B6372"/>
                </a:solidFill>
                <a:latin typeface="Arial"/>
              </a:rPr>
              <a:t>–  Topic 2: Boosting Productivity Across Microsoft 365 with Claude (Labs 5–8)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set up Claude</a:t>
            </a:r>
          </a:p>
          <a:p>
            <a:pPr algn="l">
              <a:spcAft>
                <a:spcPts val="300"/>
              </a:spcAft>
            </a:pPr>
            <a:r>
              <a:rPr sz="1300" b="0">
                <a:solidFill>
                  <a:srgbClr val="5B6372"/>
                </a:solidFill>
                <a:latin typeface="Arial"/>
              </a:rPr>
              <a:t>Explain what Claude is and how it works alongside Microsoft 365, and set up Claude ready for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Connect files &amp; apps</a:t>
            </a:r>
          </a:p>
          <a:p>
            <a:pPr algn="l">
              <a:spcAft>
                <a:spcPts val="300"/>
              </a:spcAft>
            </a:pPr>
            <a:r>
              <a:rPr sz="1300" b="0">
                <a:solidFill>
                  <a:srgbClr val="5B6372"/>
                </a:solidFill>
                <a:latin typeface="Arial"/>
              </a:rPr>
              <a:t>Connect Claude to your Microsoft 365 files and apps by uploading, pasting and using Projects and connectors.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effectively</a:t>
            </a:r>
          </a:p>
          <a:p>
            <a:pPr algn="l">
              <a:spcAft>
                <a:spcPts val="300"/>
              </a:spcAft>
            </a:pPr>
            <a:r>
              <a:rPr sz="1300" b="0">
                <a:solidFill>
                  <a:srgbClr val="5B6372"/>
                </a:solidFill>
                <a:latin typeface="Arial"/>
              </a:rPr>
              <a:t>Write clear, effective prompts that get accurate, usable results for everyday work tasks.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Use AI safely</a:t>
            </a:r>
          </a:p>
          <a:p>
            <a:pPr algn="l">
              <a:spcAft>
                <a:spcPts val="300"/>
              </a:spcAft>
            </a:pPr>
            <a:r>
              <a:rPr sz="1300" b="0">
                <a:solidFill>
                  <a:srgbClr val="5B6372"/>
                </a:solidFill>
                <a:latin typeface="Arial"/>
              </a:rPr>
              <a:t>Apply AI responsibly, securely and privately — knowing what to share, what to withhold and what to verify.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Write in Word</a:t>
            </a:r>
          </a:p>
          <a:p>
            <a:pPr algn="l">
              <a:spcAft>
                <a:spcPts val="300"/>
              </a:spcAft>
            </a:pPr>
            <a:r>
              <a:rPr sz="1300" b="0">
                <a:solidFill>
                  <a:srgbClr val="5B6372"/>
                </a:solidFill>
                <a:latin typeface="Arial"/>
              </a:rPr>
              <a:t>Use Claude to write, rewrite and summarise documents in Microsoft Word.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Analyse in Excel</a:t>
            </a:r>
          </a:p>
          <a:p>
            <a:pPr algn="l">
              <a:spcAft>
                <a:spcPts val="300"/>
              </a:spcAft>
            </a:pPr>
            <a:r>
              <a:rPr sz="1300" b="0">
                <a:solidFill>
                  <a:srgbClr val="5B6372"/>
                </a:solidFill>
                <a:latin typeface="Arial"/>
              </a:rPr>
              <a:t>Use Claude to analyse and explain data, and to build formulas, for Microsoft Excel.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Build in PowerPoint</a:t>
            </a:r>
          </a:p>
          <a:p>
            <a:pPr algn="l">
              <a:spcAft>
                <a:spcPts val="300"/>
              </a:spcAft>
            </a:pPr>
            <a:r>
              <a:rPr sz="1300" b="0">
                <a:solidFill>
                  <a:srgbClr val="5B6372"/>
                </a:solidFill>
                <a:latin typeface="Arial"/>
              </a:rPr>
              <a:t>Use Claude to generate slide outlines and content for Microsoft PowerPoint.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Draft in Outlook &amp; Teams</a:t>
            </a:r>
          </a:p>
          <a:p>
            <a:pPr algn="l">
              <a:spcAft>
                <a:spcPts val="300"/>
              </a:spcAft>
            </a:pPr>
            <a:r>
              <a:rPr sz="1300" b="0">
                <a:solidFill>
                  <a:srgbClr val="5B6372"/>
                </a:solidFill>
                <a:latin typeface="Arial"/>
              </a:rPr>
              <a:t>Use Claude to draft and reply to messages in Microsoft Outlook and Teams.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Claude Works with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From doing every step by hand to describing the result — you tell Claude the outcome you want and it drafts the document, the analysis or the slides for you.</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 works with the files you already have — upload or paste your Word, Excel and PowerPoint content, and Claude works on your material, not a generic example.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Two ways in — upload or paste a one-off, or keep a Project so every chat about the same task already has your files and instructions.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You stay accountable — Claude drafts and suggests; you read, check and edit every result before it becomes your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Ask–Check–Apply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Prepare</a:t>
            </a:r>
          </a:p>
          <a:p>
            <a:pPr algn="l">
              <a:spcAft>
                <a:spcPts val="300"/>
              </a:spcAft>
            </a:pPr>
            <a:r>
              <a:rPr sz="1200" b="0">
                <a:solidFill>
                  <a:srgbClr val="5B6372"/>
                </a:solidFill>
                <a:latin typeface="Arial"/>
              </a:rPr>
              <a:t>Know the task: which file, what you want produced, and what a correct, usable result looks like.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Ask</a:t>
            </a:r>
          </a:p>
          <a:p>
            <a:pPr algn="l">
              <a:spcAft>
                <a:spcPts val="300"/>
              </a:spcAft>
            </a:pPr>
            <a:r>
              <a:rPr sz="1200" b="0">
                <a:solidFill>
                  <a:srgbClr val="5B6372"/>
                </a:solidFill>
                <a:latin typeface="Arial"/>
              </a:rPr>
              <a:t>Write a clear prompt — the role, the context, the task and the output format.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a:t>
            </a:r>
          </a:p>
          <a:p>
            <a:pPr algn="l">
              <a:spcAft>
                <a:spcPts val="300"/>
              </a:spcAft>
            </a:pPr>
            <a:r>
              <a:rPr sz="1200" b="0">
                <a:solidFill>
                  <a:srgbClr val="5B6372"/>
                </a:solidFill>
                <a:latin typeface="Arial"/>
              </a:rPr>
              <a:t>Read Claude's output and verify every figure, name and claim against a source you trust.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Apply</a:t>
            </a:r>
          </a:p>
          <a:p>
            <a:pPr algn="l">
              <a:spcAft>
                <a:spcPts val="300"/>
              </a:spcAft>
            </a:pPr>
            <a:r>
              <a:rPr sz="1200" b="0">
                <a:solidFill>
                  <a:srgbClr val="5B6372"/>
                </a:solidFill>
                <a:latin typeface="Arial"/>
              </a:rPr>
              <a:t>Paste the checked result back into Word, Excel, PowerPoint or Outlook and finish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Adjust the prompt and re-run until the output is right, then save the prompt to reuse.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WORKING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Claude is fastest when your prompt is specific and your check is honest.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build one connected business-review pack — a Word report, an Excel analysis, a PowerPoint deck and the emails that send it — using Claude at every step and checking its work before you rely on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set-up you can trust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Claude ready and connected to your files</a:t>
            </a:r>
          </a:p>
          <a:p>
            <a:pPr>
              <a:spcAft>
                <a:spcPts val="900"/>
              </a:spcAft>
            </a:pPr>
            <a:r>
              <a:rPr sz="1400" b="0">
                <a:solidFill>
                  <a:srgbClr val="161B26"/>
                </a:solidFill>
                <a:latin typeface="Arial"/>
              </a:rPr>
              <a:t>•  A Project holding your review pack</a:t>
            </a:r>
          </a:p>
          <a:p>
            <a:pPr>
              <a:spcAft>
                <a:spcPts val="900"/>
              </a:spcAft>
            </a:pPr>
            <a:r>
              <a:rPr sz="1400" b="0">
                <a:solidFill>
                  <a:srgbClr val="161B26"/>
                </a:solidFill>
                <a:latin typeface="Arial"/>
              </a:rPr>
              <a:t>•  A reusable prompt pattern and a safe-use checklist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 business-review pack</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written report in Word</a:t>
            </a:r>
          </a:p>
          <a:p>
            <a:pPr>
              <a:spcAft>
                <a:spcPts val="900"/>
              </a:spcAft>
            </a:pPr>
            <a:r>
              <a:rPr sz="1400" b="0">
                <a:solidFill>
                  <a:srgbClr val="161B26"/>
                </a:solidFill>
                <a:latin typeface="Arial"/>
              </a:rPr>
              <a:t>•  A verified data analysis in Excel</a:t>
            </a:r>
          </a:p>
          <a:p>
            <a:pPr>
              <a:spcAft>
                <a:spcPts val="900"/>
              </a:spcAft>
            </a:pPr>
            <a:r>
              <a:rPr sz="1400" b="0">
                <a:solidFill>
                  <a:srgbClr val="161B26"/>
                </a:solidFill>
                <a:latin typeface="Arial"/>
              </a:rPr>
              <a:t>•  A slide deck in PowerPoint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The messages that send it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clear stakeholder email in Outlook</a:t>
            </a:r>
          </a:p>
          <a:p>
            <a:pPr>
              <a:spcAft>
                <a:spcPts val="900"/>
              </a:spcAft>
            </a:pPr>
            <a:r>
              <a:rPr sz="1400" b="0">
                <a:solidFill>
                  <a:srgbClr val="161B26"/>
                </a:solidFill>
                <a:latin typeface="Arial"/>
              </a:rPr>
              <a:t>•  A short Teams announcement</a:t>
            </a:r>
          </a:p>
          <a:p>
            <a:pPr>
              <a:spcAft>
                <a:spcPts val="900"/>
              </a:spcAft>
            </a:pPr>
            <a:r>
              <a:rPr sz="1400" b="0">
                <a:solidFill>
                  <a:srgbClr val="161B26"/>
                </a:solidFill>
                <a:latin typeface="Arial"/>
              </a:rPr>
              <a:t>•  Every figure and claim checked before sending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Claude technique on the shared Lumina Living review pack.</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do it yourself with Claude and Microsoft 365 — on the sample material, or on your own non-confidential work.</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compare Claude's output with a source you can confirm, and refine your prompt if it is off.</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working prompt or output — it becomes part of your Claude-for-Microsoft-365 toolkit.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Claude for Microsoft 365</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Claude &amp; Microsoft 365 · Connecting Claude to your files and apps · Effective prompting for work tasks · Responsible, secure and private use of AI</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Claude — Anthropic's AI assistant that reads, writes, analyses and explains in plain language, available at claude.ai and in the Claude desktop app.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Claude alongside Microsoft 365 — Claude is a separate assistant you feed your Word, Excel, PowerPoint and Outlook content into, then paste its results back; it complements the Office apps you already use.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Two ways to give Claude your work — upload a file (Word, Excel, PowerPoint, PDF, CSV, images) or paste the text or table directly into the chat.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Projects — a Claude workspace that keeps your files and custom instructions together, so every chat about the same task starts with the right context.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Connectors — an optional way to let Claude read from your cloud storage (such as OneDrive, SharePoint or Google Drive) where your account and plan support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Effective prompting — a good work prompt states the role, the context, the task and the output format, so Claude has no room to guess.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Claude for Microsoft 365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Human in the loop — Claude drafts; you decide. Always read, check and edit its output before it becomes your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Responsible use — keep confidential and personal data out of prompts unless your organisation has approved it, and verify anything you will rely 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Get Started with Claude for Microsoft 365</a:t>
            </a:r>
          </a:p>
          <a:p>
            <a:pPr>
              <a:spcAft>
                <a:spcPts val="900"/>
              </a:spcAft>
            </a:pPr>
            <a:r>
              <a:rPr sz="1400" b="0">
                <a:solidFill>
                  <a:srgbClr val="161B26"/>
                </a:solidFill>
                <a:latin typeface="Arial"/>
              </a:rPr>
              <a:t>•  Connect Claude to Your Microsoft 365 Files and Apps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Effective Prompts for Everyday Work Tasks</a:t>
            </a:r>
          </a:p>
          <a:p>
            <a:pPr>
              <a:spcAft>
                <a:spcPts val="900"/>
              </a:spcAft>
            </a:pPr>
            <a:r>
              <a:rPr sz="1400" b="0">
                <a:solidFill>
                  <a:srgbClr val="161B26"/>
                </a:solidFill>
                <a:latin typeface="Arial"/>
              </a:rPr>
              <a:t>•  Use AI Responsibly, Securely and Privately at Work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gets Claude working for you. You sign in at claude.ai, start a new chat, and paste in the Q3 brief so Claude can summarise your task and list what the review pack needs — so you see the ask-check loop before you rely on it. BUILDING BLOCK — what you do in this lab becomes part of your Lumina Living Q3 review pack, the single deliverable you write, analyse, present and send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Claude account with your first, verified answer — a plain-language summary of the Q3 task and a checklist of what the pack must contain.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claude.ai (or the Claude desktop app), Microsoft 365, a web browser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Sign in at claude.ai (or open the Claude desktop app) and click 'New chat'. This is where you will work with Claude all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sample 'Lumina Living — Q3 Review Brief' (a short Word document the trainer shares), or use a short brief of your own non-confidential work.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Copy the brief's text and paste it into the Claude chat with this instruction so Claude tells you what the task involves.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Here is the brief for a quarterly business review. In plain language, summarise what I am being asked to produce, then list the separate items the final pack should contain.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Claude's answer. Check it against the brief: does its list match what the brief actually asks for? Add anything it missed.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one follow-up so you see Claude reason over your material.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For each item in that list, say which Microsoft 365 app I would use to produce it — Word, Excel, PowerPoint or Outlook.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ground rule: Claude has only read text you gave it, and nothing has changed in your files. Claude drafts; you decide what to keep.</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this chat — rename it 'Lumina Living Q3'. You now have Claude set up and a clear, checked picture of the task.</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Get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are signed in to Claude, and you have a first answer — a summary of the Q3 task and a checklist of the pack's items — that you have checked against the brief and corrected where needed.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Now you give Claude your real material to work on. You upload the Q3 brief and the sales workbook, gather them into a Project with standing instructions, and confirm Claude can read what you gave it — so every later chat starts with the right context. BUILDING BLOCK — what you do in this lab becomes part of your Lumina Living Q3 review pack, the single deliverable you write, analyse, present and send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Claude Project (or a single well-prepared chat) holding your Q3 files, with Claude confirmed to have read them.</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Claude Projects, file upload, custom instructions, connectors (optional)</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Attach a file to the chat: click the paperclip (or drag the file in) and upload the sample 'Lumina Living — Q3 Sales.xlsx' workbook. Claude accepts Word, Excel, PowerPoint, PDF, CSV and images.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Claude has read it, and check the answer against the file itself.</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From the workbook I just uploaded, list the column headings and tell me how many rows of data there are.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Create a Project to hold the whole task (if your plan has Projects): open Projects &gt; New project, name it 'Lumina Living — Q3 Review', and add both the brief and the workbook to it. If you do not have Projects, keep working in your renamed Lab 1 chat and re-attach files as needed.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Give the Project standing instructions so every chat starts the same way. Put this in the Project's custom instructions.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helping me prepare Lumina Living's Q3 business review. Use only the files in this project. Keep a professional, concise tone. When you give figures, show where in the data they come from so I can check them.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Optional — connect a source instead of uploading: if your account offers connectors, open Settings &gt; Connectors and connect OneDrive, SharePoint or Google Drive, then point Claude at the folder. Skip this if your account does not offer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Prove the context works: start a fresh chat inside the Project and ask a question without re-attaching anything.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Without me re-uploading, what files do you have for this review, and what is in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Claude answers from the Project's files. Your working set is now connected and reusable.</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Connect Claude to Your Microsoft 365 Files and Apps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Claude has correctly listed the workbook's columns and row count, your Q3 files sit in a Project (or a prepared chat), and a fresh chat can answer from them without re-uploading.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result is only as good as the prompt. You run a vague prompt, then a specific one that states the role, context, task and output format, see the difference, and distil what worked into a reusable pattern you will use for the rest of the course. BUILDING BLOCK — what you do in this lab becomes part of your Lumina Living Q3 review pack, the single deliverable you write, analyse, present and send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written four-part prompt pattern (Role · Context · Task · Output) and one strong, tested prompt saved for reuse.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Prompt design, role/context/task/output, refinement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deliberately vague prompt in the Project and note how generic the answer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something about our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run a specific prompt for the same intent and compare the result.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You are my business analyst. Context: this is Lumina Living's Q3 sales workbook. Task: write three short paragraphs summarising how the quarter went for a management audience. Output: plain paragraphs, no jargon, with the key figure named in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down the four parts that made the second prompt work: the Role, the Context, the Task, and the Output format.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Capture your reusable pattern where you can find it — a notes doc, or pinned in the Project.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ROLE: who Claude should act as | CONTEXT: which file/task | TASK: what to produce | OUTPUT: format, length, tone, and what to include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the conditions that keep results trustworthy: name the file, ask Claude to show where figures come from, and state the length and tone you need.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Rewrite one request of your own about the Q3 pack using the pattern, and run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once: change the Output part (for example 'make it half as long', or 'more formal') and re-run to see the result change. Keep the better version.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best prompt in the Project — you will reuse this pattern in every remaining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Everyday Work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show two answers for the same intent (vague vs specific), a written four-part prompt pattern, and one refined prompt that produced the output you specified in the format you asked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Before you rely on AI at work, you set the rules. You review what should never go into a prompt, practise removing sensitive details before sharing, confirm that Claude's output must always be verified, and write a safe-use checklist you apply to your own material. BUILDING BLOCK — what you do in this lab becomes part of your Lumina Living Q3 review pack, the single deliverable you write, analyse, present and send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personal safe-use checklist, and one prompt you have rewritten to remove sensitive data before sending.</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Data privacy, redaction, verification, safe-use checklist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List the kinds of data that should not go into an AI prompt without approval: passwords and keys, customer names and contact details, staff personal data, unreleased financials, and anything under NDA.</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Practise redacting: take a sentence that names a real customer and rewrite it to make the same request safely.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Rewrite this so it asks the same question without naming anyone: 'Summarise why customer Tan Wei Ming from 12 Orchard Road cancelled his order.'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Claude for good practice, then sanity-check its advice against your own organisation's policy.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What should I avoid putting into an AI prompt when working with real company data, and how can I get the same help safely?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verification rule with a quick test: ask Claude for a specific figure from the workbook, then check it in Excel — never accept a number you cannot tie back to the source.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What was the single best-selling product in the Q3 workbook, and what was its total sales value? Tell me which cells you used.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Note who is accountable: Claude drafts, but you are responsible for what you send. Decide where you will record that AI helped (for example a note in the document's properties).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your safe-use checklist — keep confidential data out of prompts; redact before sharing; verify every figure, name and claim; keep a human decision on anything that goes out; record where AI was used.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the checklist to your Lab 3 prompt: check it contains nothing sensitive, and adjust it if it does.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Use AI Responsibly, Securely and Privately at 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written safe-use checklist, a prompt you rewrote to remove a real name, and a figure from the workbook that you verified in Excel before trusting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Claude for Microsoft 365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Sign in to Claude, understand how it works alongside Microsoft 365, and run a first prompt on your task.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Give Claude your working files by uploading and pasting, and keep them together in a Project.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Compare a vague prompt with a specific one and capture a reusable four-part prompt pattern for work tasks.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Decide what is safe to share with AI, and write a personal safe-use checklist you apply to the review pack.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Boosting Productivity Across Microsoft 365 with Claude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Writing, rewriting &amp; summarising in Word · Analysing &amp; explaining data in Excel · Generating slides for PowerPoint · Drafting &amp; replying to email in Outlook and Teams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Boosting Productivity Across Microsoft 365 with Claude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Writing in Word — describe the document you need and let Claude draft it, then refine the structure, length and tone with follow-up prompts.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Rewriting and summarising — paste a long document and ask Claude to shorten it, change its tone, or pull out the key points and actions.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Analysing data in Excel — upload or paste a table and ask Claude what it shows: totals, trends, comparisons and a plain-language read of the numbers.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Explaining and building formulas — ask Claude for the Excel formula you need, and paste any formula back to have it explained step by step.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slides for PowerPoint — turn a document or a brief into a slide-by-slide outline with titles, bullet points and speaker notes.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Drafting email in Outlook and Teams — draft, reply to and adjust the tone of work messages, keeping them clear, professional and appropriately brief.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Boosting Productivity Across Microsoft 365 with Claude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Verify before you send — check every figure, name, date and claim in Claude's output against a source you trust before it leaves your desk.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One connected workflow — the same review pack flows from Word to Excel to PowerPoint to Outlook, with Claude speeding up each step.</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Boosting Productivity Across Microsoft 365 with Claude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Rewrite and Summarise in Word</a:t>
            </a:r>
          </a:p>
          <a:p>
            <a:pPr>
              <a:spcAft>
                <a:spcPts val="900"/>
              </a:spcAft>
            </a:pPr>
            <a:r>
              <a:rPr sz="1400" b="0">
                <a:solidFill>
                  <a:srgbClr val="161B26"/>
                </a:solidFill>
                <a:latin typeface="Arial"/>
              </a:rPr>
              <a:t>•  Analyse and Explain Data in Excel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Slide Outlines and Content for PowerPoint</a:t>
            </a:r>
          </a:p>
          <a:p>
            <a:pPr>
              <a:spcAft>
                <a:spcPts val="900"/>
              </a:spcAft>
            </a:pPr>
            <a:r>
              <a:rPr sz="1400" b="0">
                <a:solidFill>
                  <a:srgbClr val="161B26"/>
                </a:solidFill>
                <a:latin typeface="Arial"/>
              </a:rPr>
              <a:t>•  Draft and Reply to Email in Outlook and Teams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produce the written report. You have Claude draft the Q3 review from the brief and the workbook, restructure and shorten it, adjust the tone for a management audience, and summarise a longer background note into key points — pasting the checked result into Word. BUILDING BLOCK — what you do in this lab becomes part of your Lumina Living Q3 review pack, the single deliverable you write, analyse, present and send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finished Q3 review report in Microsoft Word, drafted and refined with Claude and checked by you.</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Microsoft Word, Claude (draft / rewrite / summarise), copy-paste, Word &gt; Home formatting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your Project, ask Claude to draft the report from the material it already has.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Using the brief and the Q3 workbook in this project, draft a one-page business-review report for management. Structure it as: Overview, What sold well, What to watch, and Recommended actions. Name the key figure in each section and say where it comes from.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draft and check every figure it names against the workbook. Mark anything you cannot confirm — you will not keep unverified numbers.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Restructure and tighten with a follow-up prompt.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Good. Now cut it to about 250 words, put the Recommended actions as three bullet points, and make the tone confident but plain — no jargon.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Adjust the tone for the audience if needed (for example more formal, or warmer), then choose the version you will keep.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Give me the same report in a slightly more formal tone suitable for a board paper.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Summarise a longer input: paste a longer background note (or the brief's appendix) and ask for a short summary you can use as an intro.</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Summarise this background note into four bullet points I can use as context at the top of the 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Microsoft Word, paste your chosen report in, and format it: a title, headings for each section, and the three action bullets (Home &gt; Styles).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the final human check: re-read the whole page, confirm every figure ties to the workbook, and fix any wording. Save it as 'Lumina Living — Q3 Review Report.docx'.</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Write, Rewrite and Summarise in Word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saved Word report of about 250 words with the four sections and three action bullets, in which every figure has been checked against the Q3 workbook.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produce the numbers behind the report. You have Claude analyse the Q3 sales workbook, ask it for the Excel formulas to compute the key figures, paste those formulas into Excel to verify them, and have Claude explain an unfamiliar formula — trusting no figure you have not confirmed yourself. BUILDING BLOCK — what you do in this lab becomes part of your Lumina Living Q3 review pack, the single deliverable you write, analyse, present and send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verified Q3 analysis in Microsoft Excel — key figures computed by formulas you checked, and one formula you can explain.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Microsoft Excel, Claude (analysis / formula generation / formula explanation), SUM, SUMIF, AVERAGE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Claude to analyse the workbook and surface the figures the report needs.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From the Q3 sales workbook, give me: total sales for the quarter, the best- and worst-selling product by value, the top region, and the month-by-month trend. Show the figure for each and say which columns you used.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Claude for the exact Excel formula for the headline figure so you can reproduce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Give me the Excel formula to compute total Q3 sales from the Total column, assuming the data is in rows 2 to 500.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Excel, put that formula in an empty cell and confirm it matches the figure Claude reported.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=SUM(F2:F500)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for a conditional formula and verify it too — for example sales for the top region.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Give me an Excel formula that totals the Total column only for rows where the Region column equals "North".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it into Excel and cross-check by filtering the sheet to that region and reading the status-bar Sum.</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=SUMIF(D2:D500,"North",F2:F500)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Learn from a formula: paste an unfamiliar one and ask Claude to explain it step by step.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Explain, step by step, what this Excel formula does: =IF(F2&gt;500,"Large","Standard")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rule and record the checked figures: never accept a number you cannot tie back to a formula in the sheet. Note the verified headline figures where the report can reuse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Analyse and Explain Data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key Q3 figures each match an Excel formula you ran yourself, one conditional total agrees with a filtered status-bar Sum, and you can explain in one sentence what the =IF formula does.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You produce the deck for the management meeting. You have Claude turn the checked report and figures into a slide-by-slide outline — titles, three bullets each and short speaker notes — refine the flow and length, then build the slides in PowerPoint from that outline. BUILDING BLOCK — what you do in this lab becomes part of your Lumina Living Q3 review pack, the single deliverable you write, analyse, present and send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Q3 review slide deck in Microsoft PowerPoint, built from a Claude-generated outline you refined and checked.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Microsoft PowerPoint, Claude (slide outline / speaker notes), Outline view, copy-paste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Claude to convert your report and verified figures into a slide outline.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Turn the Q3 review report and the verified figures into a 6-slide deck for a 10-minute management meeting. For each slide give a title, no more than three short bullets, and two lines of speaker notes. Keep every figure consistent with the report.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outline and check the figures on each slide against your verified numbers from Lab 6. Fix any that drift.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the flow with a follow-up.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Reorder so the recommended actions are the final slide, and make the opening slide a single headline that states how the quarter went.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Tighten wording so no bullet runs over one line.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Shorten every bullet to at most eight words, keeping the meaning.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the slides: open PowerPoint, use View &gt; Outline, and paste the titles and bullets so each slide is created from the outline (Tab to demote a line to a bullet).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the speaker notes: for each slide, paste Claude's two lines into the Notes pane (View &gt; Notes).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Do the final human check: click through the deck, confirm every figure matches the report and workbook, then save it as 'Lumina Living — Q3 Review.pptx'.</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Generate Slide Outlines and Content for PowerPoint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saved 6-slide PowerPoint deck with a headline opener and an actions closer, one-line bullets, and speaker notes — with every figure consistent with your Word report and Excel analysis.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The capstone. You send the pack out. You have Claude draft the stakeholder email that carries the review, adjust its tone and length, draft a reply to a likely question, and write a short Teams announcement — checking every detail before anything is sent. BUILDING BLOCK — what you do in this lab becomes part of your Lumina Living Q3 review pack, the single deliverable you write, analyse, present and send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ready-to-send Outlook email carrying the Q3 pack, a drafted reply, and a short Teams announcement — all checked by you.</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Microsoft Outlook, Microsoft Teams, Claude (draft / tone / reply), copy-paste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Claude to draft the covering email for the management team.</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Draft a short email to the management team introducing the attached Q3 business-review report and slide deck. Say what the quarter's headline was, list the three recommended actions, and ask for comments by Friday. Professional and warm, under 150 words.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it and verify: the headline and the three actions must match your report exactly. Fix any drift, and confirm no confidential detail is included.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Adjust the tone or length if needed, and keep the version you will send.</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Make it a little more concise and add a one-line thank-you at the end.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a reply to a question you can expect, so you are ready.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Draft a brief, friendly reply to a manager who asks: 'Can you confirm the total Q3 sales figure and which region led?' Leave placeholders &lt;TOTAL&gt; and &lt;REGION&gt; for me to fill from the verified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Fill the placeholders from your verified Lab 6 figures — never from memory — and check they are right.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short Teams announcement for the team channel.</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2-sentence Microsoft Teams message announcing that the Q3 review pack is ready and where to find it, friendly and clear.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Send safely: open Outlook, paste the covering email, attach 'Q3 Review Report.docx' and 'Q3 Review.pptx', check the recipients and the attachments, and only then send. Post the Teams message to the channel.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Draft and Reply to Email in Outlook and Teams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checked covering email in Outlook with the correct headline, the three matching actions and both files attached; a reply drafted with verified figures; and a short Teams announcement — and you confirmed every figure and name before sending.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Boosting Productivity Across Microsoft 365 with Claude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Claude to draft, restructure and tighten a document, and to summarise a long one, then finish it in Word.</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Claude to analyse a dataset, build the formulas you need, and explain a formula — verifying every figure in Excel.</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Claude to turn the report and analysis into a slide-by-slide outline with titles, bullets and speaker notes.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Claude to draft, adjust the tone of, and reply to work messages, then send the pack — verifying before it goes.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set up Claude</a:t>
            </a:r>
          </a:p>
          <a:p>
            <a:pPr algn="l">
              <a:spcAft>
                <a:spcPts val="300"/>
              </a:spcAft>
            </a:pPr>
            <a:r>
              <a:rPr sz="1300" b="0">
                <a:solidFill>
                  <a:srgbClr val="5B6372"/>
                </a:solidFill>
                <a:latin typeface="Arial"/>
              </a:rPr>
              <a:t>Explain what Claude is and how it works alongside Microsoft 365, and set up Claude ready for work.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Connect files &amp; apps</a:t>
            </a:r>
          </a:p>
          <a:p>
            <a:pPr algn="l">
              <a:spcAft>
                <a:spcPts val="300"/>
              </a:spcAft>
            </a:pPr>
            <a:r>
              <a:rPr sz="1300" b="0">
                <a:solidFill>
                  <a:srgbClr val="5B6372"/>
                </a:solidFill>
                <a:latin typeface="Arial"/>
              </a:rPr>
              <a:t>Connect Claude to your Microsoft 365 files and apps by uploading, pasting and using Projects and connectors.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effectively</a:t>
            </a:r>
          </a:p>
          <a:p>
            <a:pPr algn="l">
              <a:spcAft>
                <a:spcPts val="300"/>
              </a:spcAft>
            </a:pPr>
            <a:r>
              <a:rPr sz="1300" b="0">
                <a:solidFill>
                  <a:srgbClr val="5B6372"/>
                </a:solidFill>
                <a:latin typeface="Arial"/>
              </a:rPr>
              <a:t>Write clear, effective prompts that get accurate, usable results for everyday work tasks.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Use AI safely</a:t>
            </a:r>
          </a:p>
          <a:p>
            <a:pPr algn="l">
              <a:spcAft>
                <a:spcPts val="300"/>
              </a:spcAft>
            </a:pPr>
            <a:r>
              <a:rPr sz="1300" b="0">
                <a:solidFill>
                  <a:srgbClr val="5B6372"/>
                </a:solidFill>
                <a:latin typeface="Arial"/>
              </a:rPr>
              <a:t>Apply AI responsibly, securely and privately — knowing what to share, what to withhold and what to verify.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Write in Word</a:t>
            </a:r>
          </a:p>
          <a:p>
            <a:pPr algn="l">
              <a:spcAft>
                <a:spcPts val="300"/>
              </a:spcAft>
            </a:pPr>
            <a:r>
              <a:rPr sz="1300" b="0">
                <a:solidFill>
                  <a:srgbClr val="5B6372"/>
                </a:solidFill>
                <a:latin typeface="Arial"/>
              </a:rPr>
              <a:t>Use Claude to write, rewrite and summarise documents in Microsoft Word.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Analyse in Excel</a:t>
            </a:r>
          </a:p>
          <a:p>
            <a:pPr algn="l">
              <a:spcAft>
                <a:spcPts val="300"/>
              </a:spcAft>
            </a:pPr>
            <a:r>
              <a:rPr sz="1300" b="0">
                <a:solidFill>
                  <a:srgbClr val="5B6372"/>
                </a:solidFill>
                <a:latin typeface="Arial"/>
              </a:rPr>
              <a:t>Use Claude to analyse and explain data, and to build formulas, for Microsoft Excel.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Build in PowerPoint</a:t>
            </a:r>
          </a:p>
          <a:p>
            <a:pPr algn="l">
              <a:spcAft>
                <a:spcPts val="300"/>
              </a:spcAft>
            </a:pPr>
            <a:r>
              <a:rPr sz="1300" b="0">
                <a:solidFill>
                  <a:srgbClr val="5B6372"/>
                </a:solidFill>
                <a:latin typeface="Arial"/>
              </a:rPr>
              <a:t>Use Claude to generate slide outlines and content for Microsoft PowerPoint.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Draft in Outlook &amp; Teams</a:t>
            </a:r>
          </a:p>
          <a:p>
            <a:pPr algn="l">
              <a:spcAft>
                <a:spcPts val="300"/>
              </a:spcAft>
            </a:pPr>
            <a:r>
              <a:rPr sz="1300" b="0">
                <a:solidFill>
                  <a:srgbClr val="5B6372"/>
                </a:solidFill>
                <a:latin typeface="Arial"/>
              </a:rPr>
              <a:t>Use Claude to draft and reply to messages in Microsoft Outlook and Teams.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Claude Microsoft 365 Masterclass (C197)  ·  C197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